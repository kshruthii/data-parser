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Arimo" panose="020B0604020202020204" charset="0"/>
      <p:regular r:id="rId11"/>
    </p:embeddedFont>
    <p:embeddedFont>
      <p:font typeface="Arimo Bold" panose="020B0604020202020204" charset="0"/>
      <p:regular r:id="rId12"/>
    </p:embeddedFont>
    <p:embeddedFont>
      <p:font typeface="Calibri (MS) Bold" panose="020B060402020202020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50" d="100"/>
          <a:sy n="50" d="100"/>
        </p:scale>
        <p:origin x="516" y="-2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7543" cy="10287000"/>
            <a:chOff x="0" y="0"/>
            <a:chExt cx="24383390" cy="13716000"/>
          </a:xfrm>
        </p:grpSpPr>
        <p:sp>
          <p:nvSpPr>
            <p:cNvPr id="3" name="Freeform 3"/>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close/>
                </a:path>
              </a:pathLst>
            </a:custGeom>
            <a:solidFill>
              <a:srgbClr val="FFFFF1"/>
            </a:solidFill>
          </p:spPr>
        </p:sp>
      </p:grpSp>
      <p:grpSp>
        <p:nvGrpSpPr>
          <p:cNvPr id="4" name="Group 4"/>
          <p:cNvGrpSpPr/>
          <p:nvPr/>
        </p:nvGrpSpPr>
        <p:grpSpPr>
          <a:xfrm>
            <a:off x="-274320" y="3291840"/>
            <a:ext cx="1577340" cy="493776"/>
            <a:chOff x="0" y="0"/>
            <a:chExt cx="2103120" cy="658368"/>
          </a:xfrm>
        </p:grpSpPr>
        <p:sp>
          <p:nvSpPr>
            <p:cNvPr id="5" name="Freeform 5"/>
            <p:cNvSpPr/>
            <p:nvPr/>
          </p:nvSpPr>
          <p:spPr>
            <a:xfrm>
              <a:off x="0" y="0"/>
              <a:ext cx="2103120" cy="658368"/>
            </a:xfrm>
            <a:custGeom>
              <a:avLst/>
              <a:gdLst/>
              <a:ahLst/>
              <a:cxnLst/>
              <a:rect l="l" t="t" r="r" b="b"/>
              <a:pathLst>
                <a:path w="2103120" h="658368">
                  <a:moveTo>
                    <a:pt x="0" y="329184"/>
                  </a:moveTo>
                  <a:cubicBezTo>
                    <a:pt x="0" y="147320"/>
                    <a:pt x="147320" y="0"/>
                    <a:pt x="329184" y="0"/>
                  </a:cubicBezTo>
                  <a:lnTo>
                    <a:pt x="1773936" y="0"/>
                  </a:lnTo>
                  <a:cubicBezTo>
                    <a:pt x="1955800" y="0"/>
                    <a:pt x="2103120" y="147320"/>
                    <a:pt x="2103120" y="329184"/>
                  </a:cubicBezTo>
                  <a:cubicBezTo>
                    <a:pt x="2103120" y="511048"/>
                    <a:pt x="1955800" y="658368"/>
                    <a:pt x="1773936" y="658368"/>
                  </a:cubicBezTo>
                  <a:lnTo>
                    <a:pt x="329184" y="658368"/>
                  </a:lnTo>
                  <a:cubicBezTo>
                    <a:pt x="147320" y="658368"/>
                    <a:pt x="0" y="511048"/>
                    <a:pt x="0" y="329184"/>
                  </a:cubicBezTo>
                  <a:close/>
                </a:path>
              </a:pathLst>
            </a:custGeom>
            <a:solidFill>
              <a:srgbClr val="FD1485"/>
            </a:solidFill>
          </p:spPr>
        </p:sp>
      </p:grpSp>
      <p:grpSp>
        <p:nvGrpSpPr>
          <p:cNvPr id="6" name="Group 6"/>
          <p:cNvGrpSpPr/>
          <p:nvPr/>
        </p:nvGrpSpPr>
        <p:grpSpPr>
          <a:xfrm>
            <a:off x="-274320" y="3895344"/>
            <a:ext cx="2194560" cy="493776"/>
            <a:chOff x="0" y="0"/>
            <a:chExt cx="2926080" cy="658368"/>
          </a:xfrm>
        </p:grpSpPr>
        <p:sp>
          <p:nvSpPr>
            <p:cNvPr id="7" name="Freeform 7"/>
            <p:cNvSpPr/>
            <p:nvPr/>
          </p:nvSpPr>
          <p:spPr>
            <a:xfrm>
              <a:off x="0" y="0"/>
              <a:ext cx="2926080" cy="658368"/>
            </a:xfrm>
            <a:custGeom>
              <a:avLst/>
              <a:gdLst/>
              <a:ahLst/>
              <a:cxnLst/>
              <a:rect l="l" t="t" r="r" b="b"/>
              <a:pathLst>
                <a:path w="2926080" h="658368">
                  <a:moveTo>
                    <a:pt x="0" y="329184"/>
                  </a:moveTo>
                  <a:cubicBezTo>
                    <a:pt x="0" y="147320"/>
                    <a:pt x="147320" y="0"/>
                    <a:pt x="329184" y="0"/>
                  </a:cubicBezTo>
                  <a:lnTo>
                    <a:pt x="2596896" y="0"/>
                  </a:lnTo>
                  <a:cubicBezTo>
                    <a:pt x="2778760" y="0"/>
                    <a:pt x="2926080" y="147320"/>
                    <a:pt x="2926080" y="329184"/>
                  </a:cubicBezTo>
                  <a:cubicBezTo>
                    <a:pt x="2926080" y="511048"/>
                    <a:pt x="2778760" y="658368"/>
                    <a:pt x="2596896" y="658368"/>
                  </a:cubicBezTo>
                  <a:lnTo>
                    <a:pt x="329184" y="658368"/>
                  </a:lnTo>
                  <a:cubicBezTo>
                    <a:pt x="147320" y="658368"/>
                    <a:pt x="0" y="511048"/>
                    <a:pt x="0" y="329184"/>
                  </a:cubicBezTo>
                  <a:close/>
                </a:path>
              </a:pathLst>
            </a:custGeom>
            <a:solidFill>
              <a:srgbClr val="FFB903"/>
            </a:solidFill>
          </p:spPr>
        </p:sp>
      </p:grpSp>
      <p:grpSp>
        <p:nvGrpSpPr>
          <p:cNvPr id="8" name="Group 8"/>
          <p:cNvGrpSpPr/>
          <p:nvPr/>
        </p:nvGrpSpPr>
        <p:grpSpPr>
          <a:xfrm>
            <a:off x="-274320" y="4498848"/>
            <a:ext cx="1577340" cy="493776"/>
            <a:chOff x="0" y="0"/>
            <a:chExt cx="2103120" cy="658368"/>
          </a:xfrm>
        </p:grpSpPr>
        <p:sp>
          <p:nvSpPr>
            <p:cNvPr id="9" name="Freeform 9"/>
            <p:cNvSpPr/>
            <p:nvPr/>
          </p:nvSpPr>
          <p:spPr>
            <a:xfrm>
              <a:off x="0" y="0"/>
              <a:ext cx="2103120" cy="658368"/>
            </a:xfrm>
            <a:custGeom>
              <a:avLst/>
              <a:gdLst/>
              <a:ahLst/>
              <a:cxnLst/>
              <a:rect l="l" t="t" r="r" b="b"/>
              <a:pathLst>
                <a:path w="2103120" h="658368">
                  <a:moveTo>
                    <a:pt x="0" y="329184"/>
                  </a:moveTo>
                  <a:cubicBezTo>
                    <a:pt x="0" y="147320"/>
                    <a:pt x="147320" y="0"/>
                    <a:pt x="329184" y="0"/>
                  </a:cubicBezTo>
                  <a:lnTo>
                    <a:pt x="1773936" y="0"/>
                  </a:lnTo>
                  <a:cubicBezTo>
                    <a:pt x="1955800" y="0"/>
                    <a:pt x="2103120" y="147320"/>
                    <a:pt x="2103120" y="329184"/>
                  </a:cubicBezTo>
                  <a:cubicBezTo>
                    <a:pt x="2103120" y="511048"/>
                    <a:pt x="1955800" y="658368"/>
                    <a:pt x="1773936" y="658368"/>
                  </a:cubicBezTo>
                  <a:lnTo>
                    <a:pt x="329184" y="658368"/>
                  </a:lnTo>
                  <a:cubicBezTo>
                    <a:pt x="147320" y="658368"/>
                    <a:pt x="0" y="511048"/>
                    <a:pt x="0" y="329184"/>
                  </a:cubicBezTo>
                  <a:close/>
                </a:path>
              </a:pathLst>
            </a:custGeom>
            <a:solidFill>
              <a:srgbClr val="079ED2"/>
            </a:solidFill>
          </p:spPr>
        </p:sp>
      </p:grpSp>
      <p:grpSp>
        <p:nvGrpSpPr>
          <p:cNvPr id="10" name="Group 10"/>
          <p:cNvGrpSpPr/>
          <p:nvPr/>
        </p:nvGrpSpPr>
        <p:grpSpPr>
          <a:xfrm>
            <a:off x="17282160" y="822960"/>
            <a:ext cx="329184" cy="246888"/>
            <a:chOff x="0" y="0"/>
            <a:chExt cx="438912" cy="329184"/>
          </a:xfrm>
        </p:grpSpPr>
        <p:sp>
          <p:nvSpPr>
            <p:cNvPr id="11" name="Freeform 11"/>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353334"/>
            </a:solidFill>
          </p:spPr>
        </p:sp>
      </p:grpSp>
      <p:grpSp>
        <p:nvGrpSpPr>
          <p:cNvPr id="12" name="Group 12"/>
          <p:cNvGrpSpPr/>
          <p:nvPr/>
        </p:nvGrpSpPr>
        <p:grpSpPr>
          <a:xfrm>
            <a:off x="17282160" y="1069848"/>
            <a:ext cx="329184" cy="246888"/>
            <a:chOff x="0" y="0"/>
            <a:chExt cx="438912" cy="329184"/>
          </a:xfrm>
        </p:grpSpPr>
        <p:sp>
          <p:nvSpPr>
            <p:cNvPr id="13" name="Freeform 13"/>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FFB903"/>
            </a:solidFill>
          </p:spPr>
        </p:sp>
      </p:grpSp>
      <p:grpSp>
        <p:nvGrpSpPr>
          <p:cNvPr id="14" name="Group 14"/>
          <p:cNvGrpSpPr/>
          <p:nvPr/>
        </p:nvGrpSpPr>
        <p:grpSpPr>
          <a:xfrm>
            <a:off x="17282160" y="1316736"/>
            <a:ext cx="329184" cy="246888"/>
            <a:chOff x="0" y="0"/>
            <a:chExt cx="438912" cy="329184"/>
          </a:xfrm>
        </p:grpSpPr>
        <p:sp>
          <p:nvSpPr>
            <p:cNvPr id="15" name="Freeform 15"/>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FD1485"/>
            </a:solidFill>
          </p:spPr>
        </p:sp>
      </p:grpSp>
      <p:grpSp>
        <p:nvGrpSpPr>
          <p:cNvPr id="16" name="Group 16"/>
          <p:cNvGrpSpPr/>
          <p:nvPr/>
        </p:nvGrpSpPr>
        <p:grpSpPr>
          <a:xfrm>
            <a:off x="17282160" y="1563624"/>
            <a:ext cx="329184" cy="246888"/>
            <a:chOff x="0" y="0"/>
            <a:chExt cx="438912" cy="329184"/>
          </a:xfrm>
        </p:grpSpPr>
        <p:sp>
          <p:nvSpPr>
            <p:cNvPr id="17" name="Freeform 17"/>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079ED2"/>
            </a:solidFill>
          </p:spPr>
        </p:sp>
      </p:grpSp>
      <p:grpSp>
        <p:nvGrpSpPr>
          <p:cNvPr id="18" name="Group 18"/>
          <p:cNvGrpSpPr/>
          <p:nvPr/>
        </p:nvGrpSpPr>
        <p:grpSpPr>
          <a:xfrm>
            <a:off x="822960" y="8366760"/>
            <a:ext cx="329184" cy="246888"/>
            <a:chOff x="0" y="0"/>
            <a:chExt cx="438912" cy="329184"/>
          </a:xfrm>
        </p:grpSpPr>
        <p:sp>
          <p:nvSpPr>
            <p:cNvPr id="19" name="Freeform 19"/>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353334"/>
            </a:solidFill>
          </p:spPr>
        </p:sp>
      </p:grpSp>
      <p:grpSp>
        <p:nvGrpSpPr>
          <p:cNvPr id="20" name="Group 20"/>
          <p:cNvGrpSpPr/>
          <p:nvPr/>
        </p:nvGrpSpPr>
        <p:grpSpPr>
          <a:xfrm>
            <a:off x="822960" y="8613648"/>
            <a:ext cx="329184" cy="246888"/>
            <a:chOff x="0" y="0"/>
            <a:chExt cx="438912" cy="329184"/>
          </a:xfrm>
        </p:grpSpPr>
        <p:sp>
          <p:nvSpPr>
            <p:cNvPr id="21" name="Freeform 21"/>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FFB903"/>
            </a:solidFill>
          </p:spPr>
        </p:sp>
      </p:grpSp>
      <p:grpSp>
        <p:nvGrpSpPr>
          <p:cNvPr id="22" name="Group 22"/>
          <p:cNvGrpSpPr/>
          <p:nvPr/>
        </p:nvGrpSpPr>
        <p:grpSpPr>
          <a:xfrm>
            <a:off x="822960" y="8860536"/>
            <a:ext cx="329184" cy="246888"/>
            <a:chOff x="0" y="0"/>
            <a:chExt cx="438912" cy="329184"/>
          </a:xfrm>
        </p:grpSpPr>
        <p:sp>
          <p:nvSpPr>
            <p:cNvPr id="23" name="Freeform 23"/>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FD1485"/>
            </a:solidFill>
          </p:spPr>
        </p:sp>
      </p:grpSp>
      <p:grpSp>
        <p:nvGrpSpPr>
          <p:cNvPr id="24" name="Group 24"/>
          <p:cNvGrpSpPr/>
          <p:nvPr/>
        </p:nvGrpSpPr>
        <p:grpSpPr>
          <a:xfrm>
            <a:off x="822960" y="9107424"/>
            <a:ext cx="329184" cy="246888"/>
            <a:chOff x="0" y="0"/>
            <a:chExt cx="438912" cy="329184"/>
          </a:xfrm>
        </p:grpSpPr>
        <p:sp>
          <p:nvSpPr>
            <p:cNvPr id="25" name="Freeform 25"/>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079ED2"/>
            </a:solidFill>
          </p:spPr>
        </p:sp>
      </p:grpSp>
      <p:grpSp>
        <p:nvGrpSpPr>
          <p:cNvPr id="26" name="Group 26"/>
          <p:cNvGrpSpPr/>
          <p:nvPr/>
        </p:nvGrpSpPr>
        <p:grpSpPr>
          <a:xfrm>
            <a:off x="16630650" y="8901112"/>
            <a:ext cx="480060" cy="28575"/>
            <a:chOff x="0" y="0"/>
            <a:chExt cx="640080" cy="38100"/>
          </a:xfrm>
        </p:grpSpPr>
        <p:sp>
          <p:nvSpPr>
            <p:cNvPr id="27" name="Freeform 27"/>
            <p:cNvSpPr/>
            <p:nvPr/>
          </p:nvSpPr>
          <p:spPr>
            <a:xfrm>
              <a:off x="0" y="0"/>
              <a:ext cx="640080" cy="38100"/>
            </a:xfrm>
            <a:custGeom>
              <a:avLst/>
              <a:gdLst/>
              <a:ahLst/>
              <a:cxnLst/>
              <a:rect l="l" t="t" r="r" b="b"/>
              <a:pathLst>
                <a:path w="640080" h="38100">
                  <a:moveTo>
                    <a:pt x="0" y="0"/>
                  </a:moveTo>
                  <a:lnTo>
                    <a:pt x="640080" y="0"/>
                  </a:lnTo>
                  <a:lnTo>
                    <a:pt x="640080" y="38100"/>
                  </a:lnTo>
                  <a:lnTo>
                    <a:pt x="0" y="38100"/>
                  </a:lnTo>
                  <a:close/>
                </a:path>
              </a:pathLst>
            </a:custGeom>
            <a:solidFill>
              <a:srgbClr val="353334"/>
            </a:solidFill>
          </p:spPr>
        </p:sp>
      </p:grpSp>
      <p:grpSp>
        <p:nvGrpSpPr>
          <p:cNvPr id="28" name="Group 28"/>
          <p:cNvGrpSpPr/>
          <p:nvPr/>
        </p:nvGrpSpPr>
        <p:grpSpPr>
          <a:xfrm>
            <a:off x="16856392" y="8675370"/>
            <a:ext cx="28575" cy="480060"/>
            <a:chOff x="0" y="0"/>
            <a:chExt cx="38100" cy="640080"/>
          </a:xfrm>
        </p:grpSpPr>
        <p:sp>
          <p:nvSpPr>
            <p:cNvPr id="29" name="Freeform 29"/>
            <p:cNvSpPr/>
            <p:nvPr/>
          </p:nvSpPr>
          <p:spPr>
            <a:xfrm>
              <a:off x="0" y="0"/>
              <a:ext cx="38100" cy="640080"/>
            </a:xfrm>
            <a:custGeom>
              <a:avLst/>
              <a:gdLst/>
              <a:ahLst/>
              <a:cxnLst/>
              <a:rect l="l" t="t" r="r" b="b"/>
              <a:pathLst>
                <a:path w="38100" h="640080">
                  <a:moveTo>
                    <a:pt x="0" y="0"/>
                  </a:moveTo>
                  <a:lnTo>
                    <a:pt x="38100" y="0"/>
                  </a:lnTo>
                  <a:lnTo>
                    <a:pt x="38100" y="640080"/>
                  </a:lnTo>
                  <a:lnTo>
                    <a:pt x="0" y="640080"/>
                  </a:lnTo>
                  <a:close/>
                </a:path>
              </a:pathLst>
            </a:custGeom>
            <a:solidFill>
              <a:srgbClr val="353334"/>
            </a:solidFill>
          </p:spPr>
        </p:sp>
      </p:grpSp>
      <p:grpSp>
        <p:nvGrpSpPr>
          <p:cNvPr id="30" name="Group 30"/>
          <p:cNvGrpSpPr/>
          <p:nvPr/>
        </p:nvGrpSpPr>
        <p:grpSpPr>
          <a:xfrm>
            <a:off x="16788384" y="8833104"/>
            <a:ext cx="164592" cy="164592"/>
            <a:chOff x="0" y="0"/>
            <a:chExt cx="219456" cy="219456"/>
          </a:xfrm>
        </p:grpSpPr>
        <p:sp>
          <p:nvSpPr>
            <p:cNvPr id="31" name="Freeform 31"/>
            <p:cNvSpPr/>
            <p:nvPr/>
          </p:nvSpPr>
          <p:spPr>
            <a:xfrm>
              <a:off x="0" y="0"/>
              <a:ext cx="219456" cy="219456"/>
            </a:xfrm>
            <a:custGeom>
              <a:avLst/>
              <a:gdLst/>
              <a:ahLst/>
              <a:cxnLst/>
              <a:rect l="l" t="t" r="r" b="b"/>
              <a:pathLst>
                <a:path w="219456" h="219456">
                  <a:moveTo>
                    <a:pt x="0" y="0"/>
                  </a:moveTo>
                  <a:lnTo>
                    <a:pt x="219456" y="0"/>
                  </a:lnTo>
                  <a:lnTo>
                    <a:pt x="219456" y="219456"/>
                  </a:lnTo>
                  <a:lnTo>
                    <a:pt x="0" y="219456"/>
                  </a:lnTo>
                  <a:close/>
                </a:path>
              </a:pathLst>
            </a:custGeom>
            <a:solidFill>
              <a:srgbClr val="FFB903"/>
            </a:solidFill>
          </p:spPr>
        </p:sp>
      </p:grpSp>
      <p:grpSp>
        <p:nvGrpSpPr>
          <p:cNvPr id="32" name="Group 32"/>
          <p:cNvGrpSpPr/>
          <p:nvPr/>
        </p:nvGrpSpPr>
        <p:grpSpPr>
          <a:xfrm>
            <a:off x="14387512" y="945832"/>
            <a:ext cx="1674495" cy="1263015"/>
            <a:chOff x="0" y="0"/>
            <a:chExt cx="2232660" cy="1684020"/>
          </a:xfrm>
        </p:grpSpPr>
        <p:sp>
          <p:nvSpPr>
            <p:cNvPr id="33" name="Freeform 33"/>
            <p:cNvSpPr/>
            <p:nvPr/>
          </p:nvSpPr>
          <p:spPr>
            <a:xfrm>
              <a:off x="1116330" y="0"/>
              <a:ext cx="1116330" cy="842010"/>
            </a:xfrm>
            <a:custGeom>
              <a:avLst/>
              <a:gdLst/>
              <a:ahLst/>
              <a:cxnLst/>
              <a:rect l="l" t="t" r="r" b="b"/>
              <a:pathLst>
                <a:path w="1116330" h="842010">
                  <a:moveTo>
                    <a:pt x="0" y="0"/>
                  </a:moveTo>
                  <a:cubicBezTo>
                    <a:pt x="616585" y="0"/>
                    <a:pt x="1116330" y="376936"/>
                    <a:pt x="1116330" y="842010"/>
                  </a:cubicBezTo>
                  <a:lnTo>
                    <a:pt x="0" y="842010"/>
                  </a:lnTo>
                  <a:close/>
                </a:path>
              </a:pathLst>
            </a:custGeom>
            <a:blipFill>
              <a:blip r:embed="rId2">
                <a:alphaModFix amt="0"/>
              </a:blip>
              <a:stretch>
                <a:fillRect l="-193550" r="-93550" b="-99999"/>
              </a:stretch>
            </a:blipFill>
            <a:ln w="28575" cap="sq">
              <a:solidFill>
                <a:srgbClr val="079ED2"/>
              </a:solidFill>
              <a:prstDash val="solid"/>
              <a:miter/>
            </a:ln>
          </p:spPr>
        </p:sp>
        <p:sp>
          <p:nvSpPr>
            <p:cNvPr id="34" name="Freeform 34"/>
            <p:cNvSpPr/>
            <p:nvPr/>
          </p:nvSpPr>
          <p:spPr>
            <a:xfrm>
              <a:off x="1116330" y="0"/>
              <a:ext cx="1116330" cy="842010"/>
            </a:xfrm>
            <a:custGeom>
              <a:avLst/>
              <a:gdLst/>
              <a:ahLst/>
              <a:cxnLst/>
              <a:rect l="l" t="t" r="r" b="b"/>
              <a:pathLst>
                <a:path w="1116330" h="842010">
                  <a:moveTo>
                    <a:pt x="0" y="0"/>
                  </a:moveTo>
                  <a:cubicBezTo>
                    <a:pt x="616585" y="0"/>
                    <a:pt x="1116330" y="376936"/>
                    <a:pt x="1116330" y="842010"/>
                  </a:cubicBezTo>
                </a:path>
              </a:pathLst>
            </a:custGeom>
            <a:blipFill>
              <a:blip r:embed="rId2">
                <a:alphaModFix amt="0"/>
              </a:blip>
              <a:stretch>
                <a:fillRect l="-193550" r="-93550" b="-99999"/>
              </a:stretch>
            </a:blipFill>
            <a:ln w="28575" cap="sq">
              <a:solidFill>
                <a:srgbClr val="079ED2"/>
              </a:solidFill>
              <a:prstDash val="solid"/>
              <a:miter/>
            </a:ln>
          </p:spPr>
        </p:sp>
      </p:grpSp>
      <p:grpSp>
        <p:nvGrpSpPr>
          <p:cNvPr id="35" name="Group 35"/>
          <p:cNvGrpSpPr/>
          <p:nvPr/>
        </p:nvGrpSpPr>
        <p:grpSpPr>
          <a:xfrm>
            <a:off x="14326743" y="1502283"/>
            <a:ext cx="150114" cy="150114"/>
            <a:chOff x="0" y="0"/>
            <a:chExt cx="200152" cy="200152"/>
          </a:xfrm>
        </p:grpSpPr>
        <p:sp>
          <p:nvSpPr>
            <p:cNvPr id="36" name="Freeform 36"/>
            <p:cNvSpPr/>
            <p:nvPr/>
          </p:nvSpPr>
          <p:spPr>
            <a:xfrm>
              <a:off x="0" y="0"/>
              <a:ext cx="200152" cy="200152"/>
            </a:xfrm>
            <a:custGeom>
              <a:avLst/>
              <a:gdLst/>
              <a:ahLst/>
              <a:cxnLst/>
              <a:rect l="l" t="t" r="r" b="b"/>
              <a:pathLst>
                <a:path w="200152" h="200152">
                  <a:moveTo>
                    <a:pt x="0" y="0"/>
                  </a:moveTo>
                  <a:lnTo>
                    <a:pt x="200152" y="0"/>
                  </a:lnTo>
                  <a:lnTo>
                    <a:pt x="200152" y="200152"/>
                  </a:lnTo>
                  <a:lnTo>
                    <a:pt x="0" y="200152"/>
                  </a:lnTo>
                  <a:close/>
                </a:path>
              </a:pathLst>
            </a:custGeom>
            <a:solidFill>
              <a:srgbClr val="FFFFFF"/>
            </a:solidFill>
            <a:ln w="26670" cap="sq">
              <a:solidFill>
                <a:srgbClr val="FD1485"/>
              </a:solidFill>
              <a:prstDash val="solid"/>
              <a:miter/>
            </a:ln>
          </p:spPr>
        </p:sp>
      </p:grpSp>
      <p:grpSp>
        <p:nvGrpSpPr>
          <p:cNvPr id="37" name="Group 37"/>
          <p:cNvGrpSpPr/>
          <p:nvPr/>
        </p:nvGrpSpPr>
        <p:grpSpPr>
          <a:xfrm>
            <a:off x="15972663" y="885063"/>
            <a:ext cx="150114" cy="150114"/>
            <a:chOff x="0" y="0"/>
            <a:chExt cx="200152" cy="200152"/>
          </a:xfrm>
        </p:grpSpPr>
        <p:sp>
          <p:nvSpPr>
            <p:cNvPr id="38" name="Freeform 38"/>
            <p:cNvSpPr/>
            <p:nvPr/>
          </p:nvSpPr>
          <p:spPr>
            <a:xfrm>
              <a:off x="0" y="0"/>
              <a:ext cx="200152" cy="200152"/>
            </a:xfrm>
            <a:custGeom>
              <a:avLst/>
              <a:gdLst/>
              <a:ahLst/>
              <a:cxnLst/>
              <a:rect l="l" t="t" r="r" b="b"/>
              <a:pathLst>
                <a:path w="200152" h="200152">
                  <a:moveTo>
                    <a:pt x="0" y="0"/>
                  </a:moveTo>
                  <a:lnTo>
                    <a:pt x="200152" y="0"/>
                  </a:lnTo>
                  <a:lnTo>
                    <a:pt x="200152" y="200152"/>
                  </a:lnTo>
                  <a:lnTo>
                    <a:pt x="0" y="200152"/>
                  </a:lnTo>
                  <a:close/>
                </a:path>
              </a:pathLst>
            </a:custGeom>
            <a:solidFill>
              <a:srgbClr val="FFFFFF"/>
            </a:solidFill>
            <a:ln w="26670" cap="sq">
              <a:solidFill>
                <a:srgbClr val="FD1485"/>
              </a:solidFill>
              <a:prstDash val="solid"/>
              <a:miter/>
            </a:ln>
          </p:spPr>
        </p:sp>
      </p:grpSp>
      <p:grpSp>
        <p:nvGrpSpPr>
          <p:cNvPr id="39" name="Group 39"/>
          <p:cNvGrpSpPr/>
          <p:nvPr/>
        </p:nvGrpSpPr>
        <p:grpSpPr>
          <a:xfrm>
            <a:off x="2180272" y="7940993"/>
            <a:ext cx="1537335" cy="1125855"/>
            <a:chOff x="0" y="0"/>
            <a:chExt cx="2049780" cy="1501140"/>
          </a:xfrm>
        </p:grpSpPr>
        <p:sp>
          <p:nvSpPr>
            <p:cNvPr id="40" name="Freeform 40"/>
            <p:cNvSpPr/>
            <p:nvPr/>
          </p:nvSpPr>
          <p:spPr>
            <a:xfrm>
              <a:off x="1024890" y="0"/>
              <a:ext cx="1024890" cy="750570"/>
            </a:xfrm>
            <a:custGeom>
              <a:avLst/>
              <a:gdLst/>
              <a:ahLst/>
              <a:cxnLst/>
              <a:rect l="l" t="t" r="r" b="b"/>
              <a:pathLst>
                <a:path w="1024890" h="750570">
                  <a:moveTo>
                    <a:pt x="0" y="0"/>
                  </a:moveTo>
                  <a:cubicBezTo>
                    <a:pt x="566039" y="0"/>
                    <a:pt x="1024890" y="336042"/>
                    <a:pt x="1024890" y="750570"/>
                  </a:cubicBezTo>
                  <a:lnTo>
                    <a:pt x="0" y="750570"/>
                  </a:lnTo>
                  <a:close/>
                </a:path>
              </a:pathLst>
            </a:custGeom>
            <a:blipFill>
              <a:blip r:embed="rId2">
                <a:alphaModFix amt="0"/>
              </a:blip>
              <a:stretch>
                <a:fillRect l="-187924" r="-87924" b="-100000"/>
              </a:stretch>
            </a:blipFill>
            <a:ln w="28575" cap="sq">
              <a:solidFill>
                <a:srgbClr val="079ED2"/>
              </a:solidFill>
              <a:prstDash val="solid"/>
              <a:miter/>
            </a:ln>
          </p:spPr>
        </p:sp>
        <p:sp>
          <p:nvSpPr>
            <p:cNvPr id="41" name="Freeform 41"/>
            <p:cNvSpPr/>
            <p:nvPr/>
          </p:nvSpPr>
          <p:spPr>
            <a:xfrm>
              <a:off x="1024890" y="0"/>
              <a:ext cx="1024890" cy="750570"/>
            </a:xfrm>
            <a:custGeom>
              <a:avLst/>
              <a:gdLst/>
              <a:ahLst/>
              <a:cxnLst/>
              <a:rect l="l" t="t" r="r" b="b"/>
              <a:pathLst>
                <a:path w="1024890" h="750570">
                  <a:moveTo>
                    <a:pt x="0" y="0"/>
                  </a:moveTo>
                  <a:cubicBezTo>
                    <a:pt x="566039" y="0"/>
                    <a:pt x="1024890" y="336042"/>
                    <a:pt x="1024890" y="750570"/>
                  </a:cubicBezTo>
                </a:path>
              </a:pathLst>
            </a:custGeom>
            <a:blipFill>
              <a:blip r:embed="rId2">
                <a:alphaModFix amt="0"/>
              </a:blip>
              <a:stretch>
                <a:fillRect l="-187924" r="-87924" b="-100000"/>
              </a:stretch>
            </a:blipFill>
            <a:ln w="28575" cap="sq">
              <a:solidFill>
                <a:srgbClr val="079ED2"/>
              </a:solidFill>
              <a:prstDash val="solid"/>
              <a:miter/>
            </a:ln>
          </p:spPr>
        </p:sp>
      </p:grpSp>
      <p:grpSp>
        <p:nvGrpSpPr>
          <p:cNvPr id="42" name="Group 42"/>
          <p:cNvGrpSpPr/>
          <p:nvPr/>
        </p:nvGrpSpPr>
        <p:grpSpPr>
          <a:xfrm>
            <a:off x="2119503" y="8428863"/>
            <a:ext cx="150114" cy="150114"/>
            <a:chOff x="0" y="0"/>
            <a:chExt cx="200152" cy="200152"/>
          </a:xfrm>
        </p:grpSpPr>
        <p:sp>
          <p:nvSpPr>
            <p:cNvPr id="43" name="Freeform 43"/>
            <p:cNvSpPr/>
            <p:nvPr/>
          </p:nvSpPr>
          <p:spPr>
            <a:xfrm>
              <a:off x="0" y="0"/>
              <a:ext cx="200152" cy="200152"/>
            </a:xfrm>
            <a:custGeom>
              <a:avLst/>
              <a:gdLst/>
              <a:ahLst/>
              <a:cxnLst/>
              <a:rect l="l" t="t" r="r" b="b"/>
              <a:pathLst>
                <a:path w="200152" h="200152">
                  <a:moveTo>
                    <a:pt x="0" y="0"/>
                  </a:moveTo>
                  <a:lnTo>
                    <a:pt x="200152" y="0"/>
                  </a:lnTo>
                  <a:lnTo>
                    <a:pt x="200152" y="200152"/>
                  </a:lnTo>
                  <a:lnTo>
                    <a:pt x="0" y="200152"/>
                  </a:lnTo>
                  <a:close/>
                </a:path>
              </a:pathLst>
            </a:custGeom>
            <a:solidFill>
              <a:srgbClr val="FFFFFF"/>
            </a:solidFill>
            <a:ln w="26670" cap="sq">
              <a:solidFill>
                <a:srgbClr val="FD1485"/>
              </a:solidFill>
              <a:prstDash val="solid"/>
              <a:miter/>
            </a:ln>
          </p:spPr>
        </p:sp>
      </p:grpSp>
      <p:grpSp>
        <p:nvGrpSpPr>
          <p:cNvPr id="44" name="Group 44"/>
          <p:cNvGrpSpPr/>
          <p:nvPr/>
        </p:nvGrpSpPr>
        <p:grpSpPr>
          <a:xfrm>
            <a:off x="3628263" y="7880223"/>
            <a:ext cx="150114" cy="150114"/>
            <a:chOff x="0" y="0"/>
            <a:chExt cx="200152" cy="200152"/>
          </a:xfrm>
        </p:grpSpPr>
        <p:sp>
          <p:nvSpPr>
            <p:cNvPr id="45" name="Freeform 45"/>
            <p:cNvSpPr/>
            <p:nvPr/>
          </p:nvSpPr>
          <p:spPr>
            <a:xfrm>
              <a:off x="0" y="0"/>
              <a:ext cx="200152" cy="200152"/>
            </a:xfrm>
            <a:custGeom>
              <a:avLst/>
              <a:gdLst/>
              <a:ahLst/>
              <a:cxnLst/>
              <a:rect l="l" t="t" r="r" b="b"/>
              <a:pathLst>
                <a:path w="200152" h="200152">
                  <a:moveTo>
                    <a:pt x="0" y="0"/>
                  </a:moveTo>
                  <a:lnTo>
                    <a:pt x="200152" y="0"/>
                  </a:lnTo>
                  <a:lnTo>
                    <a:pt x="200152" y="200152"/>
                  </a:lnTo>
                  <a:lnTo>
                    <a:pt x="0" y="200152"/>
                  </a:lnTo>
                  <a:close/>
                </a:path>
              </a:pathLst>
            </a:custGeom>
            <a:solidFill>
              <a:srgbClr val="FFFFFF"/>
            </a:solidFill>
            <a:ln w="26670" cap="sq">
              <a:solidFill>
                <a:srgbClr val="FD1485"/>
              </a:solidFill>
              <a:prstDash val="solid"/>
              <a:miter/>
            </a:ln>
          </p:spPr>
        </p:sp>
      </p:grpSp>
      <p:grpSp>
        <p:nvGrpSpPr>
          <p:cNvPr id="46" name="Group 46"/>
          <p:cNvGrpSpPr/>
          <p:nvPr/>
        </p:nvGrpSpPr>
        <p:grpSpPr>
          <a:xfrm rot="-10800000">
            <a:off x="2468880" y="1138428"/>
            <a:ext cx="329184" cy="384048"/>
            <a:chOff x="0" y="0"/>
            <a:chExt cx="438912" cy="512064"/>
          </a:xfrm>
        </p:grpSpPr>
        <p:sp>
          <p:nvSpPr>
            <p:cNvPr id="47" name="Freeform 47"/>
            <p:cNvSpPr/>
            <p:nvPr/>
          </p:nvSpPr>
          <p:spPr>
            <a:xfrm>
              <a:off x="0" y="0"/>
              <a:ext cx="438912" cy="512064"/>
            </a:xfrm>
            <a:custGeom>
              <a:avLst/>
              <a:gdLst/>
              <a:ahLst/>
              <a:cxnLst/>
              <a:rect l="l" t="t" r="r" b="b"/>
              <a:pathLst>
                <a:path w="438912" h="512064">
                  <a:moveTo>
                    <a:pt x="0" y="512064"/>
                  </a:moveTo>
                  <a:lnTo>
                    <a:pt x="219456" y="0"/>
                  </a:lnTo>
                  <a:lnTo>
                    <a:pt x="438912" y="512064"/>
                  </a:lnTo>
                  <a:close/>
                </a:path>
              </a:pathLst>
            </a:custGeom>
            <a:solidFill>
              <a:srgbClr val="353334"/>
            </a:solidFill>
          </p:spPr>
        </p:sp>
      </p:grpSp>
      <p:grpSp>
        <p:nvGrpSpPr>
          <p:cNvPr id="48" name="Group 48"/>
          <p:cNvGrpSpPr/>
          <p:nvPr/>
        </p:nvGrpSpPr>
        <p:grpSpPr>
          <a:xfrm>
            <a:off x="2510028" y="1028700"/>
            <a:ext cx="246888" cy="137160"/>
            <a:chOff x="0" y="0"/>
            <a:chExt cx="329184" cy="182880"/>
          </a:xfrm>
        </p:grpSpPr>
        <p:sp>
          <p:nvSpPr>
            <p:cNvPr id="49" name="Freeform 49"/>
            <p:cNvSpPr/>
            <p:nvPr/>
          </p:nvSpPr>
          <p:spPr>
            <a:xfrm>
              <a:off x="0" y="0"/>
              <a:ext cx="329184" cy="182880"/>
            </a:xfrm>
            <a:custGeom>
              <a:avLst/>
              <a:gdLst/>
              <a:ahLst/>
              <a:cxnLst/>
              <a:rect l="l" t="t" r="r" b="b"/>
              <a:pathLst>
                <a:path w="329184" h="182880">
                  <a:moveTo>
                    <a:pt x="0" y="36576"/>
                  </a:moveTo>
                  <a:cubicBezTo>
                    <a:pt x="0" y="16383"/>
                    <a:pt x="16383" y="0"/>
                    <a:pt x="36576" y="0"/>
                  </a:cubicBezTo>
                  <a:lnTo>
                    <a:pt x="292608" y="0"/>
                  </a:lnTo>
                  <a:cubicBezTo>
                    <a:pt x="312801" y="0"/>
                    <a:pt x="329184" y="16383"/>
                    <a:pt x="329184" y="36576"/>
                  </a:cubicBezTo>
                  <a:lnTo>
                    <a:pt x="329184" y="146304"/>
                  </a:lnTo>
                  <a:cubicBezTo>
                    <a:pt x="329184" y="166497"/>
                    <a:pt x="312801" y="182880"/>
                    <a:pt x="292608" y="182880"/>
                  </a:cubicBezTo>
                  <a:lnTo>
                    <a:pt x="36576" y="182880"/>
                  </a:lnTo>
                  <a:cubicBezTo>
                    <a:pt x="16383" y="182880"/>
                    <a:pt x="0" y="166497"/>
                    <a:pt x="0" y="146304"/>
                  </a:cubicBezTo>
                  <a:close/>
                </a:path>
              </a:pathLst>
            </a:custGeom>
            <a:solidFill>
              <a:srgbClr val="353334"/>
            </a:solidFill>
          </p:spPr>
        </p:sp>
      </p:grpSp>
      <p:grpSp>
        <p:nvGrpSpPr>
          <p:cNvPr id="50" name="Group 50"/>
          <p:cNvGrpSpPr/>
          <p:nvPr/>
        </p:nvGrpSpPr>
        <p:grpSpPr>
          <a:xfrm>
            <a:off x="2599182" y="1234440"/>
            <a:ext cx="68580" cy="68580"/>
            <a:chOff x="0" y="0"/>
            <a:chExt cx="91440" cy="91440"/>
          </a:xfrm>
        </p:grpSpPr>
        <p:sp>
          <p:nvSpPr>
            <p:cNvPr id="51" name="Freeform 51"/>
            <p:cNvSpPr/>
            <p:nvPr/>
          </p:nvSpPr>
          <p:spPr>
            <a:xfrm>
              <a:off x="0" y="0"/>
              <a:ext cx="91440" cy="91440"/>
            </a:xfrm>
            <a:custGeom>
              <a:avLst/>
              <a:gdLst/>
              <a:ahLst/>
              <a:cxnLst/>
              <a:rect l="l" t="t" r="r" b="b"/>
              <a:pathLst>
                <a:path w="91440" h="91440">
                  <a:moveTo>
                    <a:pt x="0" y="45720"/>
                  </a:moveTo>
                  <a:cubicBezTo>
                    <a:pt x="0" y="20447"/>
                    <a:pt x="20447" y="0"/>
                    <a:pt x="45720" y="0"/>
                  </a:cubicBezTo>
                  <a:cubicBezTo>
                    <a:pt x="70993" y="0"/>
                    <a:pt x="91440" y="20447"/>
                    <a:pt x="91440" y="45720"/>
                  </a:cubicBezTo>
                  <a:cubicBezTo>
                    <a:pt x="91440" y="70993"/>
                    <a:pt x="70993" y="91440"/>
                    <a:pt x="45720" y="91440"/>
                  </a:cubicBezTo>
                  <a:cubicBezTo>
                    <a:pt x="20447" y="91440"/>
                    <a:pt x="0" y="70993"/>
                    <a:pt x="0" y="45720"/>
                  </a:cubicBezTo>
                  <a:close/>
                </a:path>
              </a:pathLst>
            </a:custGeom>
            <a:solidFill>
              <a:srgbClr val="FFFFF1"/>
            </a:solidFill>
          </p:spPr>
        </p:sp>
      </p:grpSp>
      <p:grpSp>
        <p:nvGrpSpPr>
          <p:cNvPr id="52" name="Group 52"/>
          <p:cNvGrpSpPr/>
          <p:nvPr/>
        </p:nvGrpSpPr>
        <p:grpSpPr>
          <a:xfrm>
            <a:off x="2626614" y="1303020"/>
            <a:ext cx="28575" cy="205740"/>
            <a:chOff x="0" y="0"/>
            <a:chExt cx="38100" cy="274320"/>
          </a:xfrm>
        </p:grpSpPr>
        <p:sp>
          <p:nvSpPr>
            <p:cNvPr id="53" name="Freeform 53"/>
            <p:cNvSpPr/>
            <p:nvPr/>
          </p:nvSpPr>
          <p:spPr>
            <a:xfrm>
              <a:off x="0" y="0"/>
              <a:ext cx="38100" cy="274320"/>
            </a:xfrm>
            <a:custGeom>
              <a:avLst/>
              <a:gdLst/>
              <a:ahLst/>
              <a:cxnLst/>
              <a:rect l="l" t="t" r="r" b="b"/>
              <a:pathLst>
                <a:path w="38100" h="274320">
                  <a:moveTo>
                    <a:pt x="0" y="0"/>
                  </a:moveTo>
                  <a:lnTo>
                    <a:pt x="38100" y="0"/>
                  </a:lnTo>
                  <a:lnTo>
                    <a:pt x="38100" y="274320"/>
                  </a:lnTo>
                  <a:lnTo>
                    <a:pt x="0" y="274320"/>
                  </a:lnTo>
                  <a:close/>
                </a:path>
              </a:pathLst>
            </a:custGeom>
            <a:solidFill>
              <a:srgbClr val="FFFFF1"/>
            </a:solidFill>
          </p:spPr>
        </p:sp>
      </p:grpSp>
      <p:sp>
        <p:nvSpPr>
          <p:cNvPr id="54" name="TextBox 54"/>
          <p:cNvSpPr txBox="1"/>
          <p:nvPr/>
        </p:nvSpPr>
        <p:spPr>
          <a:xfrm>
            <a:off x="2468880" y="1589913"/>
            <a:ext cx="13716000" cy="2360295"/>
          </a:xfrm>
          <a:prstGeom prst="rect">
            <a:avLst/>
          </a:prstGeom>
        </p:spPr>
        <p:txBody>
          <a:bodyPr lIns="0" tIns="0" rIns="0" bIns="0" rtlCol="0" anchor="t">
            <a:spAutoFit/>
          </a:bodyPr>
          <a:lstStyle/>
          <a:p>
            <a:pPr algn="l">
              <a:lnSpc>
                <a:spcPts val="10080"/>
              </a:lnSpc>
            </a:pPr>
            <a:r>
              <a:rPr lang="en-US" sz="8400" b="1">
                <a:solidFill>
                  <a:srgbClr val="353334"/>
                </a:solidFill>
                <a:latin typeface="Arimo Bold"/>
                <a:ea typeface="Arimo Bold"/>
                <a:cs typeface="Arimo Bold"/>
                <a:sym typeface="Arimo Bold"/>
              </a:rPr>
              <a:t>DATAQUEST 3.0</a:t>
            </a:r>
          </a:p>
          <a:p>
            <a:pPr algn="l">
              <a:lnSpc>
                <a:spcPts val="5759"/>
              </a:lnSpc>
            </a:pPr>
            <a:r>
              <a:rPr lang="en-US" sz="4800" b="1">
                <a:solidFill>
                  <a:srgbClr val="FD1485"/>
                </a:solidFill>
                <a:latin typeface="Arimo Bold"/>
                <a:ea typeface="Arimo Bold"/>
                <a:cs typeface="Arimo Bold"/>
                <a:sym typeface="Arimo Bold"/>
              </a:rPr>
              <a:t>ROUND 1</a:t>
            </a:r>
          </a:p>
        </p:txBody>
      </p:sp>
      <p:grpSp>
        <p:nvGrpSpPr>
          <p:cNvPr id="55" name="Group 55"/>
          <p:cNvGrpSpPr/>
          <p:nvPr/>
        </p:nvGrpSpPr>
        <p:grpSpPr>
          <a:xfrm>
            <a:off x="2468880" y="3867912"/>
            <a:ext cx="14127480" cy="28575"/>
            <a:chOff x="0" y="0"/>
            <a:chExt cx="18836640" cy="38100"/>
          </a:xfrm>
        </p:grpSpPr>
        <p:sp>
          <p:nvSpPr>
            <p:cNvPr id="56" name="Freeform 56"/>
            <p:cNvSpPr/>
            <p:nvPr/>
          </p:nvSpPr>
          <p:spPr>
            <a:xfrm>
              <a:off x="0" y="0"/>
              <a:ext cx="18836639" cy="38100"/>
            </a:xfrm>
            <a:custGeom>
              <a:avLst/>
              <a:gdLst/>
              <a:ahLst/>
              <a:cxnLst/>
              <a:rect l="l" t="t" r="r" b="b"/>
              <a:pathLst>
                <a:path w="18836639" h="38100">
                  <a:moveTo>
                    <a:pt x="0" y="0"/>
                  </a:moveTo>
                  <a:lnTo>
                    <a:pt x="18836639" y="0"/>
                  </a:lnTo>
                  <a:lnTo>
                    <a:pt x="18836639" y="38100"/>
                  </a:lnTo>
                  <a:lnTo>
                    <a:pt x="0" y="38100"/>
                  </a:lnTo>
                  <a:close/>
                </a:path>
              </a:pathLst>
            </a:custGeom>
            <a:solidFill>
              <a:srgbClr val="353334"/>
            </a:solidFill>
          </p:spPr>
        </p:sp>
      </p:grpSp>
      <p:sp>
        <p:nvSpPr>
          <p:cNvPr id="57" name="TextBox 57"/>
          <p:cNvSpPr txBox="1"/>
          <p:nvPr/>
        </p:nvSpPr>
        <p:spPr>
          <a:xfrm>
            <a:off x="2468880" y="3986022"/>
            <a:ext cx="14127480" cy="499110"/>
          </a:xfrm>
          <a:prstGeom prst="rect">
            <a:avLst/>
          </a:prstGeom>
        </p:spPr>
        <p:txBody>
          <a:bodyPr lIns="0" tIns="0" rIns="0" bIns="0" rtlCol="0" anchor="t">
            <a:spAutoFit/>
          </a:bodyPr>
          <a:lstStyle/>
          <a:p>
            <a:pPr algn="l">
              <a:lnSpc>
                <a:spcPts val="2160"/>
              </a:lnSpc>
            </a:pPr>
            <a:r>
              <a:rPr lang="en-US" sz="1800" b="1">
                <a:solidFill>
                  <a:srgbClr val="353334"/>
                </a:solidFill>
                <a:latin typeface="Arimo Bold"/>
                <a:ea typeface="Arimo Bold"/>
                <a:cs typeface="Arimo Bold"/>
                <a:sym typeface="Arimo Bold"/>
              </a:rPr>
              <a:t>OFFICIAL PARTICIPANT PPT TEMPLATE</a:t>
            </a:r>
          </a:p>
        </p:txBody>
      </p:sp>
      <p:grpSp>
        <p:nvGrpSpPr>
          <p:cNvPr id="58" name="Group 58"/>
          <p:cNvGrpSpPr/>
          <p:nvPr/>
        </p:nvGrpSpPr>
        <p:grpSpPr>
          <a:xfrm>
            <a:off x="2454592" y="4854892"/>
            <a:ext cx="6886575" cy="4417695"/>
            <a:chOff x="0" y="0"/>
            <a:chExt cx="9182100" cy="5890260"/>
          </a:xfrm>
        </p:grpSpPr>
        <p:sp>
          <p:nvSpPr>
            <p:cNvPr id="59" name="Freeform 59"/>
            <p:cNvSpPr/>
            <p:nvPr/>
          </p:nvSpPr>
          <p:spPr>
            <a:xfrm>
              <a:off x="0" y="0"/>
              <a:ext cx="9182100" cy="5890260"/>
            </a:xfrm>
            <a:custGeom>
              <a:avLst/>
              <a:gdLst/>
              <a:ahLst/>
              <a:cxnLst/>
              <a:rect l="l" t="t" r="r" b="b"/>
              <a:pathLst>
                <a:path w="9182100" h="5890260">
                  <a:moveTo>
                    <a:pt x="0" y="206121"/>
                  </a:moveTo>
                  <a:cubicBezTo>
                    <a:pt x="0" y="92329"/>
                    <a:pt x="92329" y="0"/>
                    <a:pt x="206121" y="0"/>
                  </a:cubicBezTo>
                  <a:lnTo>
                    <a:pt x="8975979" y="0"/>
                  </a:lnTo>
                  <a:cubicBezTo>
                    <a:pt x="9089771" y="0"/>
                    <a:pt x="9182100" y="92329"/>
                    <a:pt x="9182100" y="206121"/>
                  </a:cubicBezTo>
                  <a:lnTo>
                    <a:pt x="9182100" y="5684139"/>
                  </a:lnTo>
                  <a:cubicBezTo>
                    <a:pt x="9182100" y="5798058"/>
                    <a:pt x="9089771" y="5890260"/>
                    <a:pt x="8975979" y="5890260"/>
                  </a:cubicBezTo>
                  <a:lnTo>
                    <a:pt x="206121" y="5890260"/>
                  </a:lnTo>
                  <a:cubicBezTo>
                    <a:pt x="92329" y="5890260"/>
                    <a:pt x="0" y="5797931"/>
                    <a:pt x="0" y="5684139"/>
                  </a:cubicBezTo>
                  <a:close/>
                </a:path>
              </a:pathLst>
            </a:custGeom>
            <a:solidFill>
              <a:srgbClr val="FFFFFF"/>
            </a:solidFill>
            <a:ln w="28575" cap="sq">
              <a:solidFill>
                <a:srgbClr val="353334"/>
              </a:solidFill>
              <a:prstDash val="solid"/>
              <a:miter/>
            </a:ln>
          </p:spPr>
        </p:sp>
      </p:grpSp>
      <p:grpSp>
        <p:nvGrpSpPr>
          <p:cNvPr id="60" name="Group 60"/>
          <p:cNvGrpSpPr/>
          <p:nvPr/>
        </p:nvGrpSpPr>
        <p:grpSpPr>
          <a:xfrm>
            <a:off x="2937510" y="4665726"/>
            <a:ext cx="2423160" cy="406908"/>
            <a:chOff x="0" y="0"/>
            <a:chExt cx="3230880" cy="542544"/>
          </a:xfrm>
        </p:grpSpPr>
        <p:sp>
          <p:nvSpPr>
            <p:cNvPr id="61" name="Freeform 61"/>
            <p:cNvSpPr/>
            <p:nvPr/>
          </p:nvSpPr>
          <p:spPr>
            <a:xfrm>
              <a:off x="0" y="0"/>
              <a:ext cx="3230880" cy="542544"/>
            </a:xfrm>
            <a:custGeom>
              <a:avLst/>
              <a:gdLst/>
              <a:ahLst/>
              <a:cxnLst/>
              <a:rect l="l" t="t" r="r" b="b"/>
              <a:pathLst>
                <a:path w="3230880" h="542544">
                  <a:moveTo>
                    <a:pt x="0" y="271272"/>
                  </a:moveTo>
                  <a:cubicBezTo>
                    <a:pt x="0" y="121412"/>
                    <a:pt x="121412" y="0"/>
                    <a:pt x="271272" y="0"/>
                  </a:cubicBezTo>
                  <a:lnTo>
                    <a:pt x="2959608" y="0"/>
                  </a:lnTo>
                  <a:cubicBezTo>
                    <a:pt x="3109468" y="0"/>
                    <a:pt x="3230880" y="121412"/>
                    <a:pt x="3230880" y="271272"/>
                  </a:cubicBezTo>
                  <a:cubicBezTo>
                    <a:pt x="3230880" y="421132"/>
                    <a:pt x="3109468" y="542544"/>
                    <a:pt x="2959608" y="542544"/>
                  </a:cubicBezTo>
                  <a:lnTo>
                    <a:pt x="271272" y="542544"/>
                  </a:lnTo>
                  <a:cubicBezTo>
                    <a:pt x="121412" y="542544"/>
                    <a:pt x="0" y="421132"/>
                    <a:pt x="0" y="271272"/>
                  </a:cubicBezTo>
                  <a:close/>
                </a:path>
              </a:pathLst>
            </a:custGeom>
            <a:solidFill>
              <a:srgbClr val="079ED2"/>
            </a:solidFill>
            <a:ln w="22860" cap="sq">
              <a:solidFill>
                <a:srgbClr val="353334"/>
              </a:solidFill>
              <a:prstDash val="solid"/>
              <a:miter/>
            </a:ln>
          </p:spPr>
        </p:sp>
        <p:sp>
          <p:nvSpPr>
            <p:cNvPr id="62" name="TextBox 62"/>
            <p:cNvSpPr txBox="1"/>
            <p:nvPr/>
          </p:nvSpPr>
          <p:spPr>
            <a:xfrm>
              <a:off x="0" y="-19050"/>
              <a:ext cx="3230880" cy="561594"/>
            </a:xfrm>
            <a:prstGeom prst="rect">
              <a:avLst/>
            </a:prstGeom>
          </p:spPr>
          <p:txBody>
            <a:bodyPr lIns="50800" tIns="50800" rIns="50800" bIns="50800" rtlCol="0" anchor="ctr"/>
            <a:lstStyle/>
            <a:p>
              <a:pPr algn="ctr">
                <a:lnSpc>
                  <a:spcPts val="1530"/>
                </a:lnSpc>
              </a:pPr>
              <a:r>
                <a:rPr lang="en-US" sz="1275" b="1">
                  <a:solidFill>
                    <a:srgbClr val="FFFFFF"/>
                  </a:solidFill>
                  <a:latin typeface="Arimo Bold"/>
                  <a:ea typeface="Arimo Bold"/>
                  <a:cs typeface="Arimo Bold"/>
                  <a:sym typeface="Arimo Bold"/>
                </a:rPr>
                <a:t>PROJECT DETAILS</a:t>
              </a:r>
            </a:p>
          </p:txBody>
        </p:sp>
      </p:grpSp>
      <p:sp>
        <p:nvSpPr>
          <p:cNvPr id="63" name="TextBox 63"/>
          <p:cNvSpPr txBox="1"/>
          <p:nvPr/>
        </p:nvSpPr>
        <p:spPr>
          <a:xfrm>
            <a:off x="2971800" y="5918073"/>
            <a:ext cx="5852160" cy="1962150"/>
          </a:xfrm>
          <a:prstGeom prst="rect">
            <a:avLst/>
          </a:prstGeom>
        </p:spPr>
        <p:txBody>
          <a:bodyPr lIns="0" tIns="0" rIns="0" bIns="0" rtlCol="0" anchor="t">
            <a:spAutoFit/>
          </a:bodyPr>
          <a:lstStyle/>
          <a:p>
            <a:pPr algn="l">
              <a:lnSpc>
                <a:spcPts val="1980"/>
              </a:lnSpc>
            </a:pPr>
            <a:r>
              <a:rPr lang="en-US" sz="1650" b="1">
                <a:solidFill>
                  <a:srgbClr val="353334"/>
                </a:solidFill>
                <a:latin typeface="Arimo Bold"/>
                <a:ea typeface="Arimo Bold"/>
                <a:cs typeface="Arimo Bold"/>
                <a:sym typeface="Arimo Bold"/>
              </a:rPr>
              <a:t>PROJECT TITLE</a:t>
            </a:r>
          </a:p>
          <a:p>
            <a:pPr algn="l">
              <a:lnSpc>
                <a:spcPts val="2879"/>
              </a:lnSpc>
            </a:pPr>
            <a:r>
              <a:rPr lang="en-US" sz="2400" b="1">
                <a:solidFill>
                  <a:srgbClr val="FD1485"/>
                </a:solidFill>
                <a:latin typeface="Arimo Bold"/>
                <a:ea typeface="Arimo Bold"/>
                <a:cs typeface="Arimo Bold"/>
                <a:sym typeface="Arimo Bold"/>
              </a:rPr>
              <a:t>ParseAnything: High-Fidelity Universal Document Ingestion Engine</a:t>
            </a:r>
          </a:p>
          <a:p>
            <a:pPr algn="l">
              <a:lnSpc>
                <a:spcPts val="1980"/>
              </a:lnSpc>
            </a:pPr>
            <a:r>
              <a:rPr lang="en-US" sz="1650" b="1">
                <a:solidFill>
                  <a:srgbClr val="353334"/>
                </a:solidFill>
                <a:latin typeface="Arimo Bold"/>
                <a:ea typeface="Arimo Bold"/>
                <a:cs typeface="Arimo Bold"/>
                <a:sym typeface="Arimo Bold"/>
              </a:rPr>
              <a:t>ONE-LINE PITCH</a:t>
            </a:r>
          </a:p>
          <a:p>
            <a:pPr algn="l">
              <a:lnSpc>
                <a:spcPts val="1889"/>
              </a:lnSpc>
            </a:pPr>
            <a:r>
              <a:rPr lang="en-US" sz="1575">
                <a:solidFill>
                  <a:srgbClr val="3C3C41"/>
                </a:solidFill>
                <a:latin typeface="Arimo"/>
                <a:ea typeface="Arimo"/>
                <a:cs typeface="Arimo"/>
                <a:sym typeface="Arimo"/>
              </a:rPr>
              <a:t>Every PDF has a story. We know how to read it.</a:t>
            </a:r>
          </a:p>
          <a:p>
            <a:pPr algn="l">
              <a:lnSpc>
                <a:spcPts val="1980"/>
              </a:lnSpc>
            </a:pPr>
            <a:r>
              <a:rPr lang="en-US" sz="1650" b="1">
                <a:solidFill>
                  <a:srgbClr val="353334"/>
                </a:solidFill>
                <a:latin typeface="Arimo Bold"/>
                <a:ea typeface="Arimo Bold"/>
                <a:cs typeface="Arimo Bold"/>
                <a:sym typeface="Arimo Bold"/>
              </a:rPr>
              <a:t>TRACK</a:t>
            </a:r>
          </a:p>
          <a:p>
            <a:pPr algn="l">
              <a:lnSpc>
                <a:spcPts val="1889"/>
              </a:lnSpc>
            </a:pPr>
            <a:r>
              <a:rPr lang="en-US" sz="1575" b="1">
                <a:solidFill>
                  <a:srgbClr val="079ED2"/>
                </a:solidFill>
                <a:latin typeface="Arimo Bold"/>
                <a:ea typeface="Arimo Bold"/>
                <a:cs typeface="Arimo Bold"/>
                <a:sym typeface="Arimo Bold"/>
              </a:rPr>
              <a:t>DQCL</a:t>
            </a:r>
          </a:p>
        </p:txBody>
      </p:sp>
      <p:grpSp>
        <p:nvGrpSpPr>
          <p:cNvPr id="64" name="Group 64"/>
          <p:cNvGrpSpPr/>
          <p:nvPr/>
        </p:nvGrpSpPr>
        <p:grpSpPr>
          <a:xfrm>
            <a:off x="9724072" y="4854892"/>
            <a:ext cx="6886575" cy="4417695"/>
            <a:chOff x="0" y="0"/>
            <a:chExt cx="9182100" cy="5890260"/>
          </a:xfrm>
        </p:grpSpPr>
        <p:sp>
          <p:nvSpPr>
            <p:cNvPr id="65" name="Freeform 65"/>
            <p:cNvSpPr/>
            <p:nvPr/>
          </p:nvSpPr>
          <p:spPr>
            <a:xfrm>
              <a:off x="0" y="0"/>
              <a:ext cx="9182100" cy="5890260"/>
            </a:xfrm>
            <a:custGeom>
              <a:avLst/>
              <a:gdLst/>
              <a:ahLst/>
              <a:cxnLst/>
              <a:rect l="l" t="t" r="r" b="b"/>
              <a:pathLst>
                <a:path w="9182100" h="5890260">
                  <a:moveTo>
                    <a:pt x="0" y="206121"/>
                  </a:moveTo>
                  <a:cubicBezTo>
                    <a:pt x="0" y="92329"/>
                    <a:pt x="92329" y="0"/>
                    <a:pt x="206121" y="0"/>
                  </a:cubicBezTo>
                  <a:lnTo>
                    <a:pt x="8975979" y="0"/>
                  </a:lnTo>
                  <a:cubicBezTo>
                    <a:pt x="9089771" y="0"/>
                    <a:pt x="9182100" y="92329"/>
                    <a:pt x="9182100" y="206121"/>
                  </a:cubicBezTo>
                  <a:lnTo>
                    <a:pt x="9182100" y="5684139"/>
                  </a:lnTo>
                  <a:cubicBezTo>
                    <a:pt x="9182100" y="5798058"/>
                    <a:pt x="9089771" y="5890260"/>
                    <a:pt x="8975979" y="5890260"/>
                  </a:cubicBezTo>
                  <a:lnTo>
                    <a:pt x="206121" y="5890260"/>
                  </a:lnTo>
                  <a:cubicBezTo>
                    <a:pt x="92329" y="5890260"/>
                    <a:pt x="0" y="5797931"/>
                    <a:pt x="0" y="5684139"/>
                  </a:cubicBezTo>
                  <a:close/>
                </a:path>
              </a:pathLst>
            </a:custGeom>
            <a:solidFill>
              <a:srgbClr val="FFFFFF"/>
            </a:solidFill>
            <a:ln w="28575" cap="sq">
              <a:solidFill>
                <a:srgbClr val="353334"/>
              </a:solidFill>
              <a:prstDash val="solid"/>
              <a:miter/>
            </a:ln>
          </p:spPr>
        </p:sp>
      </p:grpSp>
      <p:grpSp>
        <p:nvGrpSpPr>
          <p:cNvPr id="66" name="Group 66"/>
          <p:cNvGrpSpPr/>
          <p:nvPr/>
        </p:nvGrpSpPr>
        <p:grpSpPr>
          <a:xfrm>
            <a:off x="10206990" y="4665726"/>
            <a:ext cx="2423160" cy="406908"/>
            <a:chOff x="0" y="0"/>
            <a:chExt cx="3230880" cy="542544"/>
          </a:xfrm>
        </p:grpSpPr>
        <p:sp>
          <p:nvSpPr>
            <p:cNvPr id="67" name="Freeform 67"/>
            <p:cNvSpPr/>
            <p:nvPr/>
          </p:nvSpPr>
          <p:spPr>
            <a:xfrm>
              <a:off x="0" y="0"/>
              <a:ext cx="3230880" cy="542544"/>
            </a:xfrm>
            <a:custGeom>
              <a:avLst/>
              <a:gdLst/>
              <a:ahLst/>
              <a:cxnLst/>
              <a:rect l="l" t="t" r="r" b="b"/>
              <a:pathLst>
                <a:path w="3230880" h="542544">
                  <a:moveTo>
                    <a:pt x="0" y="271272"/>
                  </a:moveTo>
                  <a:cubicBezTo>
                    <a:pt x="0" y="121412"/>
                    <a:pt x="121412" y="0"/>
                    <a:pt x="271272" y="0"/>
                  </a:cubicBezTo>
                  <a:lnTo>
                    <a:pt x="2959608" y="0"/>
                  </a:lnTo>
                  <a:cubicBezTo>
                    <a:pt x="3109468" y="0"/>
                    <a:pt x="3230880" y="121412"/>
                    <a:pt x="3230880" y="271272"/>
                  </a:cubicBezTo>
                  <a:cubicBezTo>
                    <a:pt x="3230880" y="421132"/>
                    <a:pt x="3109468" y="542544"/>
                    <a:pt x="2959608" y="542544"/>
                  </a:cubicBezTo>
                  <a:lnTo>
                    <a:pt x="271272" y="542544"/>
                  </a:lnTo>
                  <a:cubicBezTo>
                    <a:pt x="121412" y="542544"/>
                    <a:pt x="0" y="421132"/>
                    <a:pt x="0" y="271272"/>
                  </a:cubicBezTo>
                  <a:close/>
                </a:path>
              </a:pathLst>
            </a:custGeom>
            <a:solidFill>
              <a:srgbClr val="FFB903"/>
            </a:solidFill>
            <a:ln w="22860" cap="sq">
              <a:solidFill>
                <a:srgbClr val="353334"/>
              </a:solidFill>
              <a:prstDash val="solid"/>
              <a:miter/>
            </a:ln>
          </p:spPr>
        </p:sp>
        <p:sp>
          <p:nvSpPr>
            <p:cNvPr id="68" name="TextBox 68"/>
            <p:cNvSpPr txBox="1"/>
            <p:nvPr/>
          </p:nvSpPr>
          <p:spPr>
            <a:xfrm>
              <a:off x="0" y="-19050"/>
              <a:ext cx="3230880" cy="561594"/>
            </a:xfrm>
            <a:prstGeom prst="rect">
              <a:avLst/>
            </a:prstGeom>
          </p:spPr>
          <p:txBody>
            <a:bodyPr lIns="50800" tIns="50800" rIns="50800" bIns="50800" rtlCol="0" anchor="ctr"/>
            <a:lstStyle/>
            <a:p>
              <a:pPr algn="ctr">
                <a:lnSpc>
                  <a:spcPts val="1530"/>
                </a:lnSpc>
              </a:pPr>
              <a:r>
                <a:rPr lang="en-US" sz="1275" b="1">
                  <a:solidFill>
                    <a:srgbClr val="353334"/>
                  </a:solidFill>
                  <a:latin typeface="Arimo Bold"/>
                  <a:ea typeface="Arimo Bold"/>
                  <a:cs typeface="Arimo Bold"/>
                  <a:sym typeface="Arimo Bold"/>
                </a:rPr>
                <a:t>TEAM &amp; MEMBERS</a:t>
              </a:r>
            </a:p>
          </p:txBody>
        </p:sp>
      </p:grpSp>
      <p:sp>
        <p:nvSpPr>
          <p:cNvPr id="69" name="TextBox 69"/>
          <p:cNvSpPr txBox="1"/>
          <p:nvPr/>
        </p:nvSpPr>
        <p:spPr>
          <a:xfrm>
            <a:off x="10241280" y="5767959"/>
            <a:ext cx="5852160" cy="2419350"/>
          </a:xfrm>
          <a:prstGeom prst="rect">
            <a:avLst/>
          </a:prstGeom>
        </p:spPr>
        <p:txBody>
          <a:bodyPr lIns="0" tIns="0" rIns="0" bIns="0" rtlCol="0" anchor="t">
            <a:spAutoFit/>
          </a:bodyPr>
          <a:lstStyle/>
          <a:p>
            <a:pPr algn="l">
              <a:lnSpc>
                <a:spcPts val="1980"/>
              </a:lnSpc>
            </a:pPr>
            <a:r>
              <a:rPr lang="en-US" sz="1650" b="1">
                <a:solidFill>
                  <a:srgbClr val="353334"/>
                </a:solidFill>
                <a:latin typeface="Arimo Bold"/>
                <a:ea typeface="Arimo Bold"/>
                <a:cs typeface="Arimo Bold"/>
                <a:sym typeface="Arimo Bold"/>
              </a:rPr>
              <a:t>TEAM</a:t>
            </a:r>
          </a:p>
          <a:p>
            <a:pPr algn="l">
              <a:lnSpc>
                <a:spcPts val="2879"/>
              </a:lnSpc>
            </a:pPr>
            <a:r>
              <a:rPr lang="en-US" sz="2400" b="1">
                <a:solidFill>
                  <a:srgbClr val="353334"/>
                </a:solidFill>
                <a:latin typeface="Arimo Bold"/>
                <a:ea typeface="Arimo Bold"/>
                <a:cs typeface="Arimo Bold"/>
                <a:sym typeface="Arimo Bold"/>
              </a:rPr>
              <a:t>ByteSized</a:t>
            </a:r>
          </a:p>
          <a:p>
            <a:pPr algn="l">
              <a:lnSpc>
                <a:spcPts val="2879"/>
              </a:lnSpc>
            </a:pPr>
            <a:r>
              <a:rPr lang="en-US" sz="2400" b="1">
                <a:solidFill>
                  <a:srgbClr val="353334"/>
                </a:solidFill>
                <a:latin typeface="Arimo Bold"/>
                <a:ea typeface="Arimo Bold"/>
                <a:cs typeface="Arimo Bold"/>
                <a:sym typeface="Arimo Bold"/>
              </a:rPr>
              <a:t>PARTICIPANTS</a:t>
            </a:r>
          </a:p>
          <a:p>
            <a:pPr marL="340042" lvl="1" indent="-170021" algn="l">
              <a:lnSpc>
                <a:spcPts val="1889"/>
              </a:lnSpc>
              <a:buFont typeface="Arial"/>
              <a:buChar char="•"/>
            </a:pPr>
            <a:r>
              <a:rPr lang="en-US" sz="1575">
                <a:solidFill>
                  <a:srgbClr val="3C3C41"/>
                </a:solidFill>
                <a:latin typeface="Arimo"/>
                <a:ea typeface="Arimo"/>
                <a:cs typeface="Arimo"/>
                <a:sym typeface="Arimo"/>
              </a:rPr>
              <a:t>Chitwan SIngh- 24BAI1629</a:t>
            </a:r>
          </a:p>
          <a:p>
            <a:pPr marL="340042" lvl="1" indent="-170021" algn="l">
              <a:lnSpc>
                <a:spcPts val="1889"/>
              </a:lnSpc>
              <a:buFont typeface="Arial"/>
              <a:buChar char="•"/>
            </a:pPr>
            <a:r>
              <a:rPr lang="en-US" sz="1575">
                <a:solidFill>
                  <a:srgbClr val="3C3C41"/>
                </a:solidFill>
                <a:latin typeface="Arimo"/>
                <a:ea typeface="Arimo"/>
                <a:cs typeface="Arimo"/>
                <a:sym typeface="Arimo"/>
              </a:rPr>
              <a:t>Shruthi K- 24BYB1078</a:t>
            </a:r>
          </a:p>
          <a:p>
            <a:pPr marL="340042" lvl="1" indent="-170021" algn="l">
              <a:lnSpc>
                <a:spcPts val="1889"/>
              </a:lnSpc>
              <a:buFont typeface="Arial"/>
              <a:buChar char="•"/>
            </a:pPr>
            <a:r>
              <a:rPr lang="en-US" sz="1575">
                <a:solidFill>
                  <a:srgbClr val="3C3C41"/>
                </a:solidFill>
                <a:latin typeface="Arimo"/>
                <a:ea typeface="Arimo"/>
                <a:cs typeface="Arimo"/>
                <a:sym typeface="Arimo"/>
              </a:rPr>
              <a:t>Akshitha Muralidharan- 24BYB1012</a:t>
            </a:r>
          </a:p>
          <a:p>
            <a:pPr marL="340042" lvl="1" indent="-170021" algn="l">
              <a:lnSpc>
                <a:spcPts val="1889"/>
              </a:lnSpc>
              <a:buFont typeface="Arial"/>
              <a:buChar char="•"/>
            </a:pPr>
            <a:r>
              <a:rPr lang="en-US" sz="1575">
                <a:solidFill>
                  <a:srgbClr val="3C3C41"/>
                </a:solidFill>
                <a:latin typeface="Arimo"/>
                <a:ea typeface="Arimo"/>
                <a:cs typeface="Arimo"/>
                <a:sym typeface="Arimo"/>
              </a:rPr>
              <a:t>Gayathridevi S- 24BYB1003</a:t>
            </a:r>
          </a:p>
          <a:p>
            <a:pPr marL="340042" lvl="1" indent="-170021" algn="l">
              <a:lnSpc>
                <a:spcPts val="1889"/>
              </a:lnSpc>
              <a:buFont typeface="Arial"/>
              <a:buChar char="•"/>
            </a:pPr>
            <a:r>
              <a:rPr lang="en-US" sz="1575">
                <a:solidFill>
                  <a:srgbClr val="3C3C41"/>
                </a:solidFill>
                <a:latin typeface="Arimo"/>
                <a:ea typeface="Arimo"/>
                <a:cs typeface="Arimo"/>
                <a:sym typeface="Arimo"/>
              </a:rPr>
              <a:t>Andukuri Navya Nandika- 24BYB1074</a:t>
            </a:r>
          </a:p>
          <a:p>
            <a:pPr algn="l">
              <a:lnSpc>
                <a:spcPts val="1889"/>
              </a:lnSpc>
            </a:pPr>
            <a:endParaRPr lang="en-US" sz="1575">
              <a:solidFill>
                <a:srgbClr val="3C3C41"/>
              </a:solidFill>
              <a:latin typeface="Arimo"/>
              <a:ea typeface="Arimo"/>
              <a:cs typeface="Arimo"/>
              <a:sym typeface="Arim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525"/>
            <a:ext cx="18287543" cy="10287000"/>
            <a:chOff x="0" y="0"/>
            <a:chExt cx="24383390" cy="13716000"/>
          </a:xfrm>
        </p:grpSpPr>
        <p:sp>
          <p:nvSpPr>
            <p:cNvPr id="3" name="Freeform 3"/>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close/>
                </a:path>
              </a:pathLst>
            </a:custGeom>
            <a:solidFill>
              <a:srgbClr val="FFFFF1"/>
            </a:solidFill>
          </p:spPr>
        </p:sp>
      </p:grpSp>
      <p:grpSp>
        <p:nvGrpSpPr>
          <p:cNvPr id="4" name="Group 4"/>
          <p:cNvGrpSpPr/>
          <p:nvPr/>
        </p:nvGrpSpPr>
        <p:grpSpPr>
          <a:xfrm>
            <a:off x="-274320" y="1577340"/>
            <a:ext cx="1577340" cy="493776"/>
            <a:chOff x="0" y="0"/>
            <a:chExt cx="2103120" cy="658368"/>
          </a:xfrm>
        </p:grpSpPr>
        <p:sp>
          <p:nvSpPr>
            <p:cNvPr id="5" name="Freeform 5"/>
            <p:cNvSpPr/>
            <p:nvPr/>
          </p:nvSpPr>
          <p:spPr>
            <a:xfrm>
              <a:off x="0" y="0"/>
              <a:ext cx="2103120" cy="658368"/>
            </a:xfrm>
            <a:custGeom>
              <a:avLst/>
              <a:gdLst/>
              <a:ahLst/>
              <a:cxnLst/>
              <a:rect l="l" t="t" r="r" b="b"/>
              <a:pathLst>
                <a:path w="2103120" h="658368">
                  <a:moveTo>
                    <a:pt x="0" y="329184"/>
                  </a:moveTo>
                  <a:cubicBezTo>
                    <a:pt x="0" y="147320"/>
                    <a:pt x="147320" y="0"/>
                    <a:pt x="329184" y="0"/>
                  </a:cubicBezTo>
                  <a:lnTo>
                    <a:pt x="1773936" y="0"/>
                  </a:lnTo>
                  <a:cubicBezTo>
                    <a:pt x="1955800" y="0"/>
                    <a:pt x="2103120" y="147320"/>
                    <a:pt x="2103120" y="329184"/>
                  </a:cubicBezTo>
                  <a:cubicBezTo>
                    <a:pt x="2103120" y="511048"/>
                    <a:pt x="1955800" y="658368"/>
                    <a:pt x="1773936" y="658368"/>
                  </a:cubicBezTo>
                  <a:lnTo>
                    <a:pt x="329184" y="658368"/>
                  </a:lnTo>
                  <a:cubicBezTo>
                    <a:pt x="147320" y="658368"/>
                    <a:pt x="0" y="511048"/>
                    <a:pt x="0" y="329184"/>
                  </a:cubicBezTo>
                  <a:close/>
                </a:path>
              </a:pathLst>
            </a:custGeom>
            <a:solidFill>
              <a:srgbClr val="FFB903"/>
            </a:solidFill>
          </p:spPr>
        </p:sp>
      </p:grpSp>
      <p:grpSp>
        <p:nvGrpSpPr>
          <p:cNvPr id="6" name="Group 6"/>
          <p:cNvGrpSpPr/>
          <p:nvPr/>
        </p:nvGrpSpPr>
        <p:grpSpPr>
          <a:xfrm>
            <a:off x="-274320" y="2180844"/>
            <a:ext cx="2194560" cy="493776"/>
            <a:chOff x="0" y="0"/>
            <a:chExt cx="2926080" cy="658368"/>
          </a:xfrm>
        </p:grpSpPr>
        <p:sp>
          <p:nvSpPr>
            <p:cNvPr id="7" name="Freeform 7"/>
            <p:cNvSpPr/>
            <p:nvPr/>
          </p:nvSpPr>
          <p:spPr>
            <a:xfrm>
              <a:off x="0" y="0"/>
              <a:ext cx="2926080" cy="658368"/>
            </a:xfrm>
            <a:custGeom>
              <a:avLst/>
              <a:gdLst/>
              <a:ahLst/>
              <a:cxnLst/>
              <a:rect l="l" t="t" r="r" b="b"/>
              <a:pathLst>
                <a:path w="2926080" h="658368">
                  <a:moveTo>
                    <a:pt x="0" y="329184"/>
                  </a:moveTo>
                  <a:cubicBezTo>
                    <a:pt x="0" y="147320"/>
                    <a:pt x="147320" y="0"/>
                    <a:pt x="329184" y="0"/>
                  </a:cubicBezTo>
                  <a:lnTo>
                    <a:pt x="2596896" y="0"/>
                  </a:lnTo>
                  <a:cubicBezTo>
                    <a:pt x="2778760" y="0"/>
                    <a:pt x="2926080" y="147320"/>
                    <a:pt x="2926080" y="329184"/>
                  </a:cubicBezTo>
                  <a:cubicBezTo>
                    <a:pt x="2926080" y="511048"/>
                    <a:pt x="2778760" y="658368"/>
                    <a:pt x="2596896" y="658368"/>
                  </a:cubicBezTo>
                  <a:lnTo>
                    <a:pt x="329184" y="658368"/>
                  </a:lnTo>
                  <a:cubicBezTo>
                    <a:pt x="147320" y="658368"/>
                    <a:pt x="0" y="511048"/>
                    <a:pt x="0" y="329184"/>
                  </a:cubicBezTo>
                  <a:close/>
                </a:path>
              </a:pathLst>
            </a:custGeom>
            <a:solidFill>
              <a:srgbClr val="079ED2"/>
            </a:solidFill>
          </p:spPr>
        </p:sp>
      </p:grpSp>
      <p:grpSp>
        <p:nvGrpSpPr>
          <p:cNvPr id="8" name="Group 8"/>
          <p:cNvGrpSpPr/>
          <p:nvPr/>
        </p:nvGrpSpPr>
        <p:grpSpPr>
          <a:xfrm>
            <a:off x="-274320" y="2784348"/>
            <a:ext cx="1577340" cy="493776"/>
            <a:chOff x="0" y="0"/>
            <a:chExt cx="2103120" cy="658368"/>
          </a:xfrm>
        </p:grpSpPr>
        <p:sp>
          <p:nvSpPr>
            <p:cNvPr id="9" name="Freeform 9"/>
            <p:cNvSpPr/>
            <p:nvPr/>
          </p:nvSpPr>
          <p:spPr>
            <a:xfrm>
              <a:off x="0" y="0"/>
              <a:ext cx="2103120" cy="658368"/>
            </a:xfrm>
            <a:custGeom>
              <a:avLst/>
              <a:gdLst/>
              <a:ahLst/>
              <a:cxnLst/>
              <a:rect l="l" t="t" r="r" b="b"/>
              <a:pathLst>
                <a:path w="2103120" h="658368">
                  <a:moveTo>
                    <a:pt x="0" y="329184"/>
                  </a:moveTo>
                  <a:cubicBezTo>
                    <a:pt x="0" y="147320"/>
                    <a:pt x="147320" y="0"/>
                    <a:pt x="329184" y="0"/>
                  </a:cubicBezTo>
                  <a:lnTo>
                    <a:pt x="1773936" y="0"/>
                  </a:lnTo>
                  <a:cubicBezTo>
                    <a:pt x="1955800" y="0"/>
                    <a:pt x="2103120" y="147320"/>
                    <a:pt x="2103120" y="329184"/>
                  </a:cubicBezTo>
                  <a:cubicBezTo>
                    <a:pt x="2103120" y="511048"/>
                    <a:pt x="1955800" y="658368"/>
                    <a:pt x="1773936" y="658368"/>
                  </a:cubicBezTo>
                  <a:lnTo>
                    <a:pt x="329184" y="658368"/>
                  </a:lnTo>
                  <a:cubicBezTo>
                    <a:pt x="147320" y="658368"/>
                    <a:pt x="0" y="511048"/>
                    <a:pt x="0" y="329184"/>
                  </a:cubicBezTo>
                  <a:close/>
                </a:path>
              </a:pathLst>
            </a:custGeom>
            <a:solidFill>
              <a:srgbClr val="FD1485"/>
            </a:solidFill>
          </p:spPr>
        </p:sp>
      </p:grpSp>
      <p:grpSp>
        <p:nvGrpSpPr>
          <p:cNvPr id="10" name="Group 10"/>
          <p:cNvGrpSpPr/>
          <p:nvPr/>
        </p:nvGrpSpPr>
        <p:grpSpPr>
          <a:xfrm>
            <a:off x="17282160" y="822960"/>
            <a:ext cx="329184" cy="246888"/>
            <a:chOff x="0" y="0"/>
            <a:chExt cx="438912" cy="329184"/>
          </a:xfrm>
        </p:grpSpPr>
        <p:sp>
          <p:nvSpPr>
            <p:cNvPr id="11" name="Freeform 11"/>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353334"/>
            </a:solidFill>
          </p:spPr>
        </p:sp>
      </p:grpSp>
      <p:grpSp>
        <p:nvGrpSpPr>
          <p:cNvPr id="12" name="Group 12"/>
          <p:cNvGrpSpPr/>
          <p:nvPr/>
        </p:nvGrpSpPr>
        <p:grpSpPr>
          <a:xfrm>
            <a:off x="17282160" y="1069848"/>
            <a:ext cx="329184" cy="246888"/>
            <a:chOff x="0" y="0"/>
            <a:chExt cx="438912" cy="329184"/>
          </a:xfrm>
        </p:grpSpPr>
        <p:sp>
          <p:nvSpPr>
            <p:cNvPr id="13" name="Freeform 13"/>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FFB903"/>
            </a:solidFill>
          </p:spPr>
        </p:sp>
      </p:grpSp>
      <p:grpSp>
        <p:nvGrpSpPr>
          <p:cNvPr id="14" name="Group 14"/>
          <p:cNvGrpSpPr/>
          <p:nvPr/>
        </p:nvGrpSpPr>
        <p:grpSpPr>
          <a:xfrm>
            <a:off x="17282160" y="1316736"/>
            <a:ext cx="329184" cy="246888"/>
            <a:chOff x="0" y="0"/>
            <a:chExt cx="438912" cy="329184"/>
          </a:xfrm>
        </p:grpSpPr>
        <p:sp>
          <p:nvSpPr>
            <p:cNvPr id="15" name="Freeform 15"/>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FD1485"/>
            </a:solidFill>
          </p:spPr>
        </p:sp>
      </p:grpSp>
      <p:grpSp>
        <p:nvGrpSpPr>
          <p:cNvPr id="16" name="Group 16"/>
          <p:cNvGrpSpPr/>
          <p:nvPr/>
        </p:nvGrpSpPr>
        <p:grpSpPr>
          <a:xfrm>
            <a:off x="17282160" y="1563624"/>
            <a:ext cx="329184" cy="246888"/>
            <a:chOff x="0" y="0"/>
            <a:chExt cx="438912" cy="329184"/>
          </a:xfrm>
        </p:grpSpPr>
        <p:sp>
          <p:nvSpPr>
            <p:cNvPr id="17" name="Freeform 17"/>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079ED2"/>
            </a:solidFill>
          </p:spPr>
        </p:sp>
      </p:grpSp>
      <p:grpSp>
        <p:nvGrpSpPr>
          <p:cNvPr id="18" name="Group 18"/>
          <p:cNvGrpSpPr/>
          <p:nvPr/>
        </p:nvGrpSpPr>
        <p:grpSpPr>
          <a:xfrm>
            <a:off x="822960" y="8366760"/>
            <a:ext cx="329184" cy="246888"/>
            <a:chOff x="0" y="0"/>
            <a:chExt cx="438912" cy="329184"/>
          </a:xfrm>
        </p:grpSpPr>
        <p:sp>
          <p:nvSpPr>
            <p:cNvPr id="19" name="Freeform 19"/>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353334"/>
            </a:solidFill>
          </p:spPr>
        </p:sp>
      </p:grpSp>
      <p:grpSp>
        <p:nvGrpSpPr>
          <p:cNvPr id="20" name="Group 20"/>
          <p:cNvGrpSpPr/>
          <p:nvPr/>
        </p:nvGrpSpPr>
        <p:grpSpPr>
          <a:xfrm>
            <a:off x="822960" y="8613648"/>
            <a:ext cx="329184" cy="246888"/>
            <a:chOff x="0" y="0"/>
            <a:chExt cx="438912" cy="329184"/>
          </a:xfrm>
        </p:grpSpPr>
        <p:sp>
          <p:nvSpPr>
            <p:cNvPr id="21" name="Freeform 21"/>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FFB903"/>
            </a:solidFill>
          </p:spPr>
        </p:sp>
      </p:grpSp>
      <p:grpSp>
        <p:nvGrpSpPr>
          <p:cNvPr id="22" name="Group 22"/>
          <p:cNvGrpSpPr/>
          <p:nvPr/>
        </p:nvGrpSpPr>
        <p:grpSpPr>
          <a:xfrm>
            <a:off x="822960" y="8860536"/>
            <a:ext cx="329184" cy="246888"/>
            <a:chOff x="0" y="0"/>
            <a:chExt cx="438912" cy="329184"/>
          </a:xfrm>
        </p:grpSpPr>
        <p:sp>
          <p:nvSpPr>
            <p:cNvPr id="23" name="Freeform 23"/>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FD1485"/>
            </a:solidFill>
          </p:spPr>
        </p:sp>
      </p:grpSp>
      <p:grpSp>
        <p:nvGrpSpPr>
          <p:cNvPr id="24" name="Group 24"/>
          <p:cNvGrpSpPr/>
          <p:nvPr/>
        </p:nvGrpSpPr>
        <p:grpSpPr>
          <a:xfrm>
            <a:off x="822960" y="9107424"/>
            <a:ext cx="329184" cy="246888"/>
            <a:chOff x="0" y="0"/>
            <a:chExt cx="438912" cy="329184"/>
          </a:xfrm>
        </p:grpSpPr>
        <p:sp>
          <p:nvSpPr>
            <p:cNvPr id="25" name="Freeform 25"/>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079ED2"/>
            </a:solidFill>
          </p:spPr>
        </p:sp>
      </p:grpSp>
      <p:grpSp>
        <p:nvGrpSpPr>
          <p:cNvPr id="26" name="Group 26"/>
          <p:cNvGrpSpPr/>
          <p:nvPr/>
        </p:nvGrpSpPr>
        <p:grpSpPr>
          <a:xfrm>
            <a:off x="16630650" y="8901112"/>
            <a:ext cx="480060" cy="28575"/>
            <a:chOff x="0" y="0"/>
            <a:chExt cx="640080" cy="38100"/>
          </a:xfrm>
        </p:grpSpPr>
        <p:sp>
          <p:nvSpPr>
            <p:cNvPr id="27" name="Freeform 27"/>
            <p:cNvSpPr/>
            <p:nvPr/>
          </p:nvSpPr>
          <p:spPr>
            <a:xfrm>
              <a:off x="0" y="0"/>
              <a:ext cx="640080" cy="38100"/>
            </a:xfrm>
            <a:custGeom>
              <a:avLst/>
              <a:gdLst/>
              <a:ahLst/>
              <a:cxnLst/>
              <a:rect l="l" t="t" r="r" b="b"/>
              <a:pathLst>
                <a:path w="640080" h="38100">
                  <a:moveTo>
                    <a:pt x="0" y="0"/>
                  </a:moveTo>
                  <a:lnTo>
                    <a:pt x="640080" y="0"/>
                  </a:lnTo>
                  <a:lnTo>
                    <a:pt x="640080" y="38100"/>
                  </a:lnTo>
                  <a:lnTo>
                    <a:pt x="0" y="38100"/>
                  </a:lnTo>
                  <a:close/>
                </a:path>
              </a:pathLst>
            </a:custGeom>
            <a:solidFill>
              <a:srgbClr val="353334"/>
            </a:solidFill>
          </p:spPr>
        </p:sp>
      </p:grpSp>
      <p:grpSp>
        <p:nvGrpSpPr>
          <p:cNvPr id="28" name="Group 28"/>
          <p:cNvGrpSpPr/>
          <p:nvPr/>
        </p:nvGrpSpPr>
        <p:grpSpPr>
          <a:xfrm>
            <a:off x="16856392" y="8675370"/>
            <a:ext cx="28575" cy="480060"/>
            <a:chOff x="0" y="0"/>
            <a:chExt cx="38100" cy="640080"/>
          </a:xfrm>
        </p:grpSpPr>
        <p:sp>
          <p:nvSpPr>
            <p:cNvPr id="29" name="Freeform 29"/>
            <p:cNvSpPr/>
            <p:nvPr/>
          </p:nvSpPr>
          <p:spPr>
            <a:xfrm>
              <a:off x="0" y="0"/>
              <a:ext cx="38100" cy="640080"/>
            </a:xfrm>
            <a:custGeom>
              <a:avLst/>
              <a:gdLst/>
              <a:ahLst/>
              <a:cxnLst/>
              <a:rect l="l" t="t" r="r" b="b"/>
              <a:pathLst>
                <a:path w="38100" h="640080">
                  <a:moveTo>
                    <a:pt x="0" y="0"/>
                  </a:moveTo>
                  <a:lnTo>
                    <a:pt x="38100" y="0"/>
                  </a:lnTo>
                  <a:lnTo>
                    <a:pt x="38100" y="640080"/>
                  </a:lnTo>
                  <a:lnTo>
                    <a:pt x="0" y="640080"/>
                  </a:lnTo>
                  <a:close/>
                </a:path>
              </a:pathLst>
            </a:custGeom>
            <a:solidFill>
              <a:srgbClr val="353334"/>
            </a:solidFill>
          </p:spPr>
        </p:sp>
      </p:grpSp>
      <p:grpSp>
        <p:nvGrpSpPr>
          <p:cNvPr id="30" name="Group 30"/>
          <p:cNvGrpSpPr/>
          <p:nvPr/>
        </p:nvGrpSpPr>
        <p:grpSpPr>
          <a:xfrm>
            <a:off x="16788384" y="8833104"/>
            <a:ext cx="164592" cy="164592"/>
            <a:chOff x="0" y="0"/>
            <a:chExt cx="219456" cy="219456"/>
          </a:xfrm>
        </p:grpSpPr>
        <p:sp>
          <p:nvSpPr>
            <p:cNvPr id="31" name="Freeform 31"/>
            <p:cNvSpPr/>
            <p:nvPr/>
          </p:nvSpPr>
          <p:spPr>
            <a:xfrm>
              <a:off x="0" y="0"/>
              <a:ext cx="219456" cy="219456"/>
            </a:xfrm>
            <a:custGeom>
              <a:avLst/>
              <a:gdLst/>
              <a:ahLst/>
              <a:cxnLst/>
              <a:rect l="l" t="t" r="r" b="b"/>
              <a:pathLst>
                <a:path w="219456" h="219456">
                  <a:moveTo>
                    <a:pt x="0" y="0"/>
                  </a:moveTo>
                  <a:lnTo>
                    <a:pt x="219456" y="0"/>
                  </a:lnTo>
                  <a:lnTo>
                    <a:pt x="219456" y="219456"/>
                  </a:lnTo>
                  <a:lnTo>
                    <a:pt x="0" y="219456"/>
                  </a:lnTo>
                  <a:close/>
                </a:path>
              </a:pathLst>
            </a:custGeom>
            <a:solidFill>
              <a:srgbClr val="FFB903"/>
            </a:solidFill>
          </p:spPr>
        </p:sp>
      </p:grpSp>
      <p:grpSp>
        <p:nvGrpSpPr>
          <p:cNvPr id="32" name="Group 32"/>
          <p:cNvGrpSpPr/>
          <p:nvPr/>
        </p:nvGrpSpPr>
        <p:grpSpPr>
          <a:xfrm>
            <a:off x="12604432" y="945832"/>
            <a:ext cx="1537335" cy="1263015"/>
            <a:chOff x="0" y="0"/>
            <a:chExt cx="2049780" cy="1684020"/>
          </a:xfrm>
        </p:grpSpPr>
        <p:sp>
          <p:nvSpPr>
            <p:cNvPr id="33" name="Freeform 33"/>
            <p:cNvSpPr/>
            <p:nvPr/>
          </p:nvSpPr>
          <p:spPr>
            <a:xfrm>
              <a:off x="1024890" y="0"/>
              <a:ext cx="1024890" cy="842010"/>
            </a:xfrm>
            <a:custGeom>
              <a:avLst/>
              <a:gdLst/>
              <a:ahLst/>
              <a:cxnLst/>
              <a:rect l="l" t="t" r="r" b="b"/>
              <a:pathLst>
                <a:path w="1024890" h="842010">
                  <a:moveTo>
                    <a:pt x="0" y="0"/>
                  </a:moveTo>
                  <a:cubicBezTo>
                    <a:pt x="566039" y="0"/>
                    <a:pt x="1024890" y="376936"/>
                    <a:pt x="1024890" y="842010"/>
                  </a:cubicBezTo>
                  <a:lnTo>
                    <a:pt x="0" y="842010"/>
                  </a:lnTo>
                  <a:close/>
                </a:path>
              </a:pathLst>
            </a:custGeom>
            <a:blipFill>
              <a:blip r:embed="rId2">
                <a:alphaModFix amt="0"/>
              </a:blip>
              <a:stretch>
                <a:fillRect l="-210818" r="-110818" b="-99999"/>
              </a:stretch>
            </a:blipFill>
            <a:ln w="28575" cap="sq">
              <a:solidFill>
                <a:srgbClr val="079ED2"/>
              </a:solidFill>
              <a:prstDash val="solid"/>
              <a:miter/>
            </a:ln>
          </p:spPr>
        </p:sp>
        <p:sp>
          <p:nvSpPr>
            <p:cNvPr id="34" name="Freeform 34"/>
            <p:cNvSpPr/>
            <p:nvPr/>
          </p:nvSpPr>
          <p:spPr>
            <a:xfrm>
              <a:off x="1024890" y="0"/>
              <a:ext cx="1024890" cy="842010"/>
            </a:xfrm>
            <a:custGeom>
              <a:avLst/>
              <a:gdLst/>
              <a:ahLst/>
              <a:cxnLst/>
              <a:rect l="l" t="t" r="r" b="b"/>
              <a:pathLst>
                <a:path w="1024890" h="842010">
                  <a:moveTo>
                    <a:pt x="0" y="0"/>
                  </a:moveTo>
                  <a:cubicBezTo>
                    <a:pt x="566039" y="0"/>
                    <a:pt x="1024890" y="376936"/>
                    <a:pt x="1024890" y="842010"/>
                  </a:cubicBezTo>
                </a:path>
              </a:pathLst>
            </a:custGeom>
            <a:blipFill>
              <a:blip r:embed="rId2">
                <a:alphaModFix amt="0"/>
              </a:blip>
              <a:stretch>
                <a:fillRect l="-210818" r="-110818" b="-99999"/>
              </a:stretch>
            </a:blipFill>
            <a:ln w="28575" cap="sq">
              <a:solidFill>
                <a:srgbClr val="079ED2"/>
              </a:solidFill>
              <a:prstDash val="solid"/>
              <a:miter/>
            </a:ln>
          </p:spPr>
        </p:sp>
      </p:grpSp>
      <p:grpSp>
        <p:nvGrpSpPr>
          <p:cNvPr id="35" name="Group 35"/>
          <p:cNvGrpSpPr/>
          <p:nvPr/>
        </p:nvGrpSpPr>
        <p:grpSpPr>
          <a:xfrm>
            <a:off x="12543663" y="1502283"/>
            <a:ext cx="150114" cy="150114"/>
            <a:chOff x="0" y="0"/>
            <a:chExt cx="200152" cy="200152"/>
          </a:xfrm>
        </p:grpSpPr>
        <p:sp>
          <p:nvSpPr>
            <p:cNvPr id="36" name="Freeform 36"/>
            <p:cNvSpPr/>
            <p:nvPr/>
          </p:nvSpPr>
          <p:spPr>
            <a:xfrm>
              <a:off x="0" y="0"/>
              <a:ext cx="200152" cy="200152"/>
            </a:xfrm>
            <a:custGeom>
              <a:avLst/>
              <a:gdLst/>
              <a:ahLst/>
              <a:cxnLst/>
              <a:rect l="l" t="t" r="r" b="b"/>
              <a:pathLst>
                <a:path w="200152" h="200152">
                  <a:moveTo>
                    <a:pt x="0" y="0"/>
                  </a:moveTo>
                  <a:lnTo>
                    <a:pt x="200152" y="0"/>
                  </a:lnTo>
                  <a:lnTo>
                    <a:pt x="200152" y="200152"/>
                  </a:lnTo>
                  <a:lnTo>
                    <a:pt x="0" y="200152"/>
                  </a:lnTo>
                  <a:close/>
                </a:path>
              </a:pathLst>
            </a:custGeom>
            <a:solidFill>
              <a:srgbClr val="FFFFFF"/>
            </a:solidFill>
            <a:ln w="26670" cap="sq">
              <a:solidFill>
                <a:srgbClr val="FD1485"/>
              </a:solidFill>
              <a:prstDash val="solid"/>
              <a:miter/>
            </a:ln>
          </p:spPr>
        </p:sp>
      </p:grpSp>
      <p:grpSp>
        <p:nvGrpSpPr>
          <p:cNvPr id="37" name="Group 37"/>
          <p:cNvGrpSpPr/>
          <p:nvPr/>
        </p:nvGrpSpPr>
        <p:grpSpPr>
          <a:xfrm>
            <a:off x="14052423" y="885063"/>
            <a:ext cx="150114" cy="150114"/>
            <a:chOff x="0" y="0"/>
            <a:chExt cx="200152" cy="200152"/>
          </a:xfrm>
        </p:grpSpPr>
        <p:sp>
          <p:nvSpPr>
            <p:cNvPr id="38" name="Freeform 38"/>
            <p:cNvSpPr/>
            <p:nvPr/>
          </p:nvSpPr>
          <p:spPr>
            <a:xfrm>
              <a:off x="0" y="0"/>
              <a:ext cx="200152" cy="200152"/>
            </a:xfrm>
            <a:custGeom>
              <a:avLst/>
              <a:gdLst/>
              <a:ahLst/>
              <a:cxnLst/>
              <a:rect l="l" t="t" r="r" b="b"/>
              <a:pathLst>
                <a:path w="200152" h="200152">
                  <a:moveTo>
                    <a:pt x="0" y="0"/>
                  </a:moveTo>
                  <a:lnTo>
                    <a:pt x="200152" y="0"/>
                  </a:lnTo>
                  <a:lnTo>
                    <a:pt x="200152" y="200152"/>
                  </a:lnTo>
                  <a:lnTo>
                    <a:pt x="0" y="200152"/>
                  </a:lnTo>
                  <a:close/>
                </a:path>
              </a:pathLst>
            </a:custGeom>
            <a:solidFill>
              <a:srgbClr val="FFFFFF"/>
            </a:solidFill>
            <a:ln w="26670" cap="sq">
              <a:solidFill>
                <a:srgbClr val="FD1485"/>
              </a:solidFill>
              <a:prstDash val="solid"/>
              <a:miter/>
            </a:ln>
          </p:spPr>
        </p:sp>
      </p:grpSp>
      <p:sp>
        <p:nvSpPr>
          <p:cNvPr id="39" name="TextBox 39"/>
          <p:cNvSpPr txBox="1"/>
          <p:nvPr/>
        </p:nvSpPr>
        <p:spPr>
          <a:xfrm>
            <a:off x="2468880" y="566547"/>
            <a:ext cx="12344400" cy="421005"/>
          </a:xfrm>
          <a:prstGeom prst="rect">
            <a:avLst/>
          </a:prstGeom>
        </p:spPr>
        <p:txBody>
          <a:bodyPr lIns="0" tIns="0" rIns="0" bIns="0" rtlCol="0" anchor="t">
            <a:spAutoFit/>
          </a:bodyPr>
          <a:lstStyle/>
          <a:p>
            <a:pPr algn="l">
              <a:lnSpc>
                <a:spcPts val="1889"/>
              </a:lnSpc>
            </a:pPr>
            <a:r>
              <a:rPr lang="en-US" sz="1575" b="1">
                <a:solidFill>
                  <a:srgbClr val="353334"/>
                </a:solidFill>
                <a:latin typeface="Arimo Bold"/>
                <a:ea typeface="Arimo Bold"/>
                <a:cs typeface="Arimo Bold"/>
                <a:sym typeface="Arimo Bold"/>
              </a:rPr>
              <a:t>DATAQUEST 3.0  ·  ROUND 1</a:t>
            </a:r>
          </a:p>
        </p:txBody>
      </p:sp>
      <p:sp>
        <p:nvSpPr>
          <p:cNvPr id="40" name="TextBox 40"/>
          <p:cNvSpPr txBox="1"/>
          <p:nvPr/>
        </p:nvSpPr>
        <p:spPr>
          <a:xfrm>
            <a:off x="2468880" y="913638"/>
            <a:ext cx="13716000" cy="1184910"/>
          </a:xfrm>
          <a:prstGeom prst="rect">
            <a:avLst/>
          </a:prstGeom>
        </p:spPr>
        <p:txBody>
          <a:bodyPr lIns="0" tIns="0" rIns="0" bIns="0" rtlCol="0" anchor="t">
            <a:spAutoFit/>
          </a:bodyPr>
          <a:lstStyle/>
          <a:p>
            <a:pPr algn="l">
              <a:lnSpc>
                <a:spcPts val="5759"/>
              </a:lnSpc>
            </a:pPr>
            <a:r>
              <a:rPr lang="en-US" sz="4800" b="1">
                <a:solidFill>
                  <a:srgbClr val="FD1485"/>
                </a:solidFill>
                <a:latin typeface="Arimo Bold"/>
                <a:ea typeface="Arimo Bold"/>
                <a:cs typeface="Arimo Bold"/>
                <a:sym typeface="Arimo Bold"/>
              </a:rPr>
              <a:t>02  </a:t>
            </a:r>
            <a:r>
              <a:rPr lang="en-US" sz="4800" b="1">
                <a:solidFill>
                  <a:srgbClr val="353334"/>
                </a:solidFill>
                <a:latin typeface="Arimo Bold"/>
                <a:ea typeface="Arimo Bold"/>
                <a:cs typeface="Arimo Bold"/>
                <a:sym typeface="Arimo Bold"/>
              </a:rPr>
              <a:t>Problem Definition</a:t>
            </a:r>
          </a:p>
        </p:txBody>
      </p:sp>
      <p:grpSp>
        <p:nvGrpSpPr>
          <p:cNvPr id="41" name="Group 41"/>
          <p:cNvGrpSpPr/>
          <p:nvPr/>
        </p:nvGrpSpPr>
        <p:grpSpPr>
          <a:xfrm>
            <a:off x="2468880" y="2167128"/>
            <a:ext cx="14127480" cy="28575"/>
            <a:chOff x="0" y="0"/>
            <a:chExt cx="18836640" cy="38100"/>
          </a:xfrm>
        </p:grpSpPr>
        <p:sp>
          <p:nvSpPr>
            <p:cNvPr id="42" name="Freeform 42"/>
            <p:cNvSpPr/>
            <p:nvPr/>
          </p:nvSpPr>
          <p:spPr>
            <a:xfrm>
              <a:off x="0" y="0"/>
              <a:ext cx="18836639" cy="38100"/>
            </a:xfrm>
            <a:custGeom>
              <a:avLst/>
              <a:gdLst/>
              <a:ahLst/>
              <a:cxnLst/>
              <a:rect l="l" t="t" r="r" b="b"/>
              <a:pathLst>
                <a:path w="18836639" h="38100">
                  <a:moveTo>
                    <a:pt x="0" y="0"/>
                  </a:moveTo>
                  <a:lnTo>
                    <a:pt x="18836639" y="0"/>
                  </a:lnTo>
                  <a:lnTo>
                    <a:pt x="18836639" y="38100"/>
                  </a:lnTo>
                  <a:lnTo>
                    <a:pt x="0" y="38100"/>
                  </a:lnTo>
                  <a:close/>
                </a:path>
              </a:pathLst>
            </a:custGeom>
            <a:solidFill>
              <a:srgbClr val="353334"/>
            </a:solidFill>
          </p:spPr>
        </p:sp>
      </p:grpSp>
      <p:sp>
        <p:nvSpPr>
          <p:cNvPr id="43" name="TextBox 43"/>
          <p:cNvSpPr txBox="1"/>
          <p:nvPr/>
        </p:nvSpPr>
        <p:spPr>
          <a:xfrm>
            <a:off x="2468880" y="2257806"/>
            <a:ext cx="14127480" cy="499110"/>
          </a:xfrm>
          <a:prstGeom prst="rect">
            <a:avLst/>
          </a:prstGeom>
        </p:spPr>
        <p:txBody>
          <a:bodyPr lIns="0" tIns="0" rIns="0" bIns="0" rtlCol="0" anchor="t">
            <a:spAutoFit/>
          </a:bodyPr>
          <a:lstStyle/>
          <a:p>
            <a:pPr algn="l">
              <a:lnSpc>
                <a:spcPts val="1980"/>
              </a:lnSpc>
            </a:pPr>
            <a:r>
              <a:rPr lang="en-US" sz="1650">
                <a:solidFill>
                  <a:srgbClr val="6E6E73"/>
                </a:solidFill>
                <a:latin typeface="Arimo"/>
                <a:ea typeface="Arimo"/>
                <a:cs typeface="Arimo"/>
                <a:sym typeface="Arimo"/>
              </a:rPr>
              <a:t>Who is impacted · Today's workarounds · Why current methods fail · Concrete proof</a:t>
            </a:r>
          </a:p>
        </p:txBody>
      </p:sp>
      <p:grpSp>
        <p:nvGrpSpPr>
          <p:cNvPr id="44" name="Group 44"/>
          <p:cNvGrpSpPr/>
          <p:nvPr/>
        </p:nvGrpSpPr>
        <p:grpSpPr>
          <a:xfrm>
            <a:off x="2454592" y="3071812"/>
            <a:ext cx="6886575" cy="3251835"/>
            <a:chOff x="0" y="0"/>
            <a:chExt cx="9182100" cy="4335780"/>
          </a:xfrm>
        </p:grpSpPr>
        <p:sp>
          <p:nvSpPr>
            <p:cNvPr id="45" name="Freeform 45"/>
            <p:cNvSpPr/>
            <p:nvPr/>
          </p:nvSpPr>
          <p:spPr>
            <a:xfrm>
              <a:off x="0" y="0"/>
              <a:ext cx="9182100" cy="4335780"/>
            </a:xfrm>
            <a:custGeom>
              <a:avLst/>
              <a:gdLst/>
              <a:ahLst/>
              <a:cxnLst/>
              <a:rect l="l" t="t" r="r" b="b"/>
              <a:pathLst>
                <a:path w="9182100" h="4335780">
                  <a:moveTo>
                    <a:pt x="0" y="151765"/>
                  </a:moveTo>
                  <a:cubicBezTo>
                    <a:pt x="0" y="67945"/>
                    <a:pt x="67945" y="0"/>
                    <a:pt x="151765" y="0"/>
                  </a:cubicBezTo>
                  <a:lnTo>
                    <a:pt x="9030335" y="0"/>
                  </a:lnTo>
                  <a:cubicBezTo>
                    <a:pt x="9114155" y="0"/>
                    <a:pt x="9182100" y="67945"/>
                    <a:pt x="9182100" y="151765"/>
                  </a:cubicBezTo>
                  <a:lnTo>
                    <a:pt x="9182100" y="4184015"/>
                  </a:lnTo>
                  <a:cubicBezTo>
                    <a:pt x="9182100" y="4267835"/>
                    <a:pt x="9114155" y="4335780"/>
                    <a:pt x="9030335" y="4335780"/>
                  </a:cubicBezTo>
                  <a:lnTo>
                    <a:pt x="151765" y="4335780"/>
                  </a:lnTo>
                  <a:cubicBezTo>
                    <a:pt x="67945" y="4335780"/>
                    <a:pt x="0" y="4267835"/>
                    <a:pt x="0" y="4184015"/>
                  </a:cubicBezTo>
                  <a:close/>
                </a:path>
              </a:pathLst>
            </a:custGeom>
            <a:solidFill>
              <a:srgbClr val="FFFFFF"/>
            </a:solidFill>
            <a:ln w="28575" cap="sq">
              <a:solidFill>
                <a:srgbClr val="353334"/>
              </a:solidFill>
              <a:prstDash val="solid"/>
              <a:miter/>
            </a:ln>
          </p:spPr>
        </p:sp>
      </p:grpSp>
      <p:grpSp>
        <p:nvGrpSpPr>
          <p:cNvPr id="46" name="Group 46"/>
          <p:cNvGrpSpPr/>
          <p:nvPr/>
        </p:nvGrpSpPr>
        <p:grpSpPr>
          <a:xfrm>
            <a:off x="2937510" y="2882646"/>
            <a:ext cx="2423160" cy="406908"/>
            <a:chOff x="0" y="0"/>
            <a:chExt cx="3230880" cy="542544"/>
          </a:xfrm>
        </p:grpSpPr>
        <p:sp>
          <p:nvSpPr>
            <p:cNvPr id="47" name="Freeform 47"/>
            <p:cNvSpPr/>
            <p:nvPr/>
          </p:nvSpPr>
          <p:spPr>
            <a:xfrm>
              <a:off x="0" y="0"/>
              <a:ext cx="3230880" cy="542544"/>
            </a:xfrm>
            <a:custGeom>
              <a:avLst/>
              <a:gdLst/>
              <a:ahLst/>
              <a:cxnLst/>
              <a:rect l="l" t="t" r="r" b="b"/>
              <a:pathLst>
                <a:path w="3230880" h="542544">
                  <a:moveTo>
                    <a:pt x="0" y="271272"/>
                  </a:moveTo>
                  <a:cubicBezTo>
                    <a:pt x="0" y="121412"/>
                    <a:pt x="121412" y="0"/>
                    <a:pt x="271272" y="0"/>
                  </a:cubicBezTo>
                  <a:lnTo>
                    <a:pt x="2959608" y="0"/>
                  </a:lnTo>
                  <a:cubicBezTo>
                    <a:pt x="3109468" y="0"/>
                    <a:pt x="3230880" y="121412"/>
                    <a:pt x="3230880" y="271272"/>
                  </a:cubicBezTo>
                  <a:cubicBezTo>
                    <a:pt x="3230880" y="421132"/>
                    <a:pt x="3109468" y="542544"/>
                    <a:pt x="2959608" y="542544"/>
                  </a:cubicBezTo>
                  <a:lnTo>
                    <a:pt x="271272" y="542544"/>
                  </a:lnTo>
                  <a:cubicBezTo>
                    <a:pt x="121412" y="542544"/>
                    <a:pt x="0" y="421132"/>
                    <a:pt x="0" y="271272"/>
                  </a:cubicBezTo>
                  <a:close/>
                </a:path>
              </a:pathLst>
            </a:custGeom>
            <a:solidFill>
              <a:srgbClr val="079ED2"/>
            </a:solidFill>
            <a:ln w="22860" cap="sq">
              <a:solidFill>
                <a:srgbClr val="353334"/>
              </a:solidFill>
              <a:prstDash val="solid"/>
              <a:miter/>
            </a:ln>
          </p:spPr>
        </p:sp>
        <p:sp>
          <p:nvSpPr>
            <p:cNvPr id="48" name="TextBox 48"/>
            <p:cNvSpPr txBox="1"/>
            <p:nvPr/>
          </p:nvSpPr>
          <p:spPr>
            <a:xfrm>
              <a:off x="0" y="-19050"/>
              <a:ext cx="3230880" cy="561594"/>
            </a:xfrm>
            <a:prstGeom prst="rect">
              <a:avLst/>
            </a:prstGeom>
          </p:spPr>
          <p:txBody>
            <a:bodyPr lIns="50800" tIns="50800" rIns="50800" bIns="50800" rtlCol="0" anchor="ctr"/>
            <a:lstStyle/>
            <a:p>
              <a:pPr algn="ctr">
                <a:lnSpc>
                  <a:spcPts val="1530"/>
                </a:lnSpc>
              </a:pPr>
              <a:r>
                <a:rPr lang="en-US" sz="1275" b="1">
                  <a:solidFill>
                    <a:srgbClr val="FFFFFF"/>
                  </a:solidFill>
                  <a:latin typeface="Arimo Bold"/>
                  <a:ea typeface="Arimo Bold"/>
                  <a:cs typeface="Arimo Bold"/>
                  <a:sym typeface="Arimo Bold"/>
                </a:rPr>
                <a:t>01 · AUDIENCE</a:t>
              </a:r>
            </a:p>
          </p:txBody>
        </p:sp>
      </p:grpSp>
      <p:sp>
        <p:nvSpPr>
          <p:cNvPr id="49" name="TextBox 49"/>
          <p:cNvSpPr txBox="1"/>
          <p:nvPr/>
        </p:nvSpPr>
        <p:spPr>
          <a:xfrm>
            <a:off x="2971800" y="3496818"/>
            <a:ext cx="5852160" cy="1685925"/>
          </a:xfrm>
          <a:prstGeom prst="rect">
            <a:avLst/>
          </a:prstGeom>
        </p:spPr>
        <p:txBody>
          <a:bodyPr lIns="0" tIns="0" rIns="0" bIns="0" rtlCol="0" anchor="t">
            <a:spAutoFit/>
          </a:bodyPr>
          <a:lstStyle/>
          <a:p>
            <a:pPr algn="l">
              <a:lnSpc>
                <a:spcPts val="2340"/>
              </a:lnSpc>
            </a:pPr>
            <a:r>
              <a:rPr lang="en-US" sz="1950" b="1" dirty="0">
                <a:solidFill>
                  <a:srgbClr val="353334"/>
                </a:solidFill>
                <a:latin typeface="Arimo Bold"/>
                <a:ea typeface="Arimo Bold"/>
                <a:cs typeface="Arimo Bold"/>
                <a:sym typeface="Arimo Bold"/>
              </a:rPr>
              <a:t>WHO &amp; HOW OFTEN</a:t>
            </a:r>
          </a:p>
          <a:p>
            <a:pPr algn="l">
              <a:lnSpc>
                <a:spcPts val="1800"/>
              </a:lnSpc>
            </a:pPr>
            <a:endParaRPr lang="en-US" sz="1950" b="1" dirty="0">
              <a:solidFill>
                <a:srgbClr val="353334"/>
              </a:solidFill>
              <a:latin typeface="Arimo Bold"/>
              <a:ea typeface="Arimo Bold"/>
              <a:cs typeface="Arimo Bold"/>
              <a:sym typeface="Arimo Bold"/>
            </a:endParaRPr>
          </a:p>
          <a:p>
            <a:pPr algn="l">
              <a:lnSpc>
                <a:spcPts val="1800"/>
              </a:lnSpc>
            </a:pPr>
            <a:r>
              <a:rPr lang="en-US" sz="1500" dirty="0">
                <a:solidFill>
                  <a:srgbClr val="3C3C41"/>
                </a:solidFill>
                <a:latin typeface="Arimo"/>
                <a:ea typeface="Arimo"/>
                <a:cs typeface="Arimo"/>
                <a:sym typeface="Arimo"/>
              </a:rPr>
              <a:t>Finance, legal, compliance and enterprise teams process large volumes of complex documents every day including reports, contracts, statements, filings and scanned documents. </a:t>
            </a:r>
          </a:p>
          <a:p>
            <a:pPr algn="l">
              <a:lnSpc>
                <a:spcPts val="1800"/>
              </a:lnSpc>
            </a:pPr>
            <a:r>
              <a:rPr lang="en-US" sz="1500" dirty="0">
                <a:solidFill>
                  <a:srgbClr val="3C3C41"/>
                </a:solidFill>
                <a:latin typeface="Arimo"/>
                <a:ea typeface="Arimo"/>
                <a:cs typeface="Arimo"/>
                <a:sym typeface="Arimo"/>
              </a:rPr>
              <a:t>Pain: Manual extraction and verification is slow, repetitive and error-prone. Existing methods </a:t>
            </a:r>
            <a:r>
              <a:rPr lang="en-US" sz="1500" dirty="0" err="1">
                <a:solidFill>
                  <a:srgbClr val="3C3C41"/>
                </a:solidFill>
                <a:latin typeface="Arimo"/>
                <a:ea typeface="Arimo"/>
                <a:cs typeface="Arimo"/>
                <a:sym typeface="Arimo"/>
              </a:rPr>
              <a:t>dont</a:t>
            </a:r>
            <a:r>
              <a:rPr lang="en-US" sz="1500" dirty="0">
                <a:solidFill>
                  <a:srgbClr val="3C3C41"/>
                </a:solidFill>
                <a:latin typeface="Arimo"/>
                <a:ea typeface="Arimo"/>
                <a:cs typeface="Arimo"/>
                <a:sym typeface="Arimo"/>
              </a:rPr>
              <a:t> accurately parse complex layouts.</a:t>
            </a:r>
          </a:p>
        </p:txBody>
      </p:sp>
      <p:grpSp>
        <p:nvGrpSpPr>
          <p:cNvPr id="50" name="Group 50"/>
          <p:cNvGrpSpPr/>
          <p:nvPr/>
        </p:nvGrpSpPr>
        <p:grpSpPr>
          <a:xfrm>
            <a:off x="9724072" y="3071812"/>
            <a:ext cx="6886575" cy="3251835"/>
            <a:chOff x="0" y="0"/>
            <a:chExt cx="9182100" cy="4335780"/>
          </a:xfrm>
        </p:grpSpPr>
        <p:sp>
          <p:nvSpPr>
            <p:cNvPr id="51" name="Freeform 51"/>
            <p:cNvSpPr/>
            <p:nvPr/>
          </p:nvSpPr>
          <p:spPr>
            <a:xfrm>
              <a:off x="0" y="0"/>
              <a:ext cx="9182100" cy="4335780"/>
            </a:xfrm>
            <a:custGeom>
              <a:avLst/>
              <a:gdLst/>
              <a:ahLst/>
              <a:cxnLst/>
              <a:rect l="l" t="t" r="r" b="b"/>
              <a:pathLst>
                <a:path w="9182100" h="4335780">
                  <a:moveTo>
                    <a:pt x="0" y="151765"/>
                  </a:moveTo>
                  <a:cubicBezTo>
                    <a:pt x="0" y="67945"/>
                    <a:pt x="67945" y="0"/>
                    <a:pt x="151765" y="0"/>
                  </a:cubicBezTo>
                  <a:lnTo>
                    <a:pt x="9030335" y="0"/>
                  </a:lnTo>
                  <a:cubicBezTo>
                    <a:pt x="9114155" y="0"/>
                    <a:pt x="9182100" y="67945"/>
                    <a:pt x="9182100" y="151765"/>
                  </a:cubicBezTo>
                  <a:lnTo>
                    <a:pt x="9182100" y="4184015"/>
                  </a:lnTo>
                  <a:cubicBezTo>
                    <a:pt x="9182100" y="4267835"/>
                    <a:pt x="9114155" y="4335780"/>
                    <a:pt x="9030335" y="4335780"/>
                  </a:cubicBezTo>
                  <a:lnTo>
                    <a:pt x="151765" y="4335780"/>
                  </a:lnTo>
                  <a:cubicBezTo>
                    <a:pt x="67945" y="4335780"/>
                    <a:pt x="0" y="4267835"/>
                    <a:pt x="0" y="4184015"/>
                  </a:cubicBezTo>
                  <a:close/>
                </a:path>
              </a:pathLst>
            </a:custGeom>
            <a:solidFill>
              <a:srgbClr val="FFFFFF"/>
            </a:solidFill>
            <a:ln w="28575" cap="sq">
              <a:solidFill>
                <a:srgbClr val="353334"/>
              </a:solidFill>
              <a:prstDash val="solid"/>
              <a:miter/>
            </a:ln>
          </p:spPr>
        </p:sp>
      </p:grpSp>
      <p:grpSp>
        <p:nvGrpSpPr>
          <p:cNvPr id="52" name="Group 52"/>
          <p:cNvGrpSpPr/>
          <p:nvPr/>
        </p:nvGrpSpPr>
        <p:grpSpPr>
          <a:xfrm>
            <a:off x="10206990" y="2882646"/>
            <a:ext cx="2423160" cy="406908"/>
            <a:chOff x="0" y="0"/>
            <a:chExt cx="3230880" cy="542544"/>
          </a:xfrm>
        </p:grpSpPr>
        <p:sp>
          <p:nvSpPr>
            <p:cNvPr id="53" name="Freeform 53"/>
            <p:cNvSpPr/>
            <p:nvPr/>
          </p:nvSpPr>
          <p:spPr>
            <a:xfrm>
              <a:off x="0" y="0"/>
              <a:ext cx="3230880" cy="542544"/>
            </a:xfrm>
            <a:custGeom>
              <a:avLst/>
              <a:gdLst/>
              <a:ahLst/>
              <a:cxnLst/>
              <a:rect l="l" t="t" r="r" b="b"/>
              <a:pathLst>
                <a:path w="3230880" h="542544">
                  <a:moveTo>
                    <a:pt x="0" y="271272"/>
                  </a:moveTo>
                  <a:cubicBezTo>
                    <a:pt x="0" y="121412"/>
                    <a:pt x="121412" y="0"/>
                    <a:pt x="271272" y="0"/>
                  </a:cubicBezTo>
                  <a:lnTo>
                    <a:pt x="2959608" y="0"/>
                  </a:lnTo>
                  <a:cubicBezTo>
                    <a:pt x="3109468" y="0"/>
                    <a:pt x="3230880" y="121412"/>
                    <a:pt x="3230880" y="271272"/>
                  </a:cubicBezTo>
                  <a:cubicBezTo>
                    <a:pt x="3230880" y="421132"/>
                    <a:pt x="3109468" y="542544"/>
                    <a:pt x="2959608" y="542544"/>
                  </a:cubicBezTo>
                  <a:lnTo>
                    <a:pt x="271272" y="542544"/>
                  </a:lnTo>
                  <a:cubicBezTo>
                    <a:pt x="121412" y="542544"/>
                    <a:pt x="0" y="421132"/>
                    <a:pt x="0" y="271272"/>
                  </a:cubicBezTo>
                  <a:close/>
                </a:path>
              </a:pathLst>
            </a:custGeom>
            <a:solidFill>
              <a:srgbClr val="FFB903"/>
            </a:solidFill>
            <a:ln w="22860" cap="sq">
              <a:solidFill>
                <a:srgbClr val="353334"/>
              </a:solidFill>
              <a:prstDash val="solid"/>
              <a:miter/>
            </a:ln>
          </p:spPr>
        </p:sp>
        <p:sp>
          <p:nvSpPr>
            <p:cNvPr id="54" name="TextBox 54"/>
            <p:cNvSpPr txBox="1"/>
            <p:nvPr/>
          </p:nvSpPr>
          <p:spPr>
            <a:xfrm>
              <a:off x="0" y="-19050"/>
              <a:ext cx="3230880" cy="561594"/>
            </a:xfrm>
            <a:prstGeom prst="rect">
              <a:avLst/>
            </a:prstGeom>
          </p:spPr>
          <p:txBody>
            <a:bodyPr lIns="50800" tIns="50800" rIns="50800" bIns="50800" rtlCol="0" anchor="ctr"/>
            <a:lstStyle/>
            <a:p>
              <a:pPr algn="ctr">
                <a:lnSpc>
                  <a:spcPts val="1530"/>
                </a:lnSpc>
              </a:pPr>
              <a:r>
                <a:rPr lang="en-US" sz="1275" b="1">
                  <a:solidFill>
                    <a:srgbClr val="353334"/>
                  </a:solidFill>
                  <a:latin typeface="Arimo Bold"/>
                  <a:ea typeface="Arimo Bold"/>
                  <a:cs typeface="Arimo Bold"/>
                  <a:sym typeface="Arimo Bold"/>
                </a:rPr>
                <a:t>02 · STATUS QUO</a:t>
              </a:r>
            </a:p>
          </p:txBody>
        </p:sp>
      </p:grpSp>
      <p:sp>
        <p:nvSpPr>
          <p:cNvPr id="55" name="TextBox 55"/>
          <p:cNvSpPr txBox="1"/>
          <p:nvPr/>
        </p:nvSpPr>
        <p:spPr>
          <a:xfrm>
            <a:off x="10053367" y="3356229"/>
            <a:ext cx="5852160" cy="1914525"/>
          </a:xfrm>
          <a:prstGeom prst="rect">
            <a:avLst/>
          </a:prstGeom>
        </p:spPr>
        <p:txBody>
          <a:bodyPr lIns="0" tIns="0" rIns="0" bIns="0" rtlCol="0" anchor="t">
            <a:spAutoFit/>
          </a:bodyPr>
          <a:lstStyle/>
          <a:p>
            <a:pPr algn="l">
              <a:lnSpc>
                <a:spcPts val="2340"/>
              </a:lnSpc>
            </a:pPr>
            <a:r>
              <a:rPr lang="en-US" sz="1950" b="1">
                <a:solidFill>
                  <a:srgbClr val="353334"/>
                </a:solidFill>
                <a:latin typeface="Arimo Bold"/>
                <a:ea typeface="Arimo Bold"/>
                <a:cs typeface="Arimo Bold"/>
                <a:sym typeface="Arimo Bold"/>
              </a:rPr>
              <a:t>CURRENT APPROACH</a:t>
            </a:r>
          </a:p>
          <a:p>
            <a:pPr algn="l">
              <a:lnSpc>
                <a:spcPts val="1800"/>
              </a:lnSpc>
            </a:pPr>
            <a:endParaRPr lang="en-US" sz="1950" b="1">
              <a:solidFill>
                <a:srgbClr val="353334"/>
              </a:solidFill>
              <a:latin typeface="Arimo Bold"/>
              <a:ea typeface="Arimo Bold"/>
              <a:cs typeface="Arimo Bold"/>
              <a:sym typeface="Arimo Bold"/>
            </a:endParaRPr>
          </a:p>
          <a:p>
            <a:pPr algn="l">
              <a:lnSpc>
                <a:spcPts val="1800"/>
              </a:lnSpc>
            </a:pPr>
            <a:r>
              <a:rPr lang="en-US" sz="1500">
                <a:solidFill>
                  <a:srgbClr val="3C3C41"/>
                </a:solidFill>
                <a:latin typeface="Arimo"/>
                <a:ea typeface="Arimo"/>
                <a:cs typeface="Arimo"/>
                <a:sym typeface="Arimo"/>
              </a:rPr>
              <a:t>Teams rely on traditional PDF parsers, OCR tools and manual workflows. A tool that is very similar to the chosen problem is MinerU but it comes with many limitations. These existing tools often handle text well but struggle with tables, multi-column layouts, charts, equations and scanned pages, requiring manual correction.</a:t>
            </a:r>
          </a:p>
          <a:p>
            <a:pPr algn="l">
              <a:lnSpc>
                <a:spcPts val="1800"/>
              </a:lnSpc>
            </a:pPr>
            <a:endParaRPr lang="en-US" sz="1500">
              <a:solidFill>
                <a:srgbClr val="3C3C41"/>
              </a:solidFill>
              <a:latin typeface="Arimo"/>
              <a:ea typeface="Arimo"/>
              <a:cs typeface="Arimo"/>
              <a:sym typeface="Arimo"/>
            </a:endParaRPr>
          </a:p>
        </p:txBody>
      </p:sp>
      <p:grpSp>
        <p:nvGrpSpPr>
          <p:cNvPr id="56" name="Group 56"/>
          <p:cNvGrpSpPr/>
          <p:nvPr/>
        </p:nvGrpSpPr>
        <p:grpSpPr>
          <a:xfrm>
            <a:off x="2454592" y="6569393"/>
            <a:ext cx="6886575" cy="3251835"/>
            <a:chOff x="0" y="0"/>
            <a:chExt cx="9182100" cy="4335780"/>
          </a:xfrm>
        </p:grpSpPr>
        <p:sp>
          <p:nvSpPr>
            <p:cNvPr id="57" name="Freeform 57"/>
            <p:cNvSpPr/>
            <p:nvPr/>
          </p:nvSpPr>
          <p:spPr>
            <a:xfrm>
              <a:off x="0" y="0"/>
              <a:ext cx="9182100" cy="4335780"/>
            </a:xfrm>
            <a:custGeom>
              <a:avLst/>
              <a:gdLst/>
              <a:ahLst/>
              <a:cxnLst/>
              <a:rect l="l" t="t" r="r" b="b"/>
              <a:pathLst>
                <a:path w="9182100" h="4335780">
                  <a:moveTo>
                    <a:pt x="0" y="151765"/>
                  </a:moveTo>
                  <a:cubicBezTo>
                    <a:pt x="0" y="67945"/>
                    <a:pt x="67945" y="0"/>
                    <a:pt x="151765" y="0"/>
                  </a:cubicBezTo>
                  <a:lnTo>
                    <a:pt x="9030335" y="0"/>
                  </a:lnTo>
                  <a:cubicBezTo>
                    <a:pt x="9114155" y="0"/>
                    <a:pt x="9182100" y="67945"/>
                    <a:pt x="9182100" y="151765"/>
                  </a:cubicBezTo>
                  <a:lnTo>
                    <a:pt x="9182100" y="4184015"/>
                  </a:lnTo>
                  <a:cubicBezTo>
                    <a:pt x="9182100" y="4267835"/>
                    <a:pt x="9114155" y="4335780"/>
                    <a:pt x="9030335" y="4335780"/>
                  </a:cubicBezTo>
                  <a:lnTo>
                    <a:pt x="151765" y="4335780"/>
                  </a:lnTo>
                  <a:cubicBezTo>
                    <a:pt x="67945" y="4335780"/>
                    <a:pt x="0" y="4267835"/>
                    <a:pt x="0" y="4184015"/>
                  </a:cubicBezTo>
                  <a:close/>
                </a:path>
              </a:pathLst>
            </a:custGeom>
            <a:solidFill>
              <a:srgbClr val="FFFFFF"/>
            </a:solidFill>
            <a:ln w="28575" cap="sq">
              <a:solidFill>
                <a:srgbClr val="353334"/>
              </a:solidFill>
              <a:prstDash val="solid"/>
              <a:miter/>
            </a:ln>
          </p:spPr>
        </p:sp>
      </p:grpSp>
      <p:grpSp>
        <p:nvGrpSpPr>
          <p:cNvPr id="58" name="Group 58"/>
          <p:cNvGrpSpPr/>
          <p:nvPr/>
        </p:nvGrpSpPr>
        <p:grpSpPr>
          <a:xfrm>
            <a:off x="2937510" y="6380226"/>
            <a:ext cx="2423160" cy="406908"/>
            <a:chOff x="0" y="0"/>
            <a:chExt cx="3230880" cy="542544"/>
          </a:xfrm>
        </p:grpSpPr>
        <p:sp>
          <p:nvSpPr>
            <p:cNvPr id="59" name="Freeform 59"/>
            <p:cNvSpPr/>
            <p:nvPr/>
          </p:nvSpPr>
          <p:spPr>
            <a:xfrm>
              <a:off x="0" y="0"/>
              <a:ext cx="3230880" cy="542544"/>
            </a:xfrm>
            <a:custGeom>
              <a:avLst/>
              <a:gdLst/>
              <a:ahLst/>
              <a:cxnLst/>
              <a:rect l="l" t="t" r="r" b="b"/>
              <a:pathLst>
                <a:path w="3230880" h="542544">
                  <a:moveTo>
                    <a:pt x="0" y="271272"/>
                  </a:moveTo>
                  <a:cubicBezTo>
                    <a:pt x="0" y="121412"/>
                    <a:pt x="121412" y="0"/>
                    <a:pt x="271272" y="0"/>
                  </a:cubicBezTo>
                  <a:lnTo>
                    <a:pt x="2959608" y="0"/>
                  </a:lnTo>
                  <a:cubicBezTo>
                    <a:pt x="3109468" y="0"/>
                    <a:pt x="3230880" y="121412"/>
                    <a:pt x="3230880" y="271272"/>
                  </a:cubicBezTo>
                  <a:cubicBezTo>
                    <a:pt x="3230880" y="421132"/>
                    <a:pt x="3109468" y="542544"/>
                    <a:pt x="2959608" y="542544"/>
                  </a:cubicBezTo>
                  <a:lnTo>
                    <a:pt x="271272" y="542544"/>
                  </a:lnTo>
                  <a:cubicBezTo>
                    <a:pt x="121412" y="542544"/>
                    <a:pt x="0" y="421132"/>
                    <a:pt x="0" y="271272"/>
                  </a:cubicBezTo>
                  <a:close/>
                </a:path>
              </a:pathLst>
            </a:custGeom>
            <a:solidFill>
              <a:srgbClr val="FD1485"/>
            </a:solidFill>
            <a:ln w="22860" cap="sq">
              <a:solidFill>
                <a:srgbClr val="353334"/>
              </a:solidFill>
              <a:prstDash val="solid"/>
              <a:miter/>
            </a:ln>
          </p:spPr>
        </p:sp>
        <p:sp>
          <p:nvSpPr>
            <p:cNvPr id="60" name="TextBox 60"/>
            <p:cNvSpPr txBox="1"/>
            <p:nvPr/>
          </p:nvSpPr>
          <p:spPr>
            <a:xfrm>
              <a:off x="0" y="-19050"/>
              <a:ext cx="3230880" cy="561594"/>
            </a:xfrm>
            <a:prstGeom prst="rect">
              <a:avLst/>
            </a:prstGeom>
          </p:spPr>
          <p:txBody>
            <a:bodyPr lIns="50800" tIns="50800" rIns="50800" bIns="50800" rtlCol="0" anchor="ctr"/>
            <a:lstStyle/>
            <a:p>
              <a:pPr algn="ctr">
                <a:lnSpc>
                  <a:spcPts val="1530"/>
                </a:lnSpc>
              </a:pPr>
              <a:r>
                <a:rPr lang="en-US" sz="1275" b="1">
                  <a:solidFill>
                    <a:srgbClr val="FFFFFF"/>
                  </a:solidFill>
                  <a:latin typeface="Arimo Bold"/>
                  <a:ea typeface="Arimo Bold"/>
                  <a:cs typeface="Arimo Bold"/>
                  <a:sym typeface="Arimo Bold"/>
                </a:rPr>
                <a:t>03 · DEFICIENCY</a:t>
              </a:r>
            </a:p>
          </p:txBody>
        </p:sp>
      </p:grpSp>
      <p:sp>
        <p:nvSpPr>
          <p:cNvPr id="61" name="TextBox 61"/>
          <p:cNvSpPr txBox="1"/>
          <p:nvPr/>
        </p:nvSpPr>
        <p:spPr>
          <a:xfrm>
            <a:off x="2937510" y="6834759"/>
            <a:ext cx="5852160" cy="2667000"/>
          </a:xfrm>
          <a:prstGeom prst="rect">
            <a:avLst/>
          </a:prstGeom>
        </p:spPr>
        <p:txBody>
          <a:bodyPr lIns="0" tIns="0" rIns="0" bIns="0" rtlCol="0" anchor="t">
            <a:spAutoFit/>
          </a:bodyPr>
          <a:lstStyle/>
          <a:p>
            <a:pPr algn="l">
              <a:lnSpc>
                <a:spcPts val="2340"/>
              </a:lnSpc>
            </a:pPr>
            <a:r>
              <a:rPr lang="en-US" sz="1950" b="1">
                <a:solidFill>
                  <a:srgbClr val="353334"/>
                </a:solidFill>
                <a:latin typeface="Arimo Bold"/>
                <a:ea typeface="Arimo Bold"/>
                <a:cs typeface="Arimo Bold"/>
                <a:sym typeface="Arimo Bold"/>
              </a:rPr>
              <a:t>WHY IT FALLS SHORT</a:t>
            </a:r>
          </a:p>
          <a:p>
            <a:pPr algn="l">
              <a:lnSpc>
                <a:spcPts val="2340"/>
              </a:lnSpc>
            </a:pPr>
            <a:endParaRPr lang="en-US" sz="1950" b="1">
              <a:solidFill>
                <a:srgbClr val="353334"/>
              </a:solidFill>
              <a:latin typeface="Arimo Bold"/>
              <a:ea typeface="Arimo Bold"/>
              <a:cs typeface="Arimo Bold"/>
              <a:sym typeface="Arimo Bold"/>
            </a:endParaRPr>
          </a:p>
          <a:p>
            <a:pPr algn="l">
              <a:lnSpc>
                <a:spcPts val="1800"/>
              </a:lnSpc>
            </a:pPr>
            <a:r>
              <a:rPr lang="en-US" sz="1500">
                <a:solidFill>
                  <a:srgbClr val="3C3C41"/>
                </a:solidFill>
                <a:latin typeface="Arimo"/>
                <a:ea typeface="Arimo"/>
                <a:cs typeface="Arimo"/>
                <a:sym typeface="Arimo"/>
              </a:rPr>
              <a:t>Current solutions tend to:</a:t>
            </a:r>
          </a:p>
          <a:p>
            <a:pPr marL="323850" lvl="1" indent="-161925" algn="l">
              <a:lnSpc>
                <a:spcPts val="1800"/>
              </a:lnSpc>
              <a:buFont typeface="Arial"/>
              <a:buChar char="•"/>
            </a:pPr>
            <a:r>
              <a:rPr lang="en-US" sz="1500">
                <a:solidFill>
                  <a:srgbClr val="3C3C41"/>
                </a:solidFill>
                <a:latin typeface="Arimo"/>
                <a:ea typeface="Arimo"/>
                <a:cs typeface="Arimo"/>
                <a:sym typeface="Arimo"/>
              </a:rPr>
              <a:t>Scramble reading order</a:t>
            </a:r>
          </a:p>
          <a:p>
            <a:pPr marL="323850" lvl="1" indent="-161925" algn="l">
              <a:lnSpc>
                <a:spcPts val="1800"/>
              </a:lnSpc>
              <a:buFont typeface="Arial"/>
              <a:buChar char="•"/>
            </a:pPr>
            <a:r>
              <a:rPr lang="en-US" sz="1500">
                <a:solidFill>
                  <a:srgbClr val="3C3C41"/>
                </a:solidFill>
                <a:latin typeface="Arimo"/>
                <a:ea typeface="Arimo"/>
                <a:cs typeface="Arimo"/>
                <a:sym typeface="Arimo"/>
              </a:rPr>
              <a:t>Break complex/merged tables</a:t>
            </a:r>
          </a:p>
          <a:p>
            <a:pPr marL="323850" lvl="1" indent="-161925" algn="l">
              <a:lnSpc>
                <a:spcPts val="1800"/>
              </a:lnSpc>
              <a:buFont typeface="Arial"/>
              <a:buChar char="•"/>
            </a:pPr>
            <a:r>
              <a:rPr lang="en-US" sz="1500">
                <a:solidFill>
                  <a:srgbClr val="3C3C41"/>
                </a:solidFill>
                <a:latin typeface="Arimo"/>
                <a:ea typeface="Arimo"/>
                <a:cs typeface="Arimo"/>
                <a:sym typeface="Arimo"/>
              </a:rPr>
              <a:t>Lose figures &amp; equations</a:t>
            </a:r>
          </a:p>
          <a:p>
            <a:pPr marL="323850" lvl="1" indent="-161925" algn="l">
              <a:lnSpc>
                <a:spcPts val="1800"/>
              </a:lnSpc>
              <a:buFont typeface="Arial"/>
              <a:buChar char="•"/>
            </a:pPr>
            <a:r>
              <a:rPr lang="en-US" sz="1500">
                <a:solidFill>
                  <a:srgbClr val="3C3C41"/>
                </a:solidFill>
                <a:latin typeface="Arimo"/>
                <a:ea typeface="Arimo"/>
                <a:cs typeface="Arimo"/>
                <a:sym typeface="Arimo"/>
              </a:rPr>
              <a:t>Miss scanned content (Handwritten documents)</a:t>
            </a:r>
          </a:p>
          <a:p>
            <a:pPr marL="323850" lvl="1" indent="-161925" algn="l">
              <a:lnSpc>
                <a:spcPts val="1800"/>
              </a:lnSpc>
              <a:buFont typeface="Arial"/>
              <a:buChar char="•"/>
            </a:pPr>
            <a:r>
              <a:rPr lang="en-US" sz="1500">
                <a:solidFill>
                  <a:srgbClr val="3C3C41"/>
                </a:solidFill>
                <a:latin typeface="Arimo"/>
                <a:ea typeface="Arimo"/>
                <a:cs typeface="Arimo"/>
                <a:sym typeface="Arimo"/>
              </a:rPr>
              <a:t>Remove source/bounding-box context</a:t>
            </a:r>
          </a:p>
          <a:p>
            <a:pPr algn="l">
              <a:lnSpc>
                <a:spcPts val="1800"/>
              </a:lnSpc>
            </a:pPr>
            <a:r>
              <a:rPr lang="en-US" sz="1500">
                <a:solidFill>
                  <a:srgbClr val="3C3C41"/>
                </a:solidFill>
                <a:latin typeface="Arimo"/>
                <a:ea typeface="Arimo"/>
                <a:cs typeface="Arimo"/>
                <a:sym typeface="Arimo"/>
              </a:rPr>
              <a:t>Information is extracted, but its accuracy and origin aren't always trustworthy.</a:t>
            </a:r>
          </a:p>
          <a:p>
            <a:pPr algn="l">
              <a:lnSpc>
                <a:spcPts val="1800"/>
              </a:lnSpc>
            </a:pPr>
            <a:endParaRPr lang="en-US" sz="1500">
              <a:solidFill>
                <a:srgbClr val="3C3C41"/>
              </a:solidFill>
              <a:latin typeface="Arimo"/>
              <a:ea typeface="Arimo"/>
              <a:cs typeface="Arimo"/>
              <a:sym typeface="Arimo"/>
            </a:endParaRPr>
          </a:p>
        </p:txBody>
      </p:sp>
      <p:grpSp>
        <p:nvGrpSpPr>
          <p:cNvPr id="62" name="Group 62"/>
          <p:cNvGrpSpPr/>
          <p:nvPr/>
        </p:nvGrpSpPr>
        <p:grpSpPr>
          <a:xfrm>
            <a:off x="9724072" y="6569393"/>
            <a:ext cx="6886575" cy="3251835"/>
            <a:chOff x="0" y="0"/>
            <a:chExt cx="9182100" cy="4335780"/>
          </a:xfrm>
        </p:grpSpPr>
        <p:sp>
          <p:nvSpPr>
            <p:cNvPr id="63" name="Freeform 63"/>
            <p:cNvSpPr/>
            <p:nvPr/>
          </p:nvSpPr>
          <p:spPr>
            <a:xfrm>
              <a:off x="0" y="0"/>
              <a:ext cx="9182100" cy="4335780"/>
            </a:xfrm>
            <a:custGeom>
              <a:avLst/>
              <a:gdLst/>
              <a:ahLst/>
              <a:cxnLst/>
              <a:rect l="l" t="t" r="r" b="b"/>
              <a:pathLst>
                <a:path w="9182100" h="4335780">
                  <a:moveTo>
                    <a:pt x="0" y="151765"/>
                  </a:moveTo>
                  <a:cubicBezTo>
                    <a:pt x="0" y="67945"/>
                    <a:pt x="67945" y="0"/>
                    <a:pt x="151765" y="0"/>
                  </a:cubicBezTo>
                  <a:lnTo>
                    <a:pt x="9030335" y="0"/>
                  </a:lnTo>
                  <a:cubicBezTo>
                    <a:pt x="9114155" y="0"/>
                    <a:pt x="9182100" y="67945"/>
                    <a:pt x="9182100" y="151765"/>
                  </a:cubicBezTo>
                  <a:lnTo>
                    <a:pt x="9182100" y="4184015"/>
                  </a:lnTo>
                  <a:cubicBezTo>
                    <a:pt x="9182100" y="4267835"/>
                    <a:pt x="9114155" y="4335780"/>
                    <a:pt x="9030335" y="4335780"/>
                  </a:cubicBezTo>
                  <a:lnTo>
                    <a:pt x="151765" y="4335780"/>
                  </a:lnTo>
                  <a:cubicBezTo>
                    <a:pt x="67945" y="4335780"/>
                    <a:pt x="0" y="4267835"/>
                    <a:pt x="0" y="4184015"/>
                  </a:cubicBezTo>
                  <a:close/>
                </a:path>
              </a:pathLst>
            </a:custGeom>
            <a:solidFill>
              <a:srgbClr val="FFFFFF"/>
            </a:solidFill>
            <a:ln w="28575" cap="sq">
              <a:solidFill>
                <a:srgbClr val="353334"/>
              </a:solidFill>
              <a:prstDash val="solid"/>
              <a:miter/>
            </a:ln>
          </p:spPr>
        </p:sp>
      </p:grpSp>
      <p:grpSp>
        <p:nvGrpSpPr>
          <p:cNvPr id="64" name="Group 64"/>
          <p:cNvGrpSpPr/>
          <p:nvPr/>
        </p:nvGrpSpPr>
        <p:grpSpPr>
          <a:xfrm>
            <a:off x="10206990" y="6380226"/>
            <a:ext cx="2423160" cy="406908"/>
            <a:chOff x="0" y="0"/>
            <a:chExt cx="3230880" cy="542544"/>
          </a:xfrm>
        </p:grpSpPr>
        <p:sp>
          <p:nvSpPr>
            <p:cNvPr id="65" name="Freeform 65"/>
            <p:cNvSpPr/>
            <p:nvPr/>
          </p:nvSpPr>
          <p:spPr>
            <a:xfrm>
              <a:off x="0" y="0"/>
              <a:ext cx="3230880" cy="542544"/>
            </a:xfrm>
            <a:custGeom>
              <a:avLst/>
              <a:gdLst/>
              <a:ahLst/>
              <a:cxnLst/>
              <a:rect l="l" t="t" r="r" b="b"/>
              <a:pathLst>
                <a:path w="3230880" h="542544">
                  <a:moveTo>
                    <a:pt x="0" y="271272"/>
                  </a:moveTo>
                  <a:cubicBezTo>
                    <a:pt x="0" y="121412"/>
                    <a:pt x="121412" y="0"/>
                    <a:pt x="271272" y="0"/>
                  </a:cubicBezTo>
                  <a:lnTo>
                    <a:pt x="2959608" y="0"/>
                  </a:lnTo>
                  <a:cubicBezTo>
                    <a:pt x="3109468" y="0"/>
                    <a:pt x="3230880" y="121412"/>
                    <a:pt x="3230880" y="271272"/>
                  </a:cubicBezTo>
                  <a:cubicBezTo>
                    <a:pt x="3230880" y="421132"/>
                    <a:pt x="3109468" y="542544"/>
                    <a:pt x="2959608" y="542544"/>
                  </a:cubicBezTo>
                  <a:lnTo>
                    <a:pt x="271272" y="542544"/>
                  </a:lnTo>
                  <a:cubicBezTo>
                    <a:pt x="121412" y="542544"/>
                    <a:pt x="0" y="421132"/>
                    <a:pt x="0" y="271272"/>
                  </a:cubicBezTo>
                  <a:close/>
                </a:path>
              </a:pathLst>
            </a:custGeom>
            <a:solidFill>
              <a:srgbClr val="353334"/>
            </a:solidFill>
            <a:ln w="22860" cap="sq">
              <a:solidFill>
                <a:srgbClr val="353334"/>
              </a:solidFill>
              <a:prstDash val="solid"/>
              <a:miter/>
            </a:ln>
          </p:spPr>
        </p:sp>
        <p:sp>
          <p:nvSpPr>
            <p:cNvPr id="66" name="TextBox 66"/>
            <p:cNvSpPr txBox="1"/>
            <p:nvPr/>
          </p:nvSpPr>
          <p:spPr>
            <a:xfrm>
              <a:off x="0" y="-19050"/>
              <a:ext cx="3230880" cy="561594"/>
            </a:xfrm>
            <a:prstGeom prst="rect">
              <a:avLst/>
            </a:prstGeom>
          </p:spPr>
          <p:txBody>
            <a:bodyPr lIns="50800" tIns="50800" rIns="50800" bIns="50800" rtlCol="0" anchor="ctr"/>
            <a:lstStyle/>
            <a:p>
              <a:pPr algn="ctr">
                <a:lnSpc>
                  <a:spcPts val="1530"/>
                </a:lnSpc>
              </a:pPr>
              <a:r>
                <a:rPr lang="en-US" sz="1275" b="1">
                  <a:solidFill>
                    <a:srgbClr val="FFFFFF"/>
                  </a:solidFill>
                  <a:latin typeface="Arimo Bold"/>
                  <a:ea typeface="Arimo Bold"/>
                  <a:cs typeface="Arimo Bold"/>
                  <a:sym typeface="Arimo Bold"/>
                </a:rPr>
                <a:t>04 · VALIDATION</a:t>
              </a:r>
            </a:p>
          </p:txBody>
        </p:sp>
      </p:grpSp>
      <p:sp>
        <p:nvSpPr>
          <p:cNvPr id="67" name="TextBox 67"/>
          <p:cNvSpPr txBox="1"/>
          <p:nvPr/>
        </p:nvSpPr>
        <p:spPr>
          <a:xfrm>
            <a:off x="10241280" y="6853809"/>
            <a:ext cx="5852160" cy="2409825"/>
          </a:xfrm>
          <a:prstGeom prst="rect">
            <a:avLst/>
          </a:prstGeom>
        </p:spPr>
        <p:txBody>
          <a:bodyPr lIns="0" tIns="0" rIns="0" bIns="0" rtlCol="0" anchor="t">
            <a:spAutoFit/>
          </a:bodyPr>
          <a:lstStyle/>
          <a:p>
            <a:pPr algn="l">
              <a:lnSpc>
                <a:spcPts val="2340"/>
              </a:lnSpc>
            </a:pPr>
            <a:r>
              <a:rPr lang="en-US" sz="1950" b="1">
                <a:solidFill>
                  <a:srgbClr val="353334"/>
                </a:solidFill>
                <a:latin typeface="Arimo Bold"/>
                <a:ea typeface="Arimo Bold"/>
                <a:cs typeface="Arimo Bold"/>
                <a:sym typeface="Arimo Bold"/>
              </a:rPr>
              <a:t>EVIDENCE</a:t>
            </a:r>
          </a:p>
          <a:p>
            <a:pPr marL="302261" lvl="1" indent="-151130" algn="l">
              <a:lnSpc>
                <a:spcPts val="1680"/>
              </a:lnSpc>
              <a:buFont typeface="Arial"/>
              <a:buChar char="•"/>
            </a:pPr>
            <a:r>
              <a:rPr lang="en-US" sz="1400" u="sng">
                <a:solidFill>
                  <a:srgbClr val="3C3C41"/>
                </a:solidFill>
                <a:latin typeface="Arimo"/>
                <a:ea typeface="Arimo"/>
                <a:cs typeface="Arimo"/>
                <a:sym typeface="Arimo"/>
              </a:rPr>
              <a:t>MinerU</a:t>
            </a:r>
            <a:r>
              <a:rPr lang="en-US" sz="1400">
                <a:solidFill>
                  <a:srgbClr val="3C3C41"/>
                </a:solidFill>
                <a:latin typeface="Arimo"/>
                <a:ea typeface="Arimo"/>
                <a:cs typeface="Arimo"/>
                <a:sym typeface="Arimo"/>
              </a:rPr>
              <a:t> reports known limitations in complex layouts, including reading-order errors and row/column errors in complex tables.  [MinerU Documentation (2026)]</a:t>
            </a:r>
          </a:p>
          <a:p>
            <a:pPr marL="302261" lvl="1" indent="-151130" algn="l">
              <a:lnSpc>
                <a:spcPts val="1680"/>
              </a:lnSpc>
              <a:buFont typeface="Arial"/>
              <a:buChar char="•"/>
            </a:pPr>
            <a:r>
              <a:rPr lang="en-US" sz="1400" u="sng">
                <a:solidFill>
                  <a:srgbClr val="3C3C41"/>
                </a:solidFill>
                <a:latin typeface="Arimo"/>
                <a:ea typeface="Arimo"/>
                <a:cs typeface="Arimo"/>
                <a:sym typeface="Arimo"/>
              </a:rPr>
              <a:t>Microsoft Azure Document Intelligence</a:t>
            </a:r>
            <a:r>
              <a:rPr lang="en-US" sz="1400">
                <a:solidFill>
                  <a:srgbClr val="3C3C41"/>
                </a:solidFill>
                <a:latin typeface="Arimo"/>
                <a:ea typeface="Arimo"/>
                <a:cs typeface="Arimo"/>
                <a:sym typeface="Arimo"/>
              </a:rPr>
              <a:t> extracts text, tables, figures, sections and reading-order information, but complex tables require dedicated structural handling, including row/column spans and cross-page processing.[Microsoft Azure Document Intelligence (2026)]</a:t>
            </a:r>
          </a:p>
          <a:p>
            <a:pPr marL="302261" lvl="1" indent="-151130" algn="l">
              <a:lnSpc>
                <a:spcPts val="1680"/>
              </a:lnSpc>
              <a:buFont typeface="Arial"/>
              <a:buChar char="•"/>
            </a:pPr>
            <a:r>
              <a:rPr lang="en-US" sz="1400" u="sng">
                <a:solidFill>
                  <a:srgbClr val="3C3C41"/>
                </a:solidFill>
                <a:latin typeface="Arimo"/>
                <a:ea typeface="Arimo"/>
                <a:cs typeface="Arimo"/>
                <a:sym typeface="Arimo"/>
              </a:rPr>
              <a:t>OCR/document analysis systems</a:t>
            </a:r>
            <a:r>
              <a:rPr lang="en-US" sz="1400">
                <a:solidFill>
                  <a:srgbClr val="3C3C41"/>
                </a:solidFill>
                <a:latin typeface="Arimo"/>
                <a:ea typeface="Arimo"/>
                <a:cs typeface="Arimo"/>
                <a:sym typeface="Arimo"/>
              </a:rPr>
              <a:t> must handle bounding regions, confidence scores and structural relationships in addition to raw text recognition.[Microsoft Azure Document Intelligence (2026)]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7543" cy="10287000"/>
            <a:chOff x="0" y="0"/>
            <a:chExt cx="24383390" cy="13716000"/>
          </a:xfrm>
        </p:grpSpPr>
        <p:sp>
          <p:nvSpPr>
            <p:cNvPr id="3" name="Freeform 3"/>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close/>
                </a:path>
              </a:pathLst>
            </a:custGeom>
            <a:solidFill>
              <a:srgbClr val="FFFFF1"/>
            </a:solidFill>
          </p:spPr>
        </p:sp>
      </p:grpSp>
      <p:grpSp>
        <p:nvGrpSpPr>
          <p:cNvPr id="4" name="Group 4"/>
          <p:cNvGrpSpPr/>
          <p:nvPr/>
        </p:nvGrpSpPr>
        <p:grpSpPr>
          <a:xfrm>
            <a:off x="-274320" y="1577340"/>
            <a:ext cx="1577340" cy="493776"/>
            <a:chOff x="0" y="0"/>
            <a:chExt cx="2103120" cy="658368"/>
          </a:xfrm>
        </p:grpSpPr>
        <p:sp>
          <p:nvSpPr>
            <p:cNvPr id="5" name="Freeform 5"/>
            <p:cNvSpPr/>
            <p:nvPr/>
          </p:nvSpPr>
          <p:spPr>
            <a:xfrm>
              <a:off x="0" y="0"/>
              <a:ext cx="2103120" cy="658368"/>
            </a:xfrm>
            <a:custGeom>
              <a:avLst/>
              <a:gdLst/>
              <a:ahLst/>
              <a:cxnLst/>
              <a:rect l="l" t="t" r="r" b="b"/>
              <a:pathLst>
                <a:path w="2103120" h="658368">
                  <a:moveTo>
                    <a:pt x="0" y="329184"/>
                  </a:moveTo>
                  <a:cubicBezTo>
                    <a:pt x="0" y="147320"/>
                    <a:pt x="147320" y="0"/>
                    <a:pt x="329184" y="0"/>
                  </a:cubicBezTo>
                  <a:lnTo>
                    <a:pt x="1773936" y="0"/>
                  </a:lnTo>
                  <a:cubicBezTo>
                    <a:pt x="1955800" y="0"/>
                    <a:pt x="2103120" y="147320"/>
                    <a:pt x="2103120" y="329184"/>
                  </a:cubicBezTo>
                  <a:cubicBezTo>
                    <a:pt x="2103120" y="511048"/>
                    <a:pt x="1955800" y="658368"/>
                    <a:pt x="1773936" y="658368"/>
                  </a:cubicBezTo>
                  <a:lnTo>
                    <a:pt x="329184" y="658368"/>
                  </a:lnTo>
                  <a:cubicBezTo>
                    <a:pt x="147320" y="658368"/>
                    <a:pt x="0" y="511048"/>
                    <a:pt x="0" y="329184"/>
                  </a:cubicBezTo>
                  <a:close/>
                </a:path>
              </a:pathLst>
            </a:custGeom>
            <a:solidFill>
              <a:srgbClr val="FFB903"/>
            </a:solidFill>
          </p:spPr>
        </p:sp>
      </p:grpSp>
      <p:grpSp>
        <p:nvGrpSpPr>
          <p:cNvPr id="6" name="Group 6"/>
          <p:cNvGrpSpPr/>
          <p:nvPr/>
        </p:nvGrpSpPr>
        <p:grpSpPr>
          <a:xfrm>
            <a:off x="-274320" y="2180844"/>
            <a:ext cx="2194560" cy="493776"/>
            <a:chOff x="0" y="0"/>
            <a:chExt cx="2926080" cy="658368"/>
          </a:xfrm>
        </p:grpSpPr>
        <p:sp>
          <p:nvSpPr>
            <p:cNvPr id="7" name="Freeform 7"/>
            <p:cNvSpPr/>
            <p:nvPr/>
          </p:nvSpPr>
          <p:spPr>
            <a:xfrm>
              <a:off x="0" y="0"/>
              <a:ext cx="2926080" cy="658368"/>
            </a:xfrm>
            <a:custGeom>
              <a:avLst/>
              <a:gdLst/>
              <a:ahLst/>
              <a:cxnLst/>
              <a:rect l="l" t="t" r="r" b="b"/>
              <a:pathLst>
                <a:path w="2926080" h="658368">
                  <a:moveTo>
                    <a:pt x="0" y="329184"/>
                  </a:moveTo>
                  <a:cubicBezTo>
                    <a:pt x="0" y="147320"/>
                    <a:pt x="147320" y="0"/>
                    <a:pt x="329184" y="0"/>
                  </a:cubicBezTo>
                  <a:lnTo>
                    <a:pt x="2596896" y="0"/>
                  </a:lnTo>
                  <a:cubicBezTo>
                    <a:pt x="2778760" y="0"/>
                    <a:pt x="2926080" y="147320"/>
                    <a:pt x="2926080" y="329184"/>
                  </a:cubicBezTo>
                  <a:cubicBezTo>
                    <a:pt x="2926080" y="511048"/>
                    <a:pt x="2778760" y="658368"/>
                    <a:pt x="2596896" y="658368"/>
                  </a:cubicBezTo>
                  <a:lnTo>
                    <a:pt x="329184" y="658368"/>
                  </a:lnTo>
                  <a:cubicBezTo>
                    <a:pt x="147320" y="658368"/>
                    <a:pt x="0" y="511048"/>
                    <a:pt x="0" y="329184"/>
                  </a:cubicBezTo>
                  <a:close/>
                </a:path>
              </a:pathLst>
            </a:custGeom>
            <a:solidFill>
              <a:srgbClr val="079ED2"/>
            </a:solidFill>
          </p:spPr>
        </p:sp>
      </p:grpSp>
      <p:grpSp>
        <p:nvGrpSpPr>
          <p:cNvPr id="8" name="Group 8"/>
          <p:cNvGrpSpPr/>
          <p:nvPr/>
        </p:nvGrpSpPr>
        <p:grpSpPr>
          <a:xfrm>
            <a:off x="-274320" y="2784348"/>
            <a:ext cx="1577340" cy="493776"/>
            <a:chOff x="0" y="0"/>
            <a:chExt cx="2103120" cy="658368"/>
          </a:xfrm>
        </p:grpSpPr>
        <p:sp>
          <p:nvSpPr>
            <p:cNvPr id="9" name="Freeform 9"/>
            <p:cNvSpPr/>
            <p:nvPr/>
          </p:nvSpPr>
          <p:spPr>
            <a:xfrm>
              <a:off x="0" y="0"/>
              <a:ext cx="2103120" cy="658368"/>
            </a:xfrm>
            <a:custGeom>
              <a:avLst/>
              <a:gdLst/>
              <a:ahLst/>
              <a:cxnLst/>
              <a:rect l="l" t="t" r="r" b="b"/>
              <a:pathLst>
                <a:path w="2103120" h="658368">
                  <a:moveTo>
                    <a:pt x="0" y="329184"/>
                  </a:moveTo>
                  <a:cubicBezTo>
                    <a:pt x="0" y="147320"/>
                    <a:pt x="147320" y="0"/>
                    <a:pt x="329184" y="0"/>
                  </a:cubicBezTo>
                  <a:lnTo>
                    <a:pt x="1773936" y="0"/>
                  </a:lnTo>
                  <a:cubicBezTo>
                    <a:pt x="1955800" y="0"/>
                    <a:pt x="2103120" y="147320"/>
                    <a:pt x="2103120" y="329184"/>
                  </a:cubicBezTo>
                  <a:cubicBezTo>
                    <a:pt x="2103120" y="511048"/>
                    <a:pt x="1955800" y="658368"/>
                    <a:pt x="1773936" y="658368"/>
                  </a:cubicBezTo>
                  <a:lnTo>
                    <a:pt x="329184" y="658368"/>
                  </a:lnTo>
                  <a:cubicBezTo>
                    <a:pt x="147320" y="658368"/>
                    <a:pt x="0" y="511048"/>
                    <a:pt x="0" y="329184"/>
                  </a:cubicBezTo>
                  <a:close/>
                </a:path>
              </a:pathLst>
            </a:custGeom>
            <a:solidFill>
              <a:srgbClr val="FD1485"/>
            </a:solidFill>
          </p:spPr>
        </p:sp>
      </p:grpSp>
      <p:grpSp>
        <p:nvGrpSpPr>
          <p:cNvPr id="10" name="Group 10"/>
          <p:cNvGrpSpPr/>
          <p:nvPr/>
        </p:nvGrpSpPr>
        <p:grpSpPr>
          <a:xfrm>
            <a:off x="17282160" y="822960"/>
            <a:ext cx="329184" cy="246888"/>
            <a:chOff x="0" y="0"/>
            <a:chExt cx="438912" cy="329184"/>
          </a:xfrm>
        </p:grpSpPr>
        <p:sp>
          <p:nvSpPr>
            <p:cNvPr id="11" name="Freeform 11"/>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353334"/>
            </a:solidFill>
          </p:spPr>
        </p:sp>
      </p:grpSp>
      <p:grpSp>
        <p:nvGrpSpPr>
          <p:cNvPr id="12" name="Group 12"/>
          <p:cNvGrpSpPr/>
          <p:nvPr/>
        </p:nvGrpSpPr>
        <p:grpSpPr>
          <a:xfrm>
            <a:off x="17282160" y="1069848"/>
            <a:ext cx="329184" cy="246888"/>
            <a:chOff x="0" y="0"/>
            <a:chExt cx="438912" cy="329184"/>
          </a:xfrm>
        </p:grpSpPr>
        <p:sp>
          <p:nvSpPr>
            <p:cNvPr id="13" name="Freeform 13"/>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FFB903"/>
            </a:solidFill>
          </p:spPr>
        </p:sp>
      </p:grpSp>
      <p:grpSp>
        <p:nvGrpSpPr>
          <p:cNvPr id="14" name="Group 14"/>
          <p:cNvGrpSpPr/>
          <p:nvPr/>
        </p:nvGrpSpPr>
        <p:grpSpPr>
          <a:xfrm>
            <a:off x="17282160" y="1316736"/>
            <a:ext cx="329184" cy="246888"/>
            <a:chOff x="0" y="0"/>
            <a:chExt cx="438912" cy="329184"/>
          </a:xfrm>
        </p:grpSpPr>
        <p:sp>
          <p:nvSpPr>
            <p:cNvPr id="15" name="Freeform 15"/>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FD1485"/>
            </a:solidFill>
          </p:spPr>
        </p:sp>
      </p:grpSp>
      <p:grpSp>
        <p:nvGrpSpPr>
          <p:cNvPr id="16" name="Group 16"/>
          <p:cNvGrpSpPr/>
          <p:nvPr/>
        </p:nvGrpSpPr>
        <p:grpSpPr>
          <a:xfrm>
            <a:off x="17282160" y="1563624"/>
            <a:ext cx="329184" cy="246888"/>
            <a:chOff x="0" y="0"/>
            <a:chExt cx="438912" cy="329184"/>
          </a:xfrm>
        </p:grpSpPr>
        <p:sp>
          <p:nvSpPr>
            <p:cNvPr id="17" name="Freeform 17"/>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079ED2"/>
            </a:solidFill>
          </p:spPr>
        </p:sp>
      </p:grpSp>
      <p:grpSp>
        <p:nvGrpSpPr>
          <p:cNvPr id="18" name="Group 18"/>
          <p:cNvGrpSpPr/>
          <p:nvPr/>
        </p:nvGrpSpPr>
        <p:grpSpPr>
          <a:xfrm>
            <a:off x="822960" y="8366760"/>
            <a:ext cx="329184" cy="246888"/>
            <a:chOff x="0" y="0"/>
            <a:chExt cx="438912" cy="329184"/>
          </a:xfrm>
        </p:grpSpPr>
        <p:sp>
          <p:nvSpPr>
            <p:cNvPr id="19" name="Freeform 19"/>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353334"/>
            </a:solidFill>
          </p:spPr>
        </p:sp>
      </p:grpSp>
      <p:grpSp>
        <p:nvGrpSpPr>
          <p:cNvPr id="20" name="Group 20"/>
          <p:cNvGrpSpPr/>
          <p:nvPr/>
        </p:nvGrpSpPr>
        <p:grpSpPr>
          <a:xfrm>
            <a:off x="822960" y="8613648"/>
            <a:ext cx="329184" cy="246888"/>
            <a:chOff x="0" y="0"/>
            <a:chExt cx="438912" cy="329184"/>
          </a:xfrm>
        </p:grpSpPr>
        <p:sp>
          <p:nvSpPr>
            <p:cNvPr id="21" name="Freeform 21"/>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FFB903"/>
            </a:solidFill>
          </p:spPr>
        </p:sp>
      </p:grpSp>
      <p:grpSp>
        <p:nvGrpSpPr>
          <p:cNvPr id="22" name="Group 22"/>
          <p:cNvGrpSpPr/>
          <p:nvPr/>
        </p:nvGrpSpPr>
        <p:grpSpPr>
          <a:xfrm>
            <a:off x="822960" y="8860536"/>
            <a:ext cx="329184" cy="246888"/>
            <a:chOff x="0" y="0"/>
            <a:chExt cx="438912" cy="329184"/>
          </a:xfrm>
        </p:grpSpPr>
        <p:sp>
          <p:nvSpPr>
            <p:cNvPr id="23" name="Freeform 23"/>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FD1485"/>
            </a:solidFill>
          </p:spPr>
        </p:sp>
      </p:grpSp>
      <p:grpSp>
        <p:nvGrpSpPr>
          <p:cNvPr id="24" name="Group 24"/>
          <p:cNvGrpSpPr/>
          <p:nvPr/>
        </p:nvGrpSpPr>
        <p:grpSpPr>
          <a:xfrm>
            <a:off x="822960" y="9107424"/>
            <a:ext cx="329184" cy="246888"/>
            <a:chOff x="0" y="0"/>
            <a:chExt cx="438912" cy="329184"/>
          </a:xfrm>
        </p:grpSpPr>
        <p:sp>
          <p:nvSpPr>
            <p:cNvPr id="25" name="Freeform 25"/>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079ED2"/>
            </a:solidFill>
          </p:spPr>
        </p:sp>
      </p:grpSp>
      <p:grpSp>
        <p:nvGrpSpPr>
          <p:cNvPr id="26" name="Group 26"/>
          <p:cNvGrpSpPr/>
          <p:nvPr/>
        </p:nvGrpSpPr>
        <p:grpSpPr>
          <a:xfrm>
            <a:off x="16630650" y="8901112"/>
            <a:ext cx="480060" cy="28575"/>
            <a:chOff x="0" y="0"/>
            <a:chExt cx="640080" cy="38100"/>
          </a:xfrm>
        </p:grpSpPr>
        <p:sp>
          <p:nvSpPr>
            <p:cNvPr id="27" name="Freeform 27"/>
            <p:cNvSpPr/>
            <p:nvPr/>
          </p:nvSpPr>
          <p:spPr>
            <a:xfrm>
              <a:off x="0" y="0"/>
              <a:ext cx="640080" cy="38100"/>
            </a:xfrm>
            <a:custGeom>
              <a:avLst/>
              <a:gdLst/>
              <a:ahLst/>
              <a:cxnLst/>
              <a:rect l="l" t="t" r="r" b="b"/>
              <a:pathLst>
                <a:path w="640080" h="38100">
                  <a:moveTo>
                    <a:pt x="0" y="0"/>
                  </a:moveTo>
                  <a:lnTo>
                    <a:pt x="640080" y="0"/>
                  </a:lnTo>
                  <a:lnTo>
                    <a:pt x="640080" y="38100"/>
                  </a:lnTo>
                  <a:lnTo>
                    <a:pt x="0" y="38100"/>
                  </a:lnTo>
                  <a:close/>
                </a:path>
              </a:pathLst>
            </a:custGeom>
            <a:solidFill>
              <a:srgbClr val="353334"/>
            </a:solidFill>
          </p:spPr>
        </p:sp>
      </p:grpSp>
      <p:grpSp>
        <p:nvGrpSpPr>
          <p:cNvPr id="28" name="Group 28"/>
          <p:cNvGrpSpPr/>
          <p:nvPr/>
        </p:nvGrpSpPr>
        <p:grpSpPr>
          <a:xfrm>
            <a:off x="16856392" y="8675370"/>
            <a:ext cx="28575" cy="480060"/>
            <a:chOff x="0" y="0"/>
            <a:chExt cx="38100" cy="640080"/>
          </a:xfrm>
        </p:grpSpPr>
        <p:sp>
          <p:nvSpPr>
            <p:cNvPr id="29" name="Freeform 29"/>
            <p:cNvSpPr/>
            <p:nvPr/>
          </p:nvSpPr>
          <p:spPr>
            <a:xfrm>
              <a:off x="0" y="0"/>
              <a:ext cx="38100" cy="640080"/>
            </a:xfrm>
            <a:custGeom>
              <a:avLst/>
              <a:gdLst/>
              <a:ahLst/>
              <a:cxnLst/>
              <a:rect l="l" t="t" r="r" b="b"/>
              <a:pathLst>
                <a:path w="38100" h="640080">
                  <a:moveTo>
                    <a:pt x="0" y="0"/>
                  </a:moveTo>
                  <a:lnTo>
                    <a:pt x="38100" y="0"/>
                  </a:lnTo>
                  <a:lnTo>
                    <a:pt x="38100" y="640080"/>
                  </a:lnTo>
                  <a:lnTo>
                    <a:pt x="0" y="640080"/>
                  </a:lnTo>
                  <a:close/>
                </a:path>
              </a:pathLst>
            </a:custGeom>
            <a:solidFill>
              <a:srgbClr val="353334"/>
            </a:solidFill>
          </p:spPr>
        </p:sp>
      </p:grpSp>
      <p:grpSp>
        <p:nvGrpSpPr>
          <p:cNvPr id="30" name="Group 30"/>
          <p:cNvGrpSpPr/>
          <p:nvPr/>
        </p:nvGrpSpPr>
        <p:grpSpPr>
          <a:xfrm>
            <a:off x="16788384" y="8833104"/>
            <a:ext cx="164592" cy="164592"/>
            <a:chOff x="0" y="0"/>
            <a:chExt cx="219456" cy="219456"/>
          </a:xfrm>
        </p:grpSpPr>
        <p:sp>
          <p:nvSpPr>
            <p:cNvPr id="31" name="Freeform 31"/>
            <p:cNvSpPr/>
            <p:nvPr/>
          </p:nvSpPr>
          <p:spPr>
            <a:xfrm>
              <a:off x="0" y="0"/>
              <a:ext cx="219456" cy="219456"/>
            </a:xfrm>
            <a:custGeom>
              <a:avLst/>
              <a:gdLst/>
              <a:ahLst/>
              <a:cxnLst/>
              <a:rect l="l" t="t" r="r" b="b"/>
              <a:pathLst>
                <a:path w="219456" h="219456">
                  <a:moveTo>
                    <a:pt x="0" y="0"/>
                  </a:moveTo>
                  <a:lnTo>
                    <a:pt x="219456" y="0"/>
                  </a:lnTo>
                  <a:lnTo>
                    <a:pt x="219456" y="219456"/>
                  </a:lnTo>
                  <a:lnTo>
                    <a:pt x="0" y="219456"/>
                  </a:lnTo>
                  <a:close/>
                </a:path>
              </a:pathLst>
            </a:custGeom>
            <a:solidFill>
              <a:srgbClr val="FFB903"/>
            </a:solidFill>
          </p:spPr>
        </p:sp>
      </p:grpSp>
      <p:grpSp>
        <p:nvGrpSpPr>
          <p:cNvPr id="32" name="Group 32"/>
          <p:cNvGrpSpPr/>
          <p:nvPr/>
        </p:nvGrpSpPr>
        <p:grpSpPr>
          <a:xfrm>
            <a:off x="12604432" y="945832"/>
            <a:ext cx="1537335" cy="1263015"/>
            <a:chOff x="0" y="0"/>
            <a:chExt cx="2049780" cy="1684020"/>
          </a:xfrm>
        </p:grpSpPr>
        <p:sp>
          <p:nvSpPr>
            <p:cNvPr id="33" name="Freeform 33"/>
            <p:cNvSpPr/>
            <p:nvPr/>
          </p:nvSpPr>
          <p:spPr>
            <a:xfrm>
              <a:off x="1024890" y="0"/>
              <a:ext cx="1024890" cy="842010"/>
            </a:xfrm>
            <a:custGeom>
              <a:avLst/>
              <a:gdLst/>
              <a:ahLst/>
              <a:cxnLst/>
              <a:rect l="l" t="t" r="r" b="b"/>
              <a:pathLst>
                <a:path w="1024890" h="842010">
                  <a:moveTo>
                    <a:pt x="0" y="0"/>
                  </a:moveTo>
                  <a:cubicBezTo>
                    <a:pt x="566039" y="0"/>
                    <a:pt x="1024890" y="376936"/>
                    <a:pt x="1024890" y="842010"/>
                  </a:cubicBezTo>
                  <a:lnTo>
                    <a:pt x="0" y="842010"/>
                  </a:lnTo>
                  <a:close/>
                </a:path>
              </a:pathLst>
            </a:custGeom>
            <a:blipFill>
              <a:blip r:embed="rId2">
                <a:alphaModFix amt="0"/>
              </a:blip>
              <a:stretch>
                <a:fillRect l="-210818" r="-110818" b="-99999"/>
              </a:stretch>
            </a:blipFill>
            <a:ln w="28575" cap="sq">
              <a:solidFill>
                <a:srgbClr val="079ED2"/>
              </a:solidFill>
              <a:prstDash val="solid"/>
              <a:miter/>
            </a:ln>
          </p:spPr>
        </p:sp>
        <p:sp>
          <p:nvSpPr>
            <p:cNvPr id="34" name="Freeform 34"/>
            <p:cNvSpPr/>
            <p:nvPr/>
          </p:nvSpPr>
          <p:spPr>
            <a:xfrm>
              <a:off x="1024890" y="0"/>
              <a:ext cx="1024890" cy="842010"/>
            </a:xfrm>
            <a:custGeom>
              <a:avLst/>
              <a:gdLst/>
              <a:ahLst/>
              <a:cxnLst/>
              <a:rect l="l" t="t" r="r" b="b"/>
              <a:pathLst>
                <a:path w="1024890" h="842010">
                  <a:moveTo>
                    <a:pt x="0" y="0"/>
                  </a:moveTo>
                  <a:cubicBezTo>
                    <a:pt x="566039" y="0"/>
                    <a:pt x="1024890" y="376936"/>
                    <a:pt x="1024890" y="842010"/>
                  </a:cubicBezTo>
                </a:path>
              </a:pathLst>
            </a:custGeom>
            <a:blipFill>
              <a:blip r:embed="rId2">
                <a:alphaModFix amt="0"/>
              </a:blip>
              <a:stretch>
                <a:fillRect l="-210818" r="-110818" b="-99999"/>
              </a:stretch>
            </a:blipFill>
            <a:ln w="28575" cap="sq">
              <a:solidFill>
                <a:srgbClr val="079ED2"/>
              </a:solidFill>
              <a:prstDash val="solid"/>
              <a:miter/>
            </a:ln>
          </p:spPr>
        </p:sp>
      </p:grpSp>
      <p:grpSp>
        <p:nvGrpSpPr>
          <p:cNvPr id="35" name="Group 35"/>
          <p:cNvGrpSpPr/>
          <p:nvPr/>
        </p:nvGrpSpPr>
        <p:grpSpPr>
          <a:xfrm>
            <a:off x="12543663" y="1502283"/>
            <a:ext cx="150114" cy="150114"/>
            <a:chOff x="0" y="0"/>
            <a:chExt cx="200152" cy="200152"/>
          </a:xfrm>
        </p:grpSpPr>
        <p:sp>
          <p:nvSpPr>
            <p:cNvPr id="36" name="Freeform 36"/>
            <p:cNvSpPr/>
            <p:nvPr/>
          </p:nvSpPr>
          <p:spPr>
            <a:xfrm>
              <a:off x="0" y="0"/>
              <a:ext cx="200152" cy="200152"/>
            </a:xfrm>
            <a:custGeom>
              <a:avLst/>
              <a:gdLst/>
              <a:ahLst/>
              <a:cxnLst/>
              <a:rect l="l" t="t" r="r" b="b"/>
              <a:pathLst>
                <a:path w="200152" h="200152">
                  <a:moveTo>
                    <a:pt x="0" y="0"/>
                  </a:moveTo>
                  <a:lnTo>
                    <a:pt x="200152" y="0"/>
                  </a:lnTo>
                  <a:lnTo>
                    <a:pt x="200152" y="200152"/>
                  </a:lnTo>
                  <a:lnTo>
                    <a:pt x="0" y="200152"/>
                  </a:lnTo>
                  <a:close/>
                </a:path>
              </a:pathLst>
            </a:custGeom>
            <a:solidFill>
              <a:srgbClr val="FFFFFF"/>
            </a:solidFill>
            <a:ln w="26670" cap="sq">
              <a:solidFill>
                <a:srgbClr val="FD1485"/>
              </a:solidFill>
              <a:prstDash val="solid"/>
              <a:miter/>
            </a:ln>
          </p:spPr>
        </p:sp>
      </p:grpSp>
      <p:grpSp>
        <p:nvGrpSpPr>
          <p:cNvPr id="37" name="Group 37"/>
          <p:cNvGrpSpPr/>
          <p:nvPr/>
        </p:nvGrpSpPr>
        <p:grpSpPr>
          <a:xfrm>
            <a:off x="14052423" y="885063"/>
            <a:ext cx="150114" cy="150114"/>
            <a:chOff x="0" y="0"/>
            <a:chExt cx="200152" cy="200152"/>
          </a:xfrm>
        </p:grpSpPr>
        <p:sp>
          <p:nvSpPr>
            <p:cNvPr id="38" name="Freeform 38"/>
            <p:cNvSpPr/>
            <p:nvPr/>
          </p:nvSpPr>
          <p:spPr>
            <a:xfrm>
              <a:off x="0" y="0"/>
              <a:ext cx="200152" cy="200152"/>
            </a:xfrm>
            <a:custGeom>
              <a:avLst/>
              <a:gdLst/>
              <a:ahLst/>
              <a:cxnLst/>
              <a:rect l="l" t="t" r="r" b="b"/>
              <a:pathLst>
                <a:path w="200152" h="200152">
                  <a:moveTo>
                    <a:pt x="0" y="0"/>
                  </a:moveTo>
                  <a:lnTo>
                    <a:pt x="200152" y="0"/>
                  </a:lnTo>
                  <a:lnTo>
                    <a:pt x="200152" y="200152"/>
                  </a:lnTo>
                  <a:lnTo>
                    <a:pt x="0" y="200152"/>
                  </a:lnTo>
                  <a:close/>
                </a:path>
              </a:pathLst>
            </a:custGeom>
            <a:solidFill>
              <a:srgbClr val="FFFFFF"/>
            </a:solidFill>
            <a:ln w="26670" cap="sq">
              <a:solidFill>
                <a:srgbClr val="FD1485"/>
              </a:solidFill>
              <a:prstDash val="solid"/>
              <a:miter/>
            </a:ln>
          </p:spPr>
        </p:sp>
      </p:grpSp>
      <p:sp>
        <p:nvSpPr>
          <p:cNvPr id="39" name="TextBox 39"/>
          <p:cNvSpPr txBox="1"/>
          <p:nvPr/>
        </p:nvSpPr>
        <p:spPr>
          <a:xfrm>
            <a:off x="2468880" y="566547"/>
            <a:ext cx="12344400" cy="421005"/>
          </a:xfrm>
          <a:prstGeom prst="rect">
            <a:avLst/>
          </a:prstGeom>
        </p:spPr>
        <p:txBody>
          <a:bodyPr lIns="0" tIns="0" rIns="0" bIns="0" rtlCol="0" anchor="t">
            <a:spAutoFit/>
          </a:bodyPr>
          <a:lstStyle/>
          <a:p>
            <a:pPr algn="l">
              <a:lnSpc>
                <a:spcPts val="1889"/>
              </a:lnSpc>
            </a:pPr>
            <a:r>
              <a:rPr lang="en-US" sz="1575" b="1">
                <a:solidFill>
                  <a:srgbClr val="353334"/>
                </a:solidFill>
                <a:latin typeface="Arimo Bold"/>
                <a:ea typeface="Arimo Bold"/>
                <a:cs typeface="Arimo Bold"/>
                <a:sym typeface="Arimo Bold"/>
              </a:rPr>
              <a:t>DATAQUEST 3.0  ·  ROUND 1</a:t>
            </a:r>
          </a:p>
        </p:txBody>
      </p:sp>
      <p:sp>
        <p:nvSpPr>
          <p:cNvPr id="40" name="TextBox 40"/>
          <p:cNvSpPr txBox="1"/>
          <p:nvPr/>
        </p:nvSpPr>
        <p:spPr>
          <a:xfrm>
            <a:off x="2468880" y="913638"/>
            <a:ext cx="13716000" cy="1184910"/>
          </a:xfrm>
          <a:prstGeom prst="rect">
            <a:avLst/>
          </a:prstGeom>
        </p:spPr>
        <p:txBody>
          <a:bodyPr lIns="0" tIns="0" rIns="0" bIns="0" rtlCol="0" anchor="t">
            <a:spAutoFit/>
          </a:bodyPr>
          <a:lstStyle/>
          <a:p>
            <a:pPr algn="l">
              <a:lnSpc>
                <a:spcPts val="5759"/>
              </a:lnSpc>
            </a:pPr>
            <a:r>
              <a:rPr lang="en-US" sz="4800" b="1">
                <a:solidFill>
                  <a:srgbClr val="FD1485"/>
                </a:solidFill>
                <a:latin typeface="Arimo Bold"/>
                <a:ea typeface="Arimo Bold"/>
                <a:cs typeface="Arimo Bold"/>
                <a:sym typeface="Arimo Bold"/>
              </a:rPr>
              <a:t>03  </a:t>
            </a:r>
            <a:r>
              <a:rPr lang="en-US" sz="4800" b="1">
                <a:solidFill>
                  <a:srgbClr val="353334"/>
                </a:solidFill>
                <a:latin typeface="Arimo Bold"/>
                <a:ea typeface="Arimo Bold"/>
                <a:cs typeface="Arimo Bold"/>
                <a:sym typeface="Arimo Bold"/>
              </a:rPr>
              <a:t>Proposed Solution</a:t>
            </a:r>
          </a:p>
        </p:txBody>
      </p:sp>
      <p:grpSp>
        <p:nvGrpSpPr>
          <p:cNvPr id="41" name="Group 41"/>
          <p:cNvGrpSpPr/>
          <p:nvPr/>
        </p:nvGrpSpPr>
        <p:grpSpPr>
          <a:xfrm>
            <a:off x="2468880" y="2167128"/>
            <a:ext cx="14127480" cy="28575"/>
            <a:chOff x="0" y="0"/>
            <a:chExt cx="18836640" cy="38100"/>
          </a:xfrm>
        </p:grpSpPr>
        <p:sp>
          <p:nvSpPr>
            <p:cNvPr id="42" name="Freeform 42"/>
            <p:cNvSpPr/>
            <p:nvPr/>
          </p:nvSpPr>
          <p:spPr>
            <a:xfrm>
              <a:off x="0" y="0"/>
              <a:ext cx="18836639" cy="38100"/>
            </a:xfrm>
            <a:custGeom>
              <a:avLst/>
              <a:gdLst/>
              <a:ahLst/>
              <a:cxnLst/>
              <a:rect l="l" t="t" r="r" b="b"/>
              <a:pathLst>
                <a:path w="18836639" h="38100">
                  <a:moveTo>
                    <a:pt x="0" y="0"/>
                  </a:moveTo>
                  <a:lnTo>
                    <a:pt x="18836639" y="0"/>
                  </a:lnTo>
                  <a:lnTo>
                    <a:pt x="18836639" y="38100"/>
                  </a:lnTo>
                  <a:lnTo>
                    <a:pt x="0" y="38100"/>
                  </a:lnTo>
                  <a:close/>
                </a:path>
              </a:pathLst>
            </a:custGeom>
            <a:solidFill>
              <a:srgbClr val="353334"/>
            </a:solidFill>
          </p:spPr>
        </p:sp>
      </p:grpSp>
      <p:sp>
        <p:nvSpPr>
          <p:cNvPr id="43" name="TextBox 43"/>
          <p:cNvSpPr txBox="1"/>
          <p:nvPr/>
        </p:nvSpPr>
        <p:spPr>
          <a:xfrm>
            <a:off x="2468880" y="2257806"/>
            <a:ext cx="14127480" cy="499110"/>
          </a:xfrm>
          <a:prstGeom prst="rect">
            <a:avLst/>
          </a:prstGeom>
        </p:spPr>
        <p:txBody>
          <a:bodyPr lIns="0" tIns="0" rIns="0" bIns="0" rtlCol="0" anchor="t">
            <a:spAutoFit/>
          </a:bodyPr>
          <a:lstStyle/>
          <a:p>
            <a:pPr algn="l">
              <a:lnSpc>
                <a:spcPts val="1980"/>
              </a:lnSpc>
            </a:pPr>
            <a:r>
              <a:rPr lang="en-US" sz="1650">
                <a:solidFill>
                  <a:srgbClr val="6E6E73"/>
                </a:solidFill>
                <a:latin typeface="Arimo"/>
                <a:ea typeface="Arimo"/>
                <a:cs typeface="Arimo"/>
                <a:sym typeface="Arimo"/>
              </a:rPr>
              <a:t>System identity · End-to-end user workflow · Competitive advantages</a:t>
            </a:r>
          </a:p>
        </p:txBody>
      </p:sp>
      <p:grpSp>
        <p:nvGrpSpPr>
          <p:cNvPr id="44" name="Group 44"/>
          <p:cNvGrpSpPr/>
          <p:nvPr/>
        </p:nvGrpSpPr>
        <p:grpSpPr>
          <a:xfrm>
            <a:off x="2454592" y="3003233"/>
            <a:ext cx="14156055" cy="1811655"/>
            <a:chOff x="0" y="0"/>
            <a:chExt cx="18874740" cy="2415540"/>
          </a:xfrm>
        </p:grpSpPr>
        <p:sp>
          <p:nvSpPr>
            <p:cNvPr id="45" name="Freeform 45"/>
            <p:cNvSpPr/>
            <p:nvPr/>
          </p:nvSpPr>
          <p:spPr>
            <a:xfrm>
              <a:off x="0" y="0"/>
              <a:ext cx="18874741" cy="2415540"/>
            </a:xfrm>
            <a:custGeom>
              <a:avLst/>
              <a:gdLst/>
              <a:ahLst/>
              <a:cxnLst/>
              <a:rect l="l" t="t" r="r" b="b"/>
              <a:pathLst>
                <a:path w="18874741" h="2415540">
                  <a:moveTo>
                    <a:pt x="0" y="84582"/>
                  </a:moveTo>
                  <a:cubicBezTo>
                    <a:pt x="0" y="37846"/>
                    <a:pt x="37846" y="0"/>
                    <a:pt x="84582" y="0"/>
                  </a:cubicBezTo>
                  <a:lnTo>
                    <a:pt x="18790158" y="0"/>
                  </a:lnTo>
                  <a:cubicBezTo>
                    <a:pt x="18836895" y="0"/>
                    <a:pt x="18874741" y="37846"/>
                    <a:pt x="18874741" y="84582"/>
                  </a:cubicBezTo>
                  <a:lnTo>
                    <a:pt x="18874741" y="2330958"/>
                  </a:lnTo>
                  <a:cubicBezTo>
                    <a:pt x="18874741" y="2377694"/>
                    <a:pt x="18836895" y="2415540"/>
                    <a:pt x="18790158" y="2415540"/>
                  </a:cubicBezTo>
                  <a:lnTo>
                    <a:pt x="84582" y="2415540"/>
                  </a:lnTo>
                  <a:cubicBezTo>
                    <a:pt x="37846" y="2415540"/>
                    <a:pt x="0" y="2377694"/>
                    <a:pt x="0" y="2330958"/>
                  </a:cubicBezTo>
                  <a:close/>
                </a:path>
              </a:pathLst>
            </a:custGeom>
            <a:solidFill>
              <a:srgbClr val="FFFFFF"/>
            </a:solidFill>
            <a:ln w="28575" cap="sq">
              <a:solidFill>
                <a:srgbClr val="353334"/>
              </a:solidFill>
              <a:prstDash val="solid"/>
              <a:miter/>
            </a:ln>
          </p:spPr>
        </p:sp>
      </p:grpSp>
      <p:grpSp>
        <p:nvGrpSpPr>
          <p:cNvPr id="46" name="Group 46"/>
          <p:cNvGrpSpPr/>
          <p:nvPr/>
        </p:nvGrpSpPr>
        <p:grpSpPr>
          <a:xfrm>
            <a:off x="2937510" y="2814066"/>
            <a:ext cx="2423160" cy="406908"/>
            <a:chOff x="0" y="0"/>
            <a:chExt cx="3230880" cy="542544"/>
          </a:xfrm>
        </p:grpSpPr>
        <p:sp>
          <p:nvSpPr>
            <p:cNvPr id="47" name="Freeform 47"/>
            <p:cNvSpPr/>
            <p:nvPr/>
          </p:nvSpPr>
          <p:spPr>
            <a:xfrm>
              <a:off x="0" y="0"/>
              <a:ext cx="3230880" cy="542544"/>
            </a:xfrm>
            <a:custGeom>
              <a:avLst/>
              <a:gdLst/>
              <a:ahLst/>
              <a:cxnLst/>
              <a:rect l="l" t="t" r="r" b="b"/>
              <a:pathLst>
                <a:path w="3230880" h="542544">
                  <a:moveTo>
                    <a:pt x="0" y="271272"/>
                  </a:moveTo>
                  <a:cubicBezTo>
                    <a:pt x="0" y="121412"/>
                    <a:pt x="121412" y="0"/>
                    <a:pt x="271272" y="0"/>
                  </a:cubicBezTo>
                  <a:lnTo>
                    <a:pt x="2959608" y="0"/>
                  </a:lnTo>
                  <a:cubicBezTo>
                    <a:pt x="3109468" y="0"/>
                    <a:pt x="3230880" y="121412"/>
                    <a:pt x="3230880" y="271272"/>
                  </a:cubicBezTo>
                  <a:cubicBezTo>
                    <a:pt x="3230880" y="421132"/>
                    <a:pt x="3109468" y="542544"/>
                    <a:pt x="2959608" y="542544"/>
                  </a:cubicBezTo>
                  <a:lnTo>
                    <a:pt x="271272" y="542544"/>
                  </a:lnTo>
                  <a:cubicBezTo>
                    <a:pt x="121412" y="542544"/>
                    <a:pt x="0" y="421132"/>
                    <a:pt x="0" y="271272"/>
                  </a:cubicBezTo>
                  <a:close/>
                </a:path>
              </a:pathLst>
            </a:custGeom>
            <a:solidFill>
              <a:srgbClr val="FD1485"/>
            </a:solidFill>
            <a:ln w="22860" cap="sq">
              <a:solidFill>
                <a:srgbClr val="353334"/>
              </a:solidFill>
              <a:prstDash val="solid"/>
              <a:miter/>
            </a:ln>
          </p:spPr>
        </p:sp>
        <p:sp>
          <p:nvSpPr>
            <p:cNvPr id="48" name="TextBox 48"/>
            <p:cNvSpPr txBox="1"/>
            <p:nvPr/>
          </p:nvSpPr>
          <p:spPr>
            <a:xfrm>
              <a:off x="0" y="-19050"/>
              <a:ext cx="3230880" cy="561594"/>
            </a:xfrm>
            <a:prstGeom prst="rect">
              <a:avLst/>
            </a:prstGeom>
          </p:spPr>
          <p:txBody>
            <a:bodyPr lIns="50800" tIns="50800" rIns="50800" bIns="50800" rtlCol="0" anchor="ctr"/>
            <a:lstStyle/>
            <a:p>
              <a:pPr algn="ctr">
                <a:lnSpc>
                  <a:spcPts val="1530"/>
                </a:lnSpc>
              </a:pPr>
              <a:r>
                <a:rPr lang="en-US" sz="1275" b="1">
                  <a:solidFill>
                    <a:srgbClr val="FFFFFF"/>
                  </a:solidFill>
                  <a:latin typeface="Arimo Bold"/>
                  <a:ea typeface="Arimo Bold"/>
                  <a:cs typeface="Arimo Bold"/>
                  <a:sym typeface="Arimo Bold"/>
                </a:rPr>
                <a:t>SOLUTION CORE</a:t>
              </a:r>
            </a:p>
          </p:txBody>
        </p:sp>
      </p:grpSp>
      <p:sp>
        <p:nvSpPr>
          <p:cNvPr id="49" name="TextBox 49"/>
          <p:cNvSpPr txBox="1"/>
          <p:nvPr/>
        </p:nvSpPr>
        <p:spPr>
          <a:xfrm>
            <a:off x="2971800" y="3328035"/>
            <a:ext cx="13121640" cy="828675"/>
          </a:xfrm>
          <a:prstGeom prst="rect">
            <a:avLst/>
          </a:prstGeom>
        </p:spPr>
        <p:txBody>
          <a:bodyPr lIns="0" tIns="0" rIns="0" bIns="0" rtlCol="0" anchor="t">
            <a:spAutoFit/>
          </a:bodyPr>
          <a:lstStyle/>
          <a:p>
            <a:pPr algn="l">
              <a:lnSpc>
                <a:spcPts val="2879"/>
              </a:lnSpc>
            </a:pPr>
            <a:r>
              <a:rPr lang="en-US" sz="2400" b="1" dirty="0" err="1">
                <a:solidFill>
                  <a:srgbClr val="353334"/>
                </a:solidFill>
                <a:latin typeface="Arimo Bold"/>
                <a:ea typeface="Arimo Bold"/>
                <a:cs typeface="Arimo Bold"/>
                <a:sym typeface="Arimo Bold"/>
              </a:rPr>
              <a:t>ParseAnything</a:t>
            </a:r>
            <a:endParaRPr lang="en-US" sz="2400" b="1" dirty="0">
              <a:solidFill>
                <a:srgbClr val="353334"/>
              </a:solidFill>
              <a:latin typeface="Arimo Bold"/>
              <a:ea typeface="Arimo Bold"/>
              <a:cs typeface="Arimo Bold"/>
              <a:sym typeface="Arimo Bold"/>
            </a:endParaRPr>
          </a:p>
          <a:p>
            <a:pPr algn="l">
              <a:lnSpc>
                <a:spcPts val="1800"/>
              </a:lnSpc>
            </a:pPr>
            <a:r>
              <a:rPr lang="en-US" sz="1500" dirty="0">
                <a:solidFill>
                  <a:srgbClr val="3C3C41"/>
                </a:solidFill>
                <a:latin typeface="Arimo"/>
                <a:ea typeface="Arimo"/>
                <a:cs typeface="Arimo"/>
                <a:sym typeface="Arimo"/>
              </a:rPr>
              <a:t>A high-fidelity document ingestion engine that converts complex document layouts into structured Markdown + JSON while preserving text, tables, figures, equations, reading order, bounding-box provenance, and confidence.</a:t>
            </a:r>
          </a:p>
        </p:txBody>
      </p:sp>
      <p:grpSp>
        <p:nvGrpSpPr>
          <p:cNvPr id="50" name="Group 50"/>
          <p:cNvGrpSpPr/>
          <p:nvPr/>
        </p:nvGrpSpPr>
        <p:grpSpPr>
          <a:xfrm>
            <a:off x="2454592" y="5060632"/>
            <a:ext cx="14156055" cy="1948815"/>
            <a:chOff x="0" y="0"/>
            <a:chExt cx="18874740" cy="2598420"/>
          </a:xfrm>
        </p:grpSpPr>
        <p:sp>
          <p:nvSpPr>
            <p:cNvPr id="51" name="Freeform 51"/>
            <p:cNvSpPr/>
            <p:nvPr/>
          </p:nvSpPr>
          <p:spPr>
            <a:xfrm>
              <a:off x="0" y="0"/>
              <a:ext cx="18874741" cy="2598420"/>
            </a:xfrm>
            <a:custGeom>
              <a:avLst/>
              <a:gdLst/>
              <a:ahLst/>
              <a:cxnLst/>
              <a:rect l="l" t="t" r="r" b="b"/>
              <a:pathLst>
                <a:path w="18874741" h="2598420">
                  <a:moveTo>
                    <a:pt x="0" y="90932"/>
                  </a:moveTo>
                  <a:cubicBezTo>
                    <a:pt x="0" y="40767"/>
                    <a:pt x="40767" y="0"/>
                    <a:pt x="90932" y="0"/>
                  </a:cubicBezTo>
                  <a:lnTo>
                    <a:pt x="18783808" y="0"/>
                  </a:lnTo>
                  <a:cubicBezTo>
                    <a:pt x="18833973" y="0"/>
                    <a:pt x="18874741" y="40767"/>
                    <a:pt x="18874741" y="90932"/>
                  </a:cubicBezTo>
                  <a:lnTo>
                    <a:pt x="18874741" y="2507488"/>
                  </a:lnTo>
                  <a:cubicBezTo>
                    <a:pt x="18874741" y="2557653"/>
                    <a:pt x="18833973" y="2598420"/>
                    <a:pt x="18783808" y="2598420"/>
                  </a:cubicBezTo>
                  <a:lnTo>
                    <a:pt x="90932" y="2598420"/>
                  </a:lnTo>
                  <a:cubicBezTo>
                    <a:pt x="40767" y="2598420"/>
                    <a:pt x="0" y="2557653"/>
                    <a:pt x="0" y="2507488"/>
                  </a:cubicBezTo>
                  <a:close/>
                </a:path>
              </a:pathLst>
            </a:custGeom>
            <a:solidFill>
              <a:srgbClr val="FFFFFF"/>
            </a:solidFill>
            <a:ln w="28575" cap="sq">
              <a:solidFill>
                <a:srgbClr val="353334"/>
              </a:solidFill>
              <a:prstDash val="solid"/>
              <a:miter/>
            </a:ln>
          </p:spPr>
        </p:sp>
      </p:grpSp>
      <p:grpSp>
        <p:nvGrpSpPr>
          <p:cNvPr id="52" name="Group 52"/>
          <p:cNvGrpSpPr/>
          <p:nvPr/>
        </p:nvGrpSpPr>
        <p:grpSpPr>
          <a:xfrm>
            <a:off x="2937510" y="4871466"/>
            <a:ext cx="2423160" cy="406908"/>
            <a:chOff x="0" y="0"/>
            <a:chExt cx="3230880" cy="542544"/>
          </a:xfrm>
        </p:grpSpPr>
        <p:sp>
          <p:nvSpPr>
            <p:cNvPr id="53" name="Freeform 53"/>
            <p:cNvSpPr/>
            <p:nvPr/>
          </p:nvSpPr>
          <p:spPr>
            <a:xfrm>
              <a:off x="0" y="0"/>
              <a:ext cx="3230880" cy="542544"/>
            </a:xfrm>
            <a:custGeom>
              <a:avLst/>
              <a:gdLst/>
              <a:ahLst/>
              <a:cxnLst/>
              <a:rect l="l" t="t" r="r" b="b"/>
              <a:pathLst>
                <a:path w="3230880" h="542544">
                  <a:moveTo>
                    <a:pt x="0" y="271272"/>
                  </a:moveTo>
                  <a:cubicBezTo>
                    <a:pt x="0" y="121412"/>
                    <a:pt x="121412" y="0"/>
                    <a:pt x="271272" y="0"/>
                  </a:cubicBezTo>
                  <a:lnTo>
                    <a:pt x="2959608" y="0"/>
                  </a:lnTo>
                  <a:cubicBezTo>
                    <a:pt x="3109468" y="0"/>
                    <a:pt x="3230880" y="121412"/>
                    <a:pt x="3230880" y="271272"/>
                  </a:cubicBezTo>
                  <a:cubicBezTo>
                    <a:pt x="3230880" y="421132"/>
                    <a:pt x="3109468" y="542544"/>
                    <a:pt x="2959608" y="542544"/>
                  </a:cubicBezTo>
                  <a:lnTo>
                    <a:pt x="271272" y="542544"/>
                  </a:lnTo>
                  <a:cubicBezTo>
                    <a:pt x="121412" y="542544"/>
                    <a:pt x="0" y="421132"/>
                    <a:pt x="0" y="271272"/>
                  </a:cubicBezTo>
                  <a:close/>
                </a:path>
              </a:pathLst>
            </a:custGeom>
            <a:solidFill>
              <a:srgbClr val="079ED2"/>
            </a:solidFill>
            <a:ln w="22860" cap="sq">
              <a:solidFill>
                <a:srgbClr val="353334"/>
              </a:solidFill>
              <a:prstDash val="solid"/>
              <a:miter/>
            </a:ln>
          </p:spPr>
        </p:sp>
        <p:sp>
          <p:nvSpPr>
            <p:cNvPr id="54" name="TextBox 54"/>
            <p:cNvSpPr txBox="1"/>
            <p:nvPr/>
          </p:nvSpPr>
          <p:spPr>
            <a:xfrm>
              <a:off x="0" y="-19050"/>
              <a:ext cx="3230880" cy="561594"/>
            </a:xfrm>
            <a:prstGeom prst="rect">
              <a:avLst/>
            </a:prstGeom>
          </p:spPr>
          <p:txBody>
            <a:bodyPr lIns="50800" tIns="50800" rIns="50800" bIns="50800" rtlCol="0" anchor="ctr"/>
            <a:lstStyle/>
            <a:p>
              <a:pPr algn="ctr">
                <a:lnSpc>
                  <a:spcPts val="1530"/>
                </a:lnSpc>
              </a:pPr>
              <a:r>
                <a:rPr lang="en-US" sz="1275" b="1">
                  <a:solidFill>
                    <a:srgbClr val="FFFFFF"/>
                  </a:solidFill>
                  <a:latin typeface="Arimo Bold"/>
                  <a:ea typeface="Arimo Bold"/>
                  <a:cs typeface="Arimo Bold"/>
                  <a:sym typeface="Arimo Bold"/>
                </a:rPr>
                <a:t>USER FLOW</a:t>
              </a:r>
            </a:p>
          </p:txBody>
        </p:sp>
      </p:grpSp>
      <p:grpSp>
        <p:nvGrpSpPr>
          <p:cNvPr id="55" name="Group 55"/>
          <p:cNvGrpSpPr/>
          <p:nvPr/>
        </p:nvGrpSpPr>
        <p:grpSpPr>
          <a:xfrm>
            <a:off x="2866072" y="5719000"/>
            <a:ext cx="3869055" cy="988695"/>
            <a:chOff x="0" y="0"/>
            <a:chExt cx="5158740" cy="1318260"/>
          </a:xfrm>
        </p:grpSpPr>
        <p:sp>
          <p:nvSpPr>
            <p:cNvPr id="56" name="Freeform 56"/>
            <p:cNvSpPr/>
            <p:nvPr/>
          </p:nvSpPr>
          <p:spPr>
            <a:xfrm>
              <a:off x="0" y="0"/>
              <a:ext cx="5158740" cy="1318260"/>
            </a:xfrm>
            <a:custGeom>
              <a:avLst/>
              <a:gdLst/>
              <a:ahLst/>
              <a:cxnLst/>
              <a:rect l="l" t="t" r="r" b="b"/>
              <a:pathLst>
                <a:path w="5158740" h="1318260">
                  <a:moveTo>
                    <a:pt x="0" y="105410"/>
                  </a:moveTo>
                  <a:cubicBezTo>
                    <a:pt x="0" y="47244"/>
                    <a:pt x="47244" y="0"/>
                    <a:pt x="105410" y="0"/>
                  </a:cubicBezTo>
                  <a:lnTo>
                    <a:pt x="5053330" y="0"/>
                  </a:lnTo>
                  <a:cubicBezTo>
                    <a:pt x="5111623" y="0"/>
                    <a:pt x="5158740" y="47244"/>
                    <a:pt x="5158740" y="105410"/>
                  </a:cubicBezTo>
                  <a:lnTo>
                    <a:pt x="5158740" y="1212850"/>
                  </a:lnTo>
                  <a:cubicBezTo>
                    <a:pt x="5158740" y="1271143"/>
                    <a:pt x="5111496" y="1318260"/>
                    <a:pt x="5053330" y="1318260"/>
                  </a:cubicBezTo>
                  <a:lnTo>
                    <a:pt x="105410" y="1318260"/>
                  </a:lnTo>
                  <a:cubicBezTo>
                    <a:pt x="47117" y="1318260"/>
                    <a:pt x="0" y="1271016"/>
                    <a:pt x="0" y="1212850"/>
                  </a:cubicBezTo>
                  <a:close/>
                </a:path>
              </a:pathLst>
            </a:custGeom>
            <a:solidFill>
              <a:srgbClr val="FFFFFF"/>
            </a:solidFill>
            <a:ln w="28575" cap="sq">
              <a:solidFill>
                <a:srgbClr val="079ED2"/>
              </a:solidFill>
              <a:prstDash val="solid"/>
              <a:miter/>
            </a:ln>
          </p:spPr>
        </p:sp>
        <p:sp>
          <p:nvSpPr>
            <p:cNvPr id="57" name="TextBox 57"/>
            <p:cNvSpPr txBox="1"/>
            <p:nvPr/>
          </p:nvSpPr>
          <p:spPr>
            <a:xfrm>
              <a:off x="0" y="-19050"/>
              <a:ext cx="5158740" cy="1337310"/>
            </a:xfrm>
            <a:prstGeom prst="rect">
              <a:avLst/>
            </a:prstGeom>
          </p:spPr>
          <p:txBody>
            <a:bodyPr lIns="50800" tIns="50800" rIns="50800" bIns="50800" rtlCol="0" anchor="ctr"/>
            <a:lstStyle/>
            <a:p>
              <a:pPr algn="ctr">
                <a:lnSpc>
                  <a:spcPts val="1800"/>
                </a:lnSpc>
              </a:pPr>
              <a:r>
                <a:rPr lang="en-US" sz="1500" b="1">
                  <a:solidFill>
                    <a:srgbClr val="353334"/>
                  </a:solidFill>
                  <a:latin typeface="Arimo Bold"/>
                  <a:ea typeface="Arimo Bold"/>
                  <a:cs typeface="Arimo Bold"/>
                  <a:sym typeface="Arimo Bold"/>
                </a:rPr>
                <a:t>1. USER INPUT</a:t>
              </a:r>
            </a:p>
            <a:p>
              <a:pPr algn="ctr">
                <a:lnSpc>
                  <a:spcPts val="1530"/>
                </a:lnSpc>
              </a:pPr>
              <a:r>
                <a:rPr lang="en-US" sz="1275">
                  <a:solidFill>
                    <a:srgbClr val="3C3C41"/>
                  </a:solidFill>
                  <a:latin typeface="Arimo"/>
                  <a:ea typeface="Arimo"/>
                  <a:cs typeface="Arimo"/>
                  <a:sym typeface="Arimo"/>
                </a:rPr>
                <a:t>Digital, scanned, or mixed-layout pdfs</a:t>
              </a:r>
            </a:p>
          </p:txBody>
        </p:sp>
      </p:grpSp>
      <p:sp>
        <p:nvSpPr>
          <p:cNvPr id="58" name="TextBox 58"/>
          <p:cNvSpPr txBox="1"/>
          <p:nvPr/>
        </p:nvSpPr>
        <p:spPr>
          <a:xfrm>
            <a:off x="6885432" y="5840730"/>
            <a:ext cx="493776" cy="605790"/>
          </a:xfrm>
          <a:prstGeom prst="rect">
            <a:avLst/>
          </a:prstGeom>
        </p:spPr>
        <p:txBody>
          <a:bodyPr lIns="0" tIns="0" rIns="0" bIns="0" rtlCol="0" anchor="t">
            <a:spAutoFit/>
          </a:bodyPr>
          <a:lstStyle/>
          <a:p>
            <a:pPr algn="ctr">
              <a:lnSpc>
                <a:spcPts val="3240"/>
              </a:lnSpc>
            </a:pPr>
            <a:r>
              <a:rPr lang="en-US" sz="2700" b="1">
                <a:solidFill>
                  <a:srgbClr val="353334"/>
                </a:solidFill>
                <a:latin typeface="Calibri (MS) Bold"/>
                <a:ea typeface="Calibri (MS) Bold"/>
                <a:cs typeface="Calibri (MS) Bold"/>
                <a:sym typeface="Calibri (MS) Bold"/>
              </a:rPr>
              <a:t>➔</a:t>
            </a:r>
          </a:p>
        </p:txBody>
      </p:sp>
      <p:grpSp>
        <p:nvGrpSpPr>
          <p:cNvPr id="59" name="Group 59"/>
          <p:cNvGrpSpPr/>
          <p:nvPr/>
        </p:nvGrpSpPr>
        <p:grpSpPr>
          <a:xfrm>
            <a:off x="7529512" y="5358855"/>
            <a:ext cx="4132416" cy="1577139"/>
            <a:chOff x="0" y="0"/>
            <a:chExt cx="5509888" cy="2102851"/>
          </a:xfrm>
        </p:grpSpPr>
        <p:sp>
          <p:nvSpPr>
            <p:cNvPr id="60" name="Freeform 60"/>
            <p:cNvSpPr/>
            <p:nvPr/>
          </p:nvSpPr>
          <p:spPr>
            <a:xfrm>
              <a:off x="0" y="0"/>
              <a:ext cx="5509888" cy="2102851"/>
            </a:xfrm>
            <a:custGeom>
              <a:avLst/>
              <a:gdLst/>
              <a:ahLst/>
              <a:cxnLst/>
              <a:rect l="l" t="t" r="r" b="b"/>
              <a:pathLst>
                <a:path w="5509888" h="2102851">
                  <a:moveTo>
                    <a:pt x="0" y="168147"/>
                  </a:moveTo>
                  <a:cubicBezTo>
                    <a:pt x="0" y="75362"/>
                    <a:pt x="50460" y="0"/>
                    <a:pt x="112585" y="0"/>
                  </a:cubicBezTo>
                  <a:lnTo>
                    <a:pt x="5397303" y="0"/>
                  </a:lnTo>
                  <a:cubicBezTo>
                    <a:pt x="5459564" y="0"/>
                    <a:pt x="5509888" y="75362"/>
                    <a:pt x="5509888" y="168147"/>
                  </a:cubicBezTo>
                  <a:lnTo>
                    <a:pt x="5509888" y="1934704"/>
                  </a:lnTo>
                  <a:cubicBezTo>
                    <a:pt x="5509888" y="2027692"/>
                    <a:pt x="5459428" y="2102851"/>
                    <a:pt x="5397303" y="2102851"/>
                  </a:cubicBezTo>
                  <a:lnTo>
                    <a:pt x="112585" y="2102851"/>
                  </a:lnTo>
                  <a:cubicBezTo>
                    <a:pt x="50324" y="2102851"/>
                    <a:pt x="0" y="2027489"/>
                    <a:pt x="0" y="1934704"/>
                  </a:cubicBezTo>
                  <a:close/>
                </a:path>
              </a:pathLst>
            </a:custGeom>
            <a:solidFill>
              <a:srgbClr val="FFFFFF"/>
            </a:solidFill>
            <a:ln w="28575" cap="sq">
              <a:solidFill>
                <a:srgbClr val="FFB903"/>
              </a:solidFill>
              <a:prstDash val="solid"/>
              <a:miter/>
            </a:ln>
          </p:spPr>
        </p:sp>
        <p:sp>
          <p:nvSpPr>
            <p:cNvPr id="61" name="TextBox 61"/>
            <p:cNvSpPr txBox="1"/>
            <p:nvPr/>
          </p:nvSpPr>
          <p:spPr>
            <a:xfrm>
              <a:off x="0" y="-19050"/>
              <a:ext cx="5509888" cy="2121901"/>
            </a:xfrm>
            <a:prstGeom prst="rect">
              <a:avLst/>
            </a:prstGeom>
          </p:spPr>
          <p:txBody>
            <a:bodyPr lIns="50800" tIns="50800" rIns="50800" bIns="50800" rtlCol="0" anchor="ctr"/>
            <a:lstStyle/>
            <a:p>
              <a:pPr algn="ctr">
                <a:lnSpc>
                  <a:spcPts val="1800"/>
                </a:lnSpc>
              </a:pPr>
              <a:r>
                <a:rPr lang="en-US" sz="1500" b="1">
                  <a:solidFill>
                    <a:srgbClr val="353334"/>
                  </a:solidFill>
                  <a:latin typeface="Arimo Bold"/>
                  <a:ea typeface="Arimo Bold"/>
                  <a:cs typeface="Arimo Bold"/>
                  <a:sym typeface="Arimo Bold"/>
                </a:rPr>
                <a:t>2. PROCESSING</a:t>
              </a:r>
            </a:p>
            <a:p>
              <a:pPr algn="ctr">
                <a:lnSpc>
                  <a:spcPts val="1530"/>
                </a:lnSpc>
              </a:pPr>
              <a:r>
                <a:rPr lang="en-US" sz="1275" b="1">
                  <a:solidFill>
                    <a:srgbClr val="3C3C41"/>
                  </a:solidFill>
                  <a:latin typeface="Arimo Bold"/>
                  <a:ea typeface="Arimo Bold"/>
                  <a:cs typeface="Arimo Bold"/>
                  <a:sym typeface="Arimo Bold"/>
                </a:rPr>
                <a:t>Analyze → Route → Extract → Assemble → Verify</a:t>
              </a:r>
            </a:p>
            <a:p>
              <a:pPr algn="ctr">
                <a:lnSpc>
                  <a:spcPts val="1530"/>
                </a:lnSpc>
              </a:pPr>
              <a:r>
                <a:rPr lang="en-US" sz="1275">
                  <a:solidFill>
                    <a:srgbClr val="3C3C41"/>
                  </a:solidFill>
                  <a:latin typeface="Arimo"/>
                  <a:ea typeface="Arimo"/>
                  <a:cs typeface="Arimo"/>
                  <a:sym typeface="Arimo"/>
                </a:rPr>
                <a:t>Detect page structure and content → intelligently route each region → extract text, OCR, tables, figures &amp; equations → reconstruct reading order and cross-page content → validate with confidence, provenance &amp; fail-safe checks.</a:t>
              </a:r>
            </a:p>
          </p:txBody>
        </p:sp>
      </p:grpSp>
      <p:sp>
        <p:nvSpPr>
          <p:cNvPr id="62" name="TextBox 62"/>
          <p:cNvSpPr txBox="1"/>
          <p:nvPr/>
        </p:nvSpPr>
        <p:spPr>
          <a:xfrm>
            <a:off x="11548872" y="5840730"/>
            <a:ext cx="493776" cy="605790"/>
          </a:xfrm>
          <a:prstGeom prst="rect">
            <a:avLst/>
          </a:prstGeom>
        </p:spPr>
        <p:txBody>
          <a:bodyPr lIns="0" tIns="0" rIns="0" bIns="0" rtlCol="0" anchor="t">
            <a:spAutoFit/>
          </a:bodyPr>
          <a:lstStyle/>
          <a:p>
            <a:pPr algn="ctr">
              <a:lnSpc>
                <a:spcPts val="3240"/>
              </a:lnSpc>
            </a:pPr>
            <a:r>
              <a:rPr lang="en-US" sz="2700" b="1">
                <a:solidFill>
                  <a:srgbClr val="353334"/>
                </a:solidFill>
                <a:latin typeface="Calibri (MS) Bold"/>
                <a:ea typeface="Calibri (MS) Bold"/>
                <a:cs typeface="Calibri (MS) Bold"/>
                <a:sym typeface="Calibri (MS) Bold"/>
              </a:rPr>
              <a:t>➔</a:t>
            </a:r>
          </a:p>
        </p:txBody>
      </p:sp>
      <p:grpSp>
        <p:nvGrpSpPr>
          <p:cNvPr id="63" name="Group 63"/>
          <p:cNvGrpSpPr/>
          <p:nvPr/>
        </p:nvGrpSpPr>
        <p:grpSpPr>
          <a:xfrm>
            <a:off x="12192952" y="5719000"/>
            <a:ext cx="3869055" cy="1005639"/>
            <a:chOff x="0" y="0"/>
            <a:chExt cx="5158740" cy="1340851"/>
          </a:xfrm>
        </p:grpSpPr>
        <p:sp>
          <p:nvSpPr>
            <p:cNvPr id="64" name="Freeform 64"/>
            <p:cNvSpPr/>
            <p:nvPr/>
          </p:nvSpPr>
          <p:spPr>
            <a:xfrm>
              <a:off x="0" y="0"/>
              <a:ext cx="5158740" cy="1340851"/>
            </a:xfrm>
            <a:custGeom>
              <a:avLst/>
              <a:gdLst/>
              <a:ahLst/>
              <a:cxnLst/>
              <a:rect l="l" t="t" r="r" b="b"/>
              <a:pathLst>
                <a:path w="5158740" h="1340851">
                  <a:moveTo>
                    <a:pt x="0" y="107216"/>
                  </a:moveTo>
                  <a:cubicBezTo>
                    <a:pt x="0" y="48054"/>
                    <a:pt x="47244" y="0"/>
                    <a:pt x="105410" y="0"/>
                  </a:cubicBezTo>
                  <a:lnTo>
                    <a:pt x="5053330" y="0"/>
                  </a:lnTo>
                  <a:cubicBezTo>
                    <a:pt x="5111623" y="0"/>
                    <a:pt x="5158740" y="48054"/>
                    <a:pt x="5158740" y="107216"/>
                  </a:cubicBezTo>
                  <a:lnTo>
                    <a:pt x="5158740" y="1233635"/>
                  </a:lnTo>
                  <a:cubicBezTo>
                    <a:pt x="5158740" y="1292927"/>
                    <a:pt x="5111496" y="1340851"/>
                    <a:pt x="5053330" y="1340851"/>
                  </a:cubicBezTo>
                  <a:lnTo>
                    <a:pt x="105410" y="1340851"/>
                  </a:lnTo>
                  <a:cubicBezTo>
                    <a:pt x="47117" y="1340851"/>
                    <a:pt x="0" y="1292798"/>
                    <a:pt x="0" y="1233635"/>
                  </a:cubicBezTo>
                  <a:close/>
                </a:path>
              </a:pathLst>
            </a:custGeom>
            <a:solidFill>
              <a:srgbClr val="FFFFFF"/>
            </a:solidFill>
            <a:ln w="28575" cap="sq">
              <a:solidFill>
                <a:srgbClr val="FD1485"/>
              </a:solidFill>
              <a:prstDash val="solid"/>
              <a:miter/>
            </a:ln>
          </p:spPr>
        </p:sp>
        <p:sp>
          <p:nvSpPr>
            <p:cNvPr id="65" name="TextBox 65"/>
            <p:cNvSpPr txBox="1"/>
            <p:nvPr/>
          </p:nvSpPr>
          <p:spPr>
            <a:xfrm>
              <a:off x="0" y="-19050"/>
              <a:ext cx="5158740" cy="1359901"/>
            </a:xfrm>
            <a:prstGeom prst="rect">
              <a:avLst/>
            </a:prstGeom>
          </p:spPr>
          <p:txBody>
            <a:bodyPr lIns="50800" tIns="50800" rIns="50800" bIns="50800" rtlCol="0" anchor="ctr"/>
            <a:lstStyle/>
            <a:p>
              <a:pPr algn="ctr">
                <a:lnSpc>
                  <a:spcPts val="1800"/>
                </a:lnSpc>
              </a:pPr>
              <a:r>
                <a:rPr lang="en-US" sz="1500" b="1">
                  <a:solidFill>
                    <a:srgbClr val="353334"/>
                  </a:solidFill>
                  <a:latin typeface="Arimo Bold"/>
                  <a:ea typeface="Arimo Bold"/>
                  <a:cs typeface="Arimo Bold"/>
                  <a:sym typeface="Arimo Bold"/>
                </a:rPr>
                <a:t>3. OUTPUT</a:t>
              </a:r>
            </a:p>
            <a:p>
              <a:pPr algn="ctr">
                <a:lnSpc>
                  <a:spcPts val="1530"/>
                </a:lnSpc>
              </a:pPr>
              <a:r>
                <a:rPr lang="en-US" sz="1275">
                  <a:solidFill>
                    <a:srgbClr val="3C3C41"/>
                  </a:solidFill>
                  <a:latin typeface="Arimo"/>
                  <a:ea typeface="Arimo"/>
                  <a:cs typeface="Arimo"/>
                  <a:sym typeface="Arimo"/>
                </a:rPr>
                <a:t>bounding boxes with IDs+ document.md + document.json</a:t>
              </a:r>
            </a:p>
            <a:p>
              <a:pPr algn="ctr">
                <a:lnSpc>
                  <a:spcPts val="1530"/>
                </a:lnSpc>
              </a:pPr>
              <a:r>
                <a:rPr lang="en-US" sz="1275">
                  <a:solidFill>
                    <a:srgbClr val="3C3C41"/>
                  </a:solidFill>
                  <a:latin typeface="Arimo"/>
                  <a:ea typeface="Arimo"/>
                  <a:cs typeface="Arimo"/>
                  <a:sym typeface="Arimo"/>
                </a:rPr>
                <a:t>with confidence &amp; errors</a:t>
              </a:r>
            </a:p>
          </p:txBody>
        </p:sp>
      </p:grpSp>
      <p:grpSp>
        <p:nvGrpSpPr>
          <p:cNvPr id="66" name="Group 66"/>
          <p:cNvGrpSpPr/>
          <p:nvPr/>
        </p:nvGrpSpPr>
        <p:grpSpPr>
          <a:xfrm>
            <a:off x="2454592" y="7255193"/>
            <a:ext cx="6886575" cy="2566035"/>
            <a:chOff x="0" y="0"/>
            <a:chExt cx="9182100" cy="3421380"/>
          </a:xfrm>
        </p:grpSpPr>
        <p:sp>
          <p:nvSpPr>
            <p:cNvPr id="67" name="Freeform 67"/>
            <p:cNvSpPr/>
            <p:nvPr/>
          </p:nvSpPr>
          <p:spPr>
            <a:xfrm>
              <a:off x="0" y="0"/>
              <a:ext cx="9182100" cy="3421380"/>
            </a:xfrm>
            <a:custGeom>
              <a:avLst/>
              <a:gdLst/>
              <a:ahLst/>
              <a:cxnLst/>
              <a:rect l="l" t="t" r="r" b="b"/>
              <a:pathLst>
                <a:path w="9182100" h="3421380">
                  <a:moveTo>
                    <a:pt x="0" y="119761"/>
                  </a:moveTo>
                  <a:cubicBezTo>
                    <a:pt x="0" y="53594"/>
                    <a:pt x="53594" y="0"/>
                    <a:pt x="119761" y="0"/>
                  </a:cubicBezTo>
                  <a:lnTo>
                    <a:pt x="9062339" y="0"/>
                  </a:lnTo>
                  <a:cubicBezTo>
                    <a:pt x="9128506" y="0"/>
                    <a:pt x="9182100" y="53594"/>
                    <a:pt x="9182100" y="119761"/>
                  </a:cubicBezTo>
                  <a:lnTo>
                    <a:pt x="9182100" y="3301619"/>
                  </a:lnTo>
                  <a:cubicBezTo>
                    <a:pt x="9182100" y="3367786"/>
                    <a:pt x="9128506" y="3421380"/>
                    <a:pt x="9062339" y="3421380"/>
                  </a:cubicBezTo>
                  <a:lnTo>
                    <a:pt x="119761" y="3421380"/>
                  </a:lnTo>
                  <a:cubicBezTo>
                    <a:pt x="53594" y="3421380"/>
                    <a:pt x="0" y="3367786"/>
                    <a:pt x="0" y="3301619"/>
                  </a:cubicBezTo>
                  <a:close/>
                </a:path>
              </a:pathLst>
            </a:custGeom>
            <a:solidFill>
              <a:srgbClr val="FFFFFF"/>
            </a:solidFill>
            <a:ln w="28575" cap="sq">
              <a:solidFill>
                <a:srgbClr val="353334"/>
              </a:solidFill>
              <a:prstDash val="solid"/>
              <a:miter/>
            </a:ln>
          </p:spPr>
        </p:sp>
      </p:grpSp>
      <p:grpSp>
        <p:nvGrpSpPr>
          <p:cNvPr id="68" name="Group 68"/>
          <p:cNvGrpSpPr/>
          <p:nvPr/>
        </p:nvGrpSpPr>
        <p:grpSpPr>
          <a:xfrm>
            <a:off x="2937510" y="7066026"/>
            <a:ext cx="2423160" cy="406908"/>
            <a:chOff x="0" y="0"/>
            <a:chExt cx="3230880" cy="542544"/>
          </a:xfrm>
        </p:grpSpPr>
        <p:sp>
          <p:nvSpPr>
            <p:cNvPr id="69" name="Freeform 69"/>
            <p:cNvSpPr/>
            <p:nvPr/>
          </p:nvSpPr>
          <p:spPr>
            <a:xfrm>
              <a:off x="0" y="0"/>
              <a:ext cx="3230880" cy="542544"/>
            </a:xfrm>
            <a:custGeom>
              <a:avLst/>
              <a:gdLst/>
              <a:ahLst/>
              <a:cxnLst/>
              <a:rect l="l" t="t" r="r" b="b"/>
              <a:pathLst>
                <a:path w="3230880" h="542544">
                  <a:moveTo>
                    <a:pt x="0" y="271272"/>
                  </a:moveTo>
                  <a:cubicBezTo>
                    <a:pt x="0" y="121412"/>
                    <a:pt x="121412" y="0"/>
                    <a:pt x="271272" y="0"/>
                  </a:cubicBezTo>
                  <a:lnTo>
                    <a:pt x="2959608" y="0"/>
                  </a:lnTo>
                  <a:cubicBezTo>
                    <a:pt x="3109468" y="0"/>
                    <a:pt x="3230880" y="121412"/>
                    <a:pt x="3230880" y="271272"/>
                  </a:cubicBezTo>
                  <a:cubicBezTo>
                    <a:pt x="3230880" y="421132"/>
                    <a:pt x="3109468" y="542544"/>
                    <a:pt x="2959608" y="542544"/>
                  </a:cubicBezTo>
                  <a:lnTo>
                    <a:pt x="271272" y="542544"/>
                  </a:lnTo>
                  <a:cubicBezTo>
                    <a:pt x="121412" y="542544"/>
                    <a:pt x="0" y="421132"/>
                    <a:pt x="0" y="271272"/>
                  </a:cubicBezTo>
                  <a:close/>
                </a:path>
              </a:pathLst>
            </a:custGeom>
            <a:solidFill>
              <a:srgbClr val="FFB903"/>
            </a:solidFill>
            <a:ln w="22860" cap="sq">
              <a:solidFill>
                <a:srgbClr val="353334"/>
              </a:solidFill>
              <a:prstDash val="solid"/>
              <a:miter/>
            </a:ln>
          </p:spPr>
        </p:sp>
        <p:sp>
          <p:nvSpPr>
            <p:cNvPr id="70" name="TextBox 70"/>
            <p:cNvSpPr txBox="1"/>
            <p:nvPr/>
          </p:nvSpPr>
          <p:spPr>
            <a:xfrm>
              <a:off x="0" y="-19050"/>
              <a:ext cx="3230880" cy="561594"/>
            </a:xfrm>
            <a:prstGeom prst="rect">
              <a:avLst/>
            </a:prstGeom>
          </p:spPr>
          <p:txBody>
            <a:bodyPr lIns="50800" tIns="50800" rIns="50800" bIns="50800" rtlCol="0" anchor="ctr"/>
            <a:lstStyle/>
            <a:p>
              <a:pPr algn="ctr">
                <a:lnSpc>
                  <a:spcPts val="1530"/>
                </a:lnSpc>
              </a:pPr>
              <a:r>
                <a:rPr lang="en-US" sz="1275" b="1">
                  <a:solidFill>
                    <a:srgbClr val="353334"/>
                  </a:solidFill>
                  <a:latin typeface="Arimo Bold"/>
                  <a:ea typeface="Arimo Bold"/>
                  <a:cs typeface="Arimo Bold"/>
                  <a:sym typeface="Arimo Bold"/>
                </a:rPr>
                <a:t>ADVANTAGE</a:t>
              </a:r>
            </a:p>
          </p:txBody>
        </p:sp>
      </p:grpSp>
      <p:sp>
        <p:nvSpPr>
          <p:cNvPr id="71" name="TextBox 71"/>
          <p:cNvSpPr txBox="1"/>
          <p:nvPr/>
        </p:nvSpPr>
        <p:spPr>
          <a:xfrm>
            <a:off x="2971800" y="7639050"/>
            <a:ext cx="5852160" cy="1885950"/>
          </a:xfrm>
          <a:prstGeom prst="rect">
            <a:avLst/>
          </a:prstGeom>
        </p:spPr>
        <p:txBody>
          <a:bodyPr lIns="0" tIns="0" rIns="0" bIns="0" rtlCol="0" anchor="t">
            <a:spAutoFit/>
          </a:bodyPr>
          <a:lstStyle/>
          <a:p>
            <a:pPr algn="l">
              <a:lnSpc>
                <a:spcPts val="2160"/>
              </a:lnSpc>
            </a:pPr>
            <a:r>
              <a:rPr lang="en-US" sz="1800" b="1">
                <a:solidFill>
                  <a:srgbClr val="353334"/>
                </a:solidFill>
                <a:latin typeface="Arimo Bold"/>
                <a:ea typeface="Arimo Bold"/>
                <a:cs typeface="Arimo Bold"/>
                <a:sym typeface="Arimo Bold"/>
              </a:rPr>
              <a:t>WHY IT IS BETTER</a:t>
            </a:r>
          </a:p>
          <a:p>
            <a:pPr marL="323850" lvl="1" indent="-161925" algn="l">
              <a:lnSpc>
                <a:spcPts val="1800"/>
              </a:lnSpc>
              <a:buFont typeface="Arial"/>
              <a:buChar char="•"/>
            </a:pPr>
            <a:r>
              <a:rPr lang="en-US" sz="1500">
                <a:solidFill>
                  <a:srgbClr val="3C3C41"/>
                </a:solidFill>
                <a:latin typeface="Arimo"/>
                <a:ea typeface="Arimo"/>
                <a:cs typeface="Arimo"/>
                <a:sym typeface="Arimo"/>
              </a:rPr>
              <a:t>One unified pipeline instead of multiple tools</a:t>
            </a:r>
          </a:p>
          <a:p>
            <a:pPr marL="323850" lvl="1" indent="-161925" algn="l">
              <a:lnSpc>
                <a:spcPts val="1800"/>
              </a:lnSpc>
              <a:buFont typeface="Arial"/>
              <a:buChar char="•"/>
            </a:pPr>
            <a:r>
              <a:rPr lang="en-US" sz="1500">
                <a:solidFill>
                  <a:srgbClr val="3C3C41"/>
                </a:solidFill>
                <a:latin typeface="Arimo"/>
                <a:ea typeface="Arimo"/>
                <a:cs typeface="Arimo"/>
                <a:sym typeface="Arimo"/>
              </a:rPr>
              <a:t>Handles text + tables + visuals + equations</a:t>
            </a:r>
          </a:p>
          <a:p>
            <a:pPr marL="323850" lvl="1" indent="-161925" algn="l">
              <a:lnSpc>
                <a:spcPts val="1800"/>
              </a:lnSpc>
              <a:buFont typeface="Arial"/>
              <a:buChar char="•"/>
            </a:pPr>
            <a:r>
              <a:rPr lang="en-US" sz="1500">
                <a:solidFill>
                  <a:srgbClr val="3C3C41"/>
                </a:solidFill>
                <a:latin typeface="Arimo"/>
                <a:ea typeface="Arimo"/>
                <a:cs typeface="Arimo"/>
                <a:sym typeface="Arimo"/>
              </a:rPr>
              <a:t>Preserves reading order &amp; source coordinates</a:t>
            </a:r>
          </a:p>
          <a:p>
            <a:pPr marL="323850" lvl="1" indent="-161925" algn="l">
              <a:lnSpc>
                <a:spcPts val="1800"/>
              </a:lnSpc>
              <a:buFont typeface="Arial"/>
              <a:buChar char="•"/>
            </a:pPr>
            <a:r>
              <a:rPr lang="en-US" sz="1500">
                <a:solidFill>
                  <a:srgbClr val="3C3C41"/>
                </a:solidFill>
                <a:latin typeface="Arimo"/>
                <a:ea typeface="Arimo"/>
                <a:cs typeface="Arimo"/>
                <a:sym typeface="Arimo"/>
              </a:rPr>
              <a:t>Confidence scoring flags uncertain content</a:t>
            </a:r>
          </a:p>
          <a:p>
            <a:pPr marL="323850" lvl="1" indent="-161925" algn="l">
              <a:lnSpc>
                <a:spcPts val="1800"/>
              </a:lnSpc>
              <a:buFont typeface="Arial"/>
              <a:buChar char="•"/>
            </a:pPr>
            <a:r>
              <a:rPr lang="en-US" sz="1500">
                <a:solidFill>
                  <a:srgbClr val="3C3C41"/>
                </a:solidFill>
                <a:latin typeface="Arimo"/>
                <a:ea typeface="Arimo"/>
                <a:cs typeface="Arimo"/>
                <a:sym typeface="Arimo"/>
              </a:rPr>
              <a:t>Fail-safe processing prevents silent data loss</a:t>
            </a:r>
          </a:p>
          <a:p>
            <a:pPr marL="323850" lvl="1" indent="-161925" algn="l">
              <a:lnSpc>
                <a:spcPts val="1800"/>
              </a:lnSpc>
              <a:buFont typeface="Arial"/>
              <a:buChar char="•"/>
            </a:pPr>
            <a:r>
              <a:rPr lang="en-US" sz="1500">
                <a:solidFill>
                  <a:srgbClr val="3C3C41"/>
                </a:solidFill>
                <a:latin typeface="Arimo"/>
                <a:ea typeface="Arimo"/>
                <a:cs typeface="Arimo"/>
                <a:sym typeface="Arimo"/>
              </a:rPr>
              <a:t>Self-hostable for sensitive documents</a:t>
            </a:r>
          </a:p>
          <a:p>
            <a:pPr algn="l">
              <a:lnSpc>
                <a:spcPts val="1800"/>
              </a:lnSpc>
            </a:pPr>
            <a:endParaRPr lang="en-US" sz="1500">
              <a:solidFill>
                <a:srgbClr val="3C3C41"/>
              </a:solidFill>
              <a:latin typeface="Arimo"/>
              <a:ea typeface="Arimo"/>
              <a:cs typeface="Arimo"/>
              <a:sym typeface="Arimo"/>
            </a:endParaRPr>
          </a:p>
        </p:txBody>
      </p:sp>
      <p:grpSp>
        <p:nvGrpSpPr>
          <p:cNvPr id="72" name="Group 72"/>
          <p:cNvGrpSpPr/>
          <p:nvPr/>
        </p:nvGrpSpPr>
        <p:grpSpPr>
          <a:xfrm>
            <a:off x="9724072" y="7255193"/>
            <a:ext cx="6886575" cy="2566035"/>
            <a:chOff x="0" y="0"/>
            <a:chExt cx="9182100" cy="3421380"/>
          </a:xfrm>
        </p:grpSpPr>
        <p:sp>
          <p:nvSpPr>
            <p:cNvPr id="73" name="Freeform 73"/>
            <p:cNvSpPr/>
            <p:nvPr/>
          </p:nvSpPr>
          <p:spPr>
            <a:xfrm>
              <a:off x="0" y="0"/>
              <a:ext cx="9182100" cy="3421380"/>
            </a:xfrm>
            <a:custGeom>
              <a:avLst/>
              <a:gdLst/>
              <a:ahLst/>
              <a:cxnLst/>
              <a:rect l="l" t="t" r="r" b="b"/>
              <a:pathLst>
                <a:path w="9182100" h="3421380">
                  <a:moveTo>
                    <a:pt x="0" y="119761"/>
                  </a:moveTo>
                  <a:cubicBezTo>
                    <a:pt x="0" y="53594"/>
                    <a:pt x="53594" y="0"/>
                    <a:pt x="119761" y="0"/>
                  </a:cubicBezTo>
                  <a:lnTo>
                    <a:pt x="9062339" y="0"/>
                  </a:lnTo>
                  <a:cubicBezTo>
                    <a:pt x="9128506" y="0"/>
                    <a:pt x="9182100" y="53594"/>
                    <a:pt x="9182100" y="119761"/>
                  </a:cubicBezTo>
                  <a:lnTo>
                    <a:pt x="9182100" y="3301619"/>
                  </a:lnTo>
                  <a:cubicBezTo>
                    <a:pt x="9182100" y="3367786"/>
                    <a:pt x="9128506" y="3421380"/>
                    <a:pt x="9062339" y="3421380"/>
                  </a:cubicBezTo>
                  <a:lnTo>
                    <a:pt x="119761" y="3421380"/>
                  </a:lnTo>
                  <a:cubicBezTo>
                    <a:pt x="53594" y="3421380"/>
                    <a:pt x="0" y="3367786"/>
                    <a:pt x="0" y="3301619"/>
                  </a:cubicBezTo>
                  <a:close/>
                </a:path>
              </a:pathLst>
            </a:custGeom>
            <a:solidFill>
              <a:srgbClr val="FFFFFF"/>
            </a:solidFill>
            <a:ln w="28575" cap="sq">
              <a:solidFill>
                <a:srgbClr val="353334"/>
              </a:solidFill>
              <a:prstDash val="solid"/>
              <a:miter/>
            </a:ln>
          </p:spPr>
        </p:sp>
      </p:grpSp>
      <p:grpSp>
        <p:nvGrpSpPr>
          <p:cNvPr id="74" name="Group 74"/>
          <p:cNvGrpSpPr/>
          <p:nvPr/>
        </p:nvGrpSpPr>
        <p:grpSpPr>
          <a:xfrm>
            <a:off x="10206990" y="7066026"/>
            <a:ext cx="2423160" cy="406908"/>
            <a:chOff x="0" y="0"/>
            <a:chExt cx="3230880" cy="542544"/>
          </a:xfrm>
        </p:grpSpPr>
        <p:sp>
          <p:nvSpPr>
            <p:cNvPr id="75" name="Freeform 75"/>
            <p:cNvSpPr/>
            <p:nvPr/>
          </p:nvSpPr>
          <p:spPr>
            <a:xfrm>
              <a:off x="0" y="0"/>
              <a:ext cx="3230880" cy="542544"/>
            </a:xfrm>
            <a:custGeom>
              <a:avLst/>
              <a:gdLst/>
              <a:ahLst/>
              <a:cxnLst/>
              <a:rect l="l" t="t" r="r" b="b"/>
              <a:pathLst>
                <a:path w="3230880" h="542544">
                  <a:moveTo>
                    <a:pt x="0" y="271272"/>
                  </a:moveTo>
                  <a:cubicBezTo>
                    <a:pt x="0" y="121412"/>
                    <a:pt x="121412" y="0"/>
                    <a:pt x="271272" y="0"/>
                  </a:cubicBezTo>
                  <a:lnTo>
                    <a:pt x="2959608" y="0"/>
                  </a:lnTo>
                  <a:cubicBezTo>
                    <a:pt x="3109468" y="0"/>
                    <a:pt x="3230880" y="121412"/>
                    <a:pt x="3230880" y="271272"/>
                  </a:cubicBezTo>
                  <a:cubicBezTo>
                    <a:pt x="3230880" y="421132"/>
                    <a:pt x="3109468" y="542544"/>
                    <a:pt x="2959608" y="542544"/>
                  </a:cubicBezTo>
                  <a:lnTo>
                    <a:pt x="271272" y="542544"/>
                  </a:lnTo>
                  <a:cubicBezTo>
                    <a:pt x="121412" y="542544"/>
                    <a:pt x="0" y="421132"/>
                    <a:pt x="0" y="271272"/>
                  </a:cubicBezTo>
                  <a:close/>
                </a:path>
              </a:pathLst>
            </a:custGeom>
            <a:solidFill>
              <a:srgbClr val="FD1485"/>
            </a:solidFill>
            <a:ln w="22860" cap="sq">
              <a:solidFill>
                <a:srgbClr val="353334"/>
              </a:solidFill>
              <a:prstDash val="solid"/>
              <a:miter/>
            </a:ln>
          </p:spPr>
        </p:sp>
        <p:sp>
          <p:nvSpPr>
            <p:cNvPr id="76" name="TextBox 76"/>
            <p:cNvSpPr txBox="1"/>
            <p:nvPr/>
          </p:nvSpPr>
          <p:spPr>
            <a:xfrm>
              <a:off x="0" y="-19050"/>
              <a:ext cx="3230880" cy="561594"/>
            </a:xfrm>
            <a:prstGeom prst="rect">
              <a:avLst/>
            </a:prstGeom>
          </p:spPr>
          <p:txBody>
            <a:bodyPr lIns="50800" tIns="50800" rIns="50800" bIns="50800" rtlCol="0" anchor="ctr"/>
            <a:lstStyle/>
            <a:p>
              <a:pPr algn="ctr">
                <a:lnSpc>
                  <a:spcPts val="1530"/>
                </a:lnSpc>
              </a:pPr>
              <a:r>
                <a:rPr lang="en-US" sz="1275" b="1">
                  <a:solidFill>
                    <a:srgbClr val="FFFFFF"/>
                  </a:solidFill>
                  <a:latin typeface="Arimo Bold"/>
                  <a:ea typeface="Arimo Bold"/>
                  <a:cs typeface="Arimo Bold"/>
                  <a:sym typeface="Arimo Bold"/>
                </a:rPr>
                <a:t>INNOVATION</a:t>
              </a:r>
            </a:p>
          </p:txBody>
        </p:sp>
      </p:grpSp>
      <p:sp>
        <p:nvSpPr>
          <p:cNvPr id="77" name="TextBox 77"/>
          <p:cNvSpPr txBox="1"/>
          <p:nvPr/>
        </p:nvSpPr>
        <p:spPr>
          <a:xfrm>
            <a:off x="9883544" y="7463409"/>
            <a:ext cx="6747106" cy="2509343"/>
          </a:xfrm>
          <a:prstGeom prst="rect">
            <a:avLst/>
          </a:prstGeom>
        </p:spPr>
        <p:txBody>
          <a:bodyPr lIns="0" tIns="0" rIns="0" bIns="0" rtlCol="0" anchor="t">
            <a:spAutoFit/>
          </a:bodyPr>
          <a:lstStyle/>
          <a:p>
            <a:pPr algn="l">
              <a:lnSpc>
                <a:spcPts val="1793"/>
              </a:lnSpc>
            </a:pPr>
            <a:r>
              <a:rPr lang="en-US" sz="1494" b="1">
                <a:solidFill>
                  <a:srgbClr val="353334"/>
                </a:solidFill>
                <a:latin typeface="Arimo Bold"/>
                <a:ea typeface="Arimo Bold"/>
                <a:cs typeface="Arimo Bold"/>
                <a:sym typeface="Arimo Bold"/>
              </a:rPr>
              <a:t>WHAT IS DIFFERENT</a:t>
            </a:r>
          </a:p>
          <a:p>
            <a:pPr algn="l">
              <a:lnSpc>
                <a:spcPts val="1494"/>
              </a:lnSpc>
            </a:pPr>
            <a:r>
              <a:rPr lang="en-US" sz="1245">
                <a:solidFill>
                  <a:srgbClr val="3C3C41"/>
                </a:solidFill>
                <a:latin typeface="Arimo"/>
                <a:ea typeface="Arimo"/>
                <a:cs typeface="Arimo"/>
                <a:sym typeface="Arimo"/>
              </a:rPr>
              <a:t>For every paragraph, table, figure, equation, or other semantic block, the system preserves:</a:t>
            </a:r>
          </a:p>
          <a:p>
            <a:pPr marL="268968" lvl="1" indent="-134484" algn="l">
              <a:lnSpc>
                <a:spcPts val="1494"/>
              </a:lnSpc>
              <a:buFont typeface="Arial"/>
              <a:buChar char="•"/>
            </a:pPr>
            <a:r>
              <a:rPr lang="en-US" sz="1245">
                <a:solidFill>
                  <a:srgbClr val="3C3C41"/>
                </a:solidFill>
                <a:latin typeface="Arimo"/>
                <a:ea typeface="Arimo"/>
                <a:cs typeface="Arimo"/>
                <a:sym typeface="Arimo"/>
              </a:rPr>
              <a:t>Exact page number</a:t>
            </a:r>
          </a:p>
          <a:p>
            <a:pPr marL="268968" lvl="1" indent="-134484" algn="l">
              <a:lnSpc>
                <a:spcPts val="1494"/>
              </a:lnSpc>
              <a:buFont typeface="Arial"/>
              <a:buChar char="•"/>
            </a:pPr>
            <a:r>
              <a:rPr lang="en-US" sz="1245">
                <a:solidFill>
                  <a:srgbClr val="3C3C41"/>
                </a:solidFill>
                <a:latin typeface="Arimo"/>
                <a:ea typeface="Arimo"/>
                <a:cs typeface="Arimo"/>
                <a:sym typeface="Arimo"/>
              </a:rPr>
              <a:t>Bounding-box coordinates of the source region</a:t>
            </a:r>
          </a:p>
          <a:p>
            <a:pPr marL="268968" lvl="1" indent="-134484" algn="l">
              <a:lnSpc>
                <a:spcPts val="1494"/>
              </a:lnSpc>
              <a:buFont typeface="Arial"/>
              <a:buChar char="•"/>
            </a:pPr>
            <a:r>
              <a:rPr lang="en-US" sz="1245">
                <a:solidFill>
                  <a:srgbClr val="3C3C41"/>
                </a:solidFill>
                <a:latin typeface="Arimo"/>
                <a:ea typeface="Arimo"/>
                <a:cs typeface="Arimo"/>
                <a:sym typeface="Arimo"/>
              </a:rPr>
              <a:t>Semantic block type</a:t>
            </a:r>
          </a:p>
          <a:p>
            <a:pPr marL="268968" lvl="1" indent="-134484" algn="l">
              <a:lnSpc>
                <a:spcPts val="1494"/>
              </a:lnSpc>
              <a:buFont typeface="Arial"/>
              <a:buChar char="•"/>
            </a:pPr>
            <a:r>
              <a:rPr lang="en-US" sz="1245">
                <a:solidFill>
                  <a:srgbClr val="3C3C41"/>
                </a:solidFill>
                <a:latin typeface="Arimo"/>
                <a:ea typeface="Arimo"/>
                <a:cs typeface="Arimo"/>
                <a:sym typeface="Arimo"/>
              </a:rPr>
              <a:t>Reading-order position</a:t>
            </a:r>
          </a:p>
          <a:p>
            <a:pPr marL="268968" lvl="1" indent="-134484" algn="l">
              <a:lnSpc>
                <a:spcPts val="1494"/>
              </a:lnSpc>
              <a:buFont typeface="Arial"/>
              <a:buChar char="•"/>
            </a:pPr>
            <a:r>
              <a:rPr lang="en-US" sz="1245">
                <a:solidFill>
                  <a:srgbClr val="3C3C41"/>
                </a:solidFill>
                <a:latin typeface="Arimo"/>
                <a:ea typeface="Arimo"/>
                <a:cs typeface="Arimo"/>
                <a:sym typeface="Arimo"/>
              </a:rPr>
              <a:t>Extraction method: native text, OCR, table extraction, etc.</a:t>
            </a:r>
          </a:p>
          <a:p>
            <a:pPr marL="268968" lvl="1" indent="-134484" algn="l">
              <a:lnSpc>
                <a:spcPts val="1494"/>
              </a:lnSpc>
              <a:buFont typeface="Arial"/>
              <a:buChar char="•"/>
            </a:pPr>
            <a:r>
              <a:rPr lang="en-US" sz="1245">
                <a:solidFill>
                  <a:srgbClr val="3C3C41"/>
                </a:solidFill>
                <a:latin typeface="Arimo"/>
                <a:ea typeface="Arimo"/>
                <a:cs typeface="Arimo"/>
                <a:sym typeface="Arimo"/>
              </a:rPr>
              <a:t>Confidence score</a:t>
            </a:r>
          </a:p>
          <a:p>
            <a:pPr marL="268968" lvl="1" indent="-134484" algn="l">
              <a:lnSpc>
                <a:spcPts val="1494"/>
              </a:lnSpc>
              <a:buFont typeface="Arial"/>
              <a:buChar char="•"/>
            </a:pPr>
            <a:r>
              <a:rPr lang="en-US" sz="1245">
                <a:solidFill>
                  <a:srgbClr val="3C3C41"/>
                </a:solidFill>
                <a:latin typeface="Arimo"/>
                <a:ea typeface="Arimo"/>
                <a:cs typeface="Arimo"/>
                <a:sym typeface="Arimo"/>
              </a:rPr>
              <a:t>Warnings when extraction is uncertain</a:t>
            </a:r>
          </a:p>
          <a:p>
            <a:pPr algn="l">
              <a:lnSpc>
                <a:spcPts val="1494"/>
              </a:lnSpc>
            </a:pPr>
            <a:r>
              <a:rPr lang="en-US" sz="1245">
                <a:solidFill>
                  <a:srgbClr val="3C3C41"/>
                </a:solidFill>
                <a:latin typeface="Arimo"/>
                <a:ea typeface="Arimo"/>
                <a:cs typeface="Arimo"/>
                <a:sym typeface="Arimo"/>
              </a:rPr>
              <a:t>This creates a complete chain:</a:t>
            </a:r>
          </a:p>
          <a:p>
            <a:pPr algn="l">
              <a:lnSpc>
                <a:spcPts val="1494"/>
              </a:lnSpc>
            </a:pPr>
            <a:r>
              <a:rPr lang="en-US" sz="1245">
                <a:solidFill>
                  <a:srgbClr val="3C3C41"/>
                </a:solidFill>
                <a:latin typeface="Arimo"/>
                <a:ea typeface="Arimo"/>
                <a:cs typeface="Arimo"/>
                <a:sym typeface="Arimo"/>
              </a:rPr>
              <a:t>If a user sees a suspicious value in the generated JSON or Markdown, they can trace it back to the exact location in the original PDF and verify it visually.</a:t>
            </a:r>
          </a:p>
          <a:p>
            <a:pPr algn="l">
              <a:lnSpc>
                <a:spcPts val="1494"/>
              </a:lnSpc>
            </a:pPr>
            <a:endParaRPr lang="en-US" sz="1245">
              <a:solidFill>
                <a:srgbClr val="3C3C41"/>
              </a:solidFill>
              <a:latin typeface="Arimo"/>
              <a:ea typeface="Arimo"/>
              <a:cs typeface="Arimo"/>
              <a:sym typeface="Arim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7543" cy="10287000"/>
            <a:chOff x="0" y="0"/>
            <a:chExt cx="24383390" cy="13716000"/>
          </a:xfrm>
        </p:grpSpPr>
        <p:sp>
          <p:nvSpPr>
            <p:cNvPr id="3" name="Freeform 3"/>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close/>
                </a:path>
              </a:pathLst>
            </a:custGeom>
            <a:solidFill>
              <a:srgbClr val="FFFFF1"/>
            </a:solidFill>
          </p:spPr>
        </p:sp>
      </p:grpSp>
      <p:grpSp>
        <p:nvGrpSpPr>
          <p:cNvPr id="4" name="Group 4"/>
          <p:cNvGrpSpPr/>
          <p:nvPr/>
        </p:nvGrpSpPr>
        <p:grpSpPr>
          <a:xfrm>
            <a:off x="-274320" y="1577340"/>
            <a:ext cx="1577340" cy="493776"/>
            <a:chOff x="0" y="0"/>
            <a:chExt cx="2103120" cy="658368"/>
          </a:xfrm>
        </p:grpSpPr>
        <p:sp>
          <p:nvSpPr>
            <p:cNvPr id="5" name="Freeform 5"/>
            <p:cNvSpPr/>
            <p:nvPr/>
          </p:nvSpPr>
          <p:spPr>
            <a:xfrm>
              <a:off x="0" y="0"/>
              <a:ext cx="2103120" cy="658368"/>
            </a:xfrm>
            <a:custGeom>
              <a:avLst/>
              <a:gdLst/>
              <a:ahLst/>
              <a:cxnLst/>
              <a:rect l="l" t="t" r="r" b="b"/>
              <a:pathLst>
                <a:path w="2103120" h="658368">
                  <a:moveTo>
                    <a:pt x="0" y="329184"/>
                  </a:moveTo>
                  <a:cubicBezTo>
                    <a:pt x="0" y="147320"/>
                    <a:pt x="147320" y="0"/>
                    <a:pt x="329184" y="0"/>
                  </a:cubicBezTo>
                  <a:lnTo>
                    <a:pt x="1773936" y="0"/>
                  </a:lnTo>
                  <a:cubicBezTo>
                    <a:pt x="1955800" y="0"/>
                    <a:pt x="2103120" y="147320"/>
                    <a:pt x="2103120" y="329184"/>
                  </a:cubicBezTo>
                  <a:cubicBezTo>
                    <a:pt x="2103120" y="511048"/>
                    <a:pt x="1955800" y="658368"/>
                    <a:pt x="1773936" y="658368"/>
                  </a:cubicBezTo>
                  <a:lnTo>
                    <a:pt x="329184" y="658368"/>
                  </a:lnTo>
                  <a:cubicBezTo>
                    <a:pt x="147320" y="658368"/>
                    <a:pt x="0" y="511048"/>
                    <a:pt x="0" y="329184"/>
                  </a:cubicBezTo>
                  <a:close/>
                </a:path>
              </a:pathLst>
            </a:custGeom>
            <a:solidFill>
              <a:srgbClr val="FFB903"/>
            </a:solidFill>
          </p:spPr>
        </p:sp>
      </p:grpSp>
      <p:grpSp>
        <p:nvGrpSpPr>
          <p:cNvPr id="6" name="Group 6"/>
          <p:cNvGrpSpPr/>
          <p:nvPr/>
        </p:nvGrpSpPr>
        <p:grpSpPr>
          <a:xfrm>
            <a:off x="-274320" y="2180844"/>
            <a:ext cx="2194560" cy="493776"/>
            <a:chOff x="0" y="0"/>
            <a:chExt cx="2926080" cy="658368"/>
          </a:xfrm>
        </p:grpSpPr>
        <p:sp>
          <p:nvSpPr>
            <p:cNvPr id="7" name="Freeform 7"/>
            <p:cNvSpPr/>
            <p:nvPr/>
          </p:nvSpPr>
          <p:spPr>
            <a:xfrm>
              <a:off x="0" y="0"/>
              <a:ext cx="2926080" cy="658368"/>
            </a:xfrm>
            <a:custGeom>
              <a:avLst/>
              <a:gdLst/>
              <a:ahLst/>
              <a:cxnLst/>
              <a:rect l="l" t="t" r="r" b="b"/>
              <a:pathLst>
                <a:path w="2926080" h="658368">
                  <a:moveTo>
                    <a:pt x="0" y="329184"/>
                  </a:moveTo>
                  <a:cubicBezTo>
                    <a:pt x="0" y="147320"/>
                    <a:pt x="147320" y="0"/>
                    <a:pt x="329184" y="0"/>
                  </a:cubicBezTo>
                  <a:lnTo>
                    <a:pt x="2596896" y="0"/>
                  </a:lnTo>
                  <a:cubicBezTo>
                    <a:pt x="2778760" y="0"/>
                    <a:pt x="2926080" y="147320"/>
                    <a:pt x="2926080" y="329184"/>
                  </a:cubicBezTo>
                  <a:cubicBezTo>
                    <a:pt x="2926080" y="511048"/>
                    <a:pt x="2778760" y="658368"/>
                    <a:pt x="2596896" y="658368"/>
                  </a:cubicBezTo>
                  <a:lnTo>
                    <a:pt x="329184" y="658368"/>
                  </a:lnTo>
                  <a:cubicBezTo>
                    <a:pt x="147320" y="658368"/>
                    <a:pt x="0" y="511048"/>
                    <a:pt x="0" y="329184"/>
                  </a:cubicBezTo>
                  <a:close/>
                </a:path>
              </a:pathLst>
            </a:custGeom>
            <a:solidFill>
              <a:srgbClr val="079ED2"/>
            </a:solidFill>
          </p:spPr>
        </p:sp>
      </p:grpSp>
      <p:grpSp>
        <p:nvGrpSpPr>
          <p:cNvPr id="8" name="Group 8"/>
          <p:cNvGrpSpPr/>
          <p:nvPr/>
        </p:nvGrpSpPr>
        <p:grpSpPr>
          <a:xfrm>
            <a:off x="-274320" y="2784348"/>
            <a:ext cx="1577340" cy="493776"/>
            <a:chOff x="0" y="0"/>
            <a:chExt cx="2103120" cy="658368"/>
          </a:xfrm>
        </p:grpSpPr>
        <p:sp>
          <p:nvSpPr>
            <p:cNvPr id="9" name="Freeform 9"/>
            <p:cNvSpPr/>
            <p:nvPr/>
          </p:nvSpPr>
          <p:spPr>
            <a:xfrm>
              <a:off x="0" y="0"/>
              <a:ext cx="2103120" cy="658368"/>
            </a:xfrm>
            <a:custGeom>
              <a:avLst/>
              <a:gdLst/>
              <a:ahLst/>
              <a:cxnLst/>
              <a:rect l="l" t="t" r="r" b="b"/>
              <a:pathLst>
                <a:path w="2103120" h="658368">
                  <a:moveTo>
                    <a:pt x="0" y="329184"/>
                  </a:moveTo>
                  <a:cubicBezTo>
                    <a:pt x="0" y="147320"/>
                    <a:pt x="147320" y="0"/>
                    <a:pt x="329184" y="0"/>
                  </a:cubicBezTo>
                  <a:lnTo>
                    <a:pt x="1773936" y="0"/>
                  </a:lnTo>
                  <a:cubicBezTo>
                    <a:pt x="1955800" y="0"/>
                    <a:pt x="2103120" y="147320"/>
                    <a:pt x="2103120" y="329184"/>
                  </a:cubicBezTo>
                  <a:cubicBezTo>
                    <a:pt x="2103120" y="511048"/>
                    <a:pt x="1955800" y="658368"/>
                    <a:pt x="1773936" y="658368"/>
                  </a:cubicBezTo>
                  <a:lnTo>
                    <a:pt x="329184" y="658368"/>
                  </a:lnTo>
                  <a:cubicBezTo>
                    <a:pt x="147320" y="658368"/>
                    <a:pt x="0" y="511048"/>
                    <a:pt x="0" y="329184"/>
                  </a:cubicBezTo>
                  <a:close/>
                </a:path>
              </a:pathLst>
            </a:custGeom>
            <a:solidFill>
              <a:srgbClr val="FD1485"/>
            </a:solidFill>
          </p:spPr>
        </p:sp>
      </p:grpSp>
      <p:grpSp>
        <p:nvGrpSpPr>
          <p:cNvPr id="10" name="Group 10"/>
          <p:cNvGrpSpPr/>
          <p:nvPr/>
        </p:nvGrpSpPr>
        <p:grpSpPr>
          <a:xfrm>
            <a:off x="17282160" y="822960"/>
            <a:ext cx="329184" cy="246888"/>
            <a:chOff x="0" y="0"/>
            <a:chExt cx="438912" cy="329184"/>
          </a:xfrm>
        </p:grpSpPr>
        <p:sp>
          <p:nvSpPr>
            <p:cNvPr id="11" name="Freeform 11"/>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353334"/>
            </a:solidFill>
          </p:spPr>
        </p:sp>
      </p:grpSp>
      <p:grpSp>
        <p:nvGrpSpPr>
          <p:cNvPr id="12" name="Group 12"/>
          <p:cNvGrpSpPr/>
          <p:nvPr/>
        </p:nvGrpSpPr>
        <p:grpSpPr>
          <a:xfrm>
            <a:off x="17282160" y="1069848"/>
            <a:ext cx="329184" cy="246888"/>
            <a:chOff x="0" y="0"/>
            <a:chExt cx="438912" cy="329184"/>
          </a:xfrm>
        </p:grpSpPr>
        <p:sp>
          <p:nvSpPr>
            <p:cNvPr id="13" name="Freeform 13"/>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FFB903"/>
            </a:solidFill>
          </p:spPr>
        </p:sp>
      </p:grpSp>
      <p:grpSp>
        <p:nvGrpSpPr>
          <p:cNvPr id="14" name="Group 14"/>
          <p:cNvGrpSpPr/>
          <p:nvPr/>
        </p:nvGrpSpPr>
        <p:grpSpPr>
          <a:xfrm>
            <a:off x="17282160" y="1316736"/>
            <a:ext cx="329184" cy="246888"/>
            <a:chOff x="0" y="0"/>
            <a:chExt cx="438912" cy="329184"/>
          </a:xfrm>
        </p:grpSpPr>
        <p:sp>
          <p:nvSpPr>
            <p:cNvPr id="15" name="Freeform 15"/>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FD1485"/>
            </a:solidFill>
          </p:spPr>
        </p:sp>
      </p:grpSp>
      <p:grpSp>
        <p:nvGrpSpPr>
          <p:cNvPr id="16" name="Group 16"/>
          <p:cNvGrpSpPr/>
          <p:nvPr/>
        </p:nvGrpSpPr>
        <p:grpSpPr>
          <a:xfrm>
            <a:off x="17282160" y="1563624"/>
            <a:ext cx="329184" cy="246888"/>
            <a:chOff x="0" y="0"/>
            <a:chExt cx="438912" cy="329184"/>
          </a:xfrm>
        </p:grpSpPr>
        <p:sp>
          <p:nvSpPr>
            <p:cNvPr id="17" name="Freeform 17"/>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079ED2"/>
            </a:solidFill>
          </p:spPr>
        </p:sp>
      </p:grpSp>
      <p:grpSp>
        <p:nvGrpSpPr>
          <p:cNvPr id="18" name="Group 18"/>
          <p:cNvGrpSpPr/>
          <p:nvPr/>
        </p:nvGrpSpPr>
        <p:grpSpPr>
          <a:xfrm>
            <a:off x="822960" y="8366760"/>
            <a:ext cx="329184" cy="246888"/>
            <a:chOff x="0" y="0"/>
            <a:chExt cx="438912" cy="329184"/>
          </a:xfrm>
        </p:grpSpPr>
        <p:sp>
          <p:nvSpPr>
            <p:cNvPr id="19" name="Freeform 19"/>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353334"/>
            </a:solidFill>
          </p:spPr>
        </p:sp>
      </p:grpSp>
      <p:grpSp>
        <p:nvGrpSpPr>
          <p:cNvPr id="20" name="Group 20"/>
          <p:cNvGrpSpPr/>
          <p:nvPr/>
        </p:nvGrpSpPr>
        <p:grpSpPr>
          <a:xfrm>
            <a:off x="822960" y="8613648"/>
            <a:ext cx="329184" cy="246888"/>
            <a:chOff x="0" y="0"/>
            <a:chExt cx="438912" cy="329184"/>
          </a:xfrm>
        </p:grpSpPr>
        <p:sp>
          <p:nvSpPr>
            <p:cNvPr id="21" name="Freeform 21"/>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FFB903"/>
            </a:solidFill>
          </p:spPr>
        </p:sp>
      </p:grpSp>
      <p:grpSp>
        <p:nvGrpSpPr>
          <p:cNvPr id="22" name="Group 22"/>
          <p:cNvGrpSpPr/>
          <p:nvPr/>
        </p:nvGrpSpPr>
        <p:grpSpPr>
          <a:xfrm>
            <a:off x="822960" y="8860536"/>
            <a:ext cx="329184" cy="246888"/>
            <a:chOff x="0" y="0"/>
            <a:chExt cx="438912" cy="329184"/>
          </a:xfrm>
        </p:grpSpPr>
        <p:sp>
          <p:nvSpPr>
            <p:cNvPr id="23" name="Freeform 23"/>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FD1485"/>
            </a:solidFill>
          </p:spPr>
        </p:sp>
      </p:grpSp>
      <p:grpSp>
        <p:nvGrpSpPr>
          <p:cNvPr id="24" name="Group 24"/>
          <p:cNvGrpSpPr/>
          <p:nvPr/>
        </p:nvGrpSpPr>
        <p:grpSpPr>
          <a:xfrm>
            <a:off x="822960" y="9107424"/>
            <a:ext cx="329184" cy="246888"/>
            <a:chOff x="0" y="0"/>
            <a:chExt cx="438912" cy="329184"/>
          </a:xfrm>
        </p:grpSpPr>
        <p:sp>
          <p:nvSpPr>
            <p:cNvPr id="25" name="Freeform 25"/>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079ED2"/>
            </a:solidFill>
          </p:spPr>
        </p:sp>
      </p:grpSp>
      <p:grpSp>
        <p:nvGrpSpPr>
          <p:cNvPr id="26" name="Group 26"/>
          <p:cNvGrpSpPr/>
          <p:nvPr/>
        </p:nvGrpSpPr>
        <p:grpSpPr>
          <a:xfrm>
            <a:off x="16630650" y="8901112"/>
            <a:ext cx="480060" cy="28575"/>
            <a:chOff x="0" y="0"/>
            <a:chExt cx="640080" cy="38100"/>
          </a:xfrm>
        </p:grpSpPr>
        <p:sp>
          <p:nvSpPr>
            <p:cNvPr id="27" name="Freeform 27"/>
            <p:cNvSpPr/>
            <p:nvPr/>
          </p:nvSpPr>
          <p:spPr>
            <a:xfrm>
              <a:off x="0" y="0"/>
              <a:ext cx="640080" cy="38100"/>
            </a:xfrm>
            <a:custGeom>
              <a:avLst/>
              <a:gdLst/>
              <a:ahLst/>
              <a:cxnLst/>
              <a:rect l="l" t="t" r="r" b="b"/>
              <a:pathLst>
                <a:path w="640080" h="38100">
                  <a:moveTo>
                    <a:pt x="0" y="0"/>
                  </a:moveTo>
                  <a:lnTo>
                    <a:pt x="640080" y="0"/>
                  </a:lnTo>
                  <a:lnTo>
                    <a:pt x="640080" y="38100"/>
                  </a:lnTo>
                  <a:lnTo>
                    <a:pt x="0" y="38100"/>
                  </a:lnTo>
                  <a:close/>
                </a:path>
              </a:pathLst>
            </a:custGeom>
            <a:solidFill>
              <a:srgbClr val="353334"/>
            </a:solidFill>
          </p:spPr>
        </p:sp>
      </p:grpSp>
      <p:grpSp>
        <p:nvGrpSpPr>
          <p:cNvPr id="28" name="Group 28"/>
          <p:cNvGrpSpPr/>
          <p:nvPr/>
        </p:nvGrpSpPr>
        <p:grpSpPr>
          <a:xfrm>
            <a:off x="16856392" y="8675370"/>
            <a:ext cx="28575" cy="480060"/>
            <a:chOff x="0" y="0"/>
            <a:chExt cx="38100" cy="640080"/>
          </a:xfrm>
        </p:grpSpPr>
        <p:sp>
          <p:nvSpPr>
            <p:cNvPr id="29" name="Freeform 29"/>
            <p:cNvSpPr/>
            <p:nvPr/>
          </p:nvSpPr>
          <p:spPr>
            <a:xfrm>
              <a:off x="0" y="0"/>
              <a:ext cx="38100" cy="640080"/>
            </a:xfrm>
            <a:custGeom>
              <a:avLst/>
              <a:gdLst/>
              <a:ahLst/>
              <a:cxnLst/>
              <a:rect l="l" t="t" r="r" b="b"/>
              <a:pathLst>
                <a:path w="38100" h="640080">
                  <a:moveTo>
                    <a:pt x="0" y="0"/>
                  </a:moveTo>
                  <a:lnTo>
                    <a:pt x="38100" y="0"/>
                  </a:lnTo>
                  <a:lnTo>
                    <a:pt x="38100" y="640080"/>
                  </a:lnTo>
                  <a:lnTo>
                    <a:pt x="0" y="640080"/>
                  </a:lnTo>
                  <a:close/>
                </a:path>
              </a:pathLst>
            </a:custGeom>
            <a:solidFill>
              <a:srgbClr val="353334"/>
            </a:solidFill>
          </p:spPr>
        </p:sp>
      </p:grpSp>
      <p:grpSp>
        <p:nvGrpSpPr>
          <p:cNvPr id="30" name="Group 30"/>
          <p:cNvGrpSpPr/>
          <p:nvPr/>
        </p:nvGrpSpPr>
        <p:grpSpPr>
          <a:xfrm>
            <a:off x="16788384" y="8833104"/>
            <a:ext cx="164592" cy="164592"/>
            <a:chOff x="0" y="0"/>
            <a:chExt cx="219456" cy="219456"/>
          </a:xfrm>
        </p:grpSpPr>
        <p:sp>
          <p:nvSpPr>
            <p:cNvPr id="31" name="Freeform 31"/>
            <p:cNvSpPr/>
            <p:nvPr/>
          </p:nvSpPr>
          <p:spPr>
            <a:xfrm>
              <a:off x="0" y="0"/>
              <a:ext cx="219456" cy="219456"/>
            </a:xfrm>
            <a:custGeom>
              <a:avLst/>
              <a:gdLst/>
              <a:ahLst/>
              <a:cxnLst/>
              <a:rect l="l" t="t" r="r" b="b"/>
              <a:pathLst>
                <a:path w="219456" h="219456">
                  <a:moveTo>
                    <a:pt x="0" y="0"/>
                  </a:moveTo>
                  <a:lnTo>
                    <a:pt x="219456" y="0"/>
                  </a:lnTo>
                  <a:lnTo>
                    <a:pt x="219456" y="219456"/>
                  </a:lnTo>
                  <a:lnTo>
                    <a:pt x="0" y="219456"/>
                  </a:lnTo>
                  <a:close/>
                </a:path>
              </a:pathLst>
            </a:custGeom>
            <a:solidFill>
              <a:srgbClr val="FFB903"/>
            </a:solidFill>
          </p:spPr>
        </p:sp>
      </p:grpSp>
      <p:grpSp>
        <p:nvGrpSpPr>
          <p:cNvPr id="32" name="Group 32"/>
          <p:cNvGrpSpPr/>
          <p:nvPr/>
        </p:nvGrpSpPr>
        <p:grpSpPr>
          <a:xfrm>
            <a:off x="12604432" y="945832"/>
            <a:ext cx="1537335" cy="1263015"/>
            <a:chOff x="0" y="0"/>
            <a:chExt cx="2049780" cy="1684020"/>
          </a:xfrm>
        </p:grpSpPr>
        <p:sp>
          <p:nvSpPr>
            <p:cNvPr id="33" name="Freeform 33"/>
            <p:cNvSpPr/>
            <p:nvPr/>
          </p:nvSpPr>
          <p:spPr>
            <a:xfrm>
              <a:off x="1024890" y="0"/>
              <a:ext cx="1024890" cy="842010"/>
            </a:xfrm>
            <a:custGeom>
              <a:avLst/>
              <a:gdLst/>
              <a:ahLst/>
              <a:cxnLst/>
              <a:rect l="l" t="t" r="r" b="b"/>
              <a:pathLst>
                <a:path w="1024890" h="842010">
                  <a:moveTo>
                    <a:pt x="0" y="0"/>
                  </a:moveTo>
                  <a:cubicBezTo>
                    <a:pt x="566039" y="0"/>
                    <a:pt x="1024890" y="376936"/>
                    <a:pt x="1024890" y="842010"/>
                  </a:cubicBezTo>
                  <a:lnTo>
                    <a:pt x="0" y="842010"/>
                  </a:lnTo>
                  <a:close/>
                </a:path>
              </a:pathLst>
            </a:custGeom>
            <a:blipFill>
              <a:blip r:embed="rId2">
                <a:alphaModFix amt="0"/>
              </a:blip>
              <a:stretch>
                <a:fillRect l="-210818" r="-110818" b="-99999"/>
              </a:stretch>
            </a:blipFill>
            <a:ln w="28575" cap="sq">
              <a:solidFill>
                <a:srgbClr val="079ED2"/>
              </a:solidFill>
              <a:prstDash val="solid"/>
              <a:miter/>
            </a:ln>
          </p:spPr>
        </p:sp>
        <p:sp>
          <p:nvSpPr>
            <p:cNvPr id="34" name="Freeform 34"/>
            <p:cNvSpPr/>
            <p:nvPr/>
          </p:nvSpPr>
          <p:spPr>
            <a:xfrm>
              <a:off x="1024890" y="0"/>
              <a:ext cx="1024890" cy="842010"/>
            </a:xfrm>
            <a:custGeom>
              <a:avLst/>
              <a:gdLst/>
              <a:ahLst/>
              <a:cxnLst/>
              <a:rect l="l" t="t" r="r" b="b"/>
              <a:pathLst>
                <a:path w="1024890" h="842010">
                  <a:moveTo>
                    <a:pt x="0" y="0"/>
                  </a:moveTo>
                  <a:cubicBezTo>
                    <a:pt x="566039" y="0"/>
                    <a:pt x="1024890" y="376936"/>
                    <a:pt x="1024890" y="842010"/>
                  </a:cubicBezTo>
                </a:path>
              </a:pathLst>
            </a:custGeom>
            <a:blipFill>
              <a:blip r:embed="rId2">
                <a:alphaModFix amt="0"/>
              </a:blip>
              <a:stretch>
                <a:fillRect l="-210818" r="-110818" b="-99999"/>
              </a:stretch>
            </a:blipFill>
            <a:ln w="28575" cap="sq">
              <a:solidFill>
                <a:srgbClr val="079ED2"/>
              </a:solidFill>
              <a:prstDash val="solid"/>
              <a:miter/>
            </a:ln>
          </p:spPr>
        </p:sp>
      </p:grpSp>
      <p:grpSp>
        <p:nvGrpSpPr>
          <p:cNvPr id="35" name="Group 35"/>
          <p:cNvGrpSpPr/>
          <p:nvPr/>
        </p:nvGrpSpPr>
        <p:grpSpPr>
          <a:xfrm>
            <a:off x="12543663" y="1502283"/>
            <a:ext cx="150114" cy="150114"/>
            <a:chOff x="0" y="0"/>
            <a:chExt cx="200152" cy="200152"/>
          </a:xfrm>
        </p:grpSpPr>
        <p:sp>
          <p:nvSpPr>
            <p:cNvPr id="36" name="Freeform 36"/>
            <p:cNvSpPr/>
            <p:nvPr/>
          </p:nvSpPr>
          <p:spPr>
            <a:xfrm>
              <a:off x="0" y="0"/>
              <a:ext cx="200152" cy="200152"/>
            </a:xfrm>
            <a:custGeom>
              <a:avLst/>
              <a:gdLst/>
              <a:ahLst/>
              <a:cxnLst/>
              <a:rect l="l" t="t" r="r" b="b"/>
              <a:pathLst>
                <a:path w="200152" h="200152">
                  <a:moveTo>
                    <a:pt x="0" y="0"/>
                  </a:moveTo>
                  <a:lnTo>
                    <a:pt x="200152" y="0"/>
                  </a:lnTo>
                  <a:lnTo>
                    <a:pt x="200152" y="200152"/>
                  </a:lnTo>
                  <a:lnTo>
                    <a:pt x="0" y="200152"/>
                  </a:lnTo>
                  <a:close/>
                </a:path>
              </a:pathLst>
            </a:custGeom>
            <a:solidFill>
              <a:srgbClr val="FFFFFF"/>
            </a:solidFill>
            <a:ln w="26670" cap="sq">
              <a:solidFill>
                <a:srgbClr val="FD1485"/>
              </a:solidFill>
              <a:prstDash val="solid"/>
              <a:miter/>
            </a:ln>
          </p:spPr>
        </p:sp>
      </p:grpSp>
      <p:grpSp>
        <p:nvGrpSpPr>
          <p:cNvPr id="37" name="Group 37"/>
          <p:cNvGrpSpPr/>
          <p:nvPr/>
        </p:nvGrpSpPr>
        <p:grpSpPr>
          <a:xfrm>
            <a:off x="14052423" y="885063"/>
            <a:ext cx="150114" cy="150114"/>
            <a:chOff x="0" y="0"/>
            <a:chExt cx="200152" cy="200152"/>
          </a:xfrm>
        </p:grpSpPr>
        <p:sp>
          <p:nvSpPr>
            <p:cNvPr id="38" name="Freeform 38"/>
            <p:cNvSpPr/>
            <p:nvPr/>
          </p:nvSpPr>
          <p:spPr>
            <a:xfrm>
              <a:off x="0" y="0"/>
              <a:ext cx="200152" cy="200152"/>
            </a:xfrm>
            <a:custGeom>
              <a:avLst/>
              <a:gdLst/>
              <a:ahLst/>
              <a:cxnLst/>
              <a:rect l="l" t="t" r="r" b="b"/>
              <a:pathLst>
                <a:path w="200152" h="200152">
                  <a:moveTo>
                    <a:pt x="0" y="0"/>
                  </a:moveTo>
                  <a:lnTo>
                    <a:pt x="200152" y="0"/>
                  </a:lnTo>
                  <a:lnTo>
                    <a:pt x="200152" y="200152"/>
                  </a:lnTo>
                  <a:lnTo>
                    <a:pt x="0" y="200152"/>
                  </a:lnTo>
                  <a:close/>
                </a:path>
              </a:pathLst>
            </a:custGeom>
            <a:solidFill>
              <a:srgbClr val="FFFFFF"/>
            </a:solidFill>
            <a:ln w="26670" cap="sq">
              <a:solidFill>
                <a:srgbClr val="FD1485"/>
              </a:solidFill>
              <a:prstDash val="solid"/>
              <a:miter/>
            </a:ln>
          </p:spPr>
        </p:sp>
      </p:grpSp>
      <p:grpSp>
        <p:nvGrpSpPr>
          <p:cNvPr id="39" name="Group 39"/>
          <p:cNvGrpSpPr/>
          <p:nvPr/>
        </p:nvGrpSpPr>
        <p:grpSpPr>
          <a:xfrm>
            <a:off x="2468880" y="2167128"/>
            <a:ext cx="14127480" cy="28575"/>
            <a:chOff x="0" y="0"/>
            <a:chExt cx="18836640" cy="38100"/>
          </a:xfrm>
        </p:grpSpPr>
        <p:sp>
          <p:nvSpPr>
            <p:cNvPr id="40" name="Freeform 40"/>
            <p:cNvSpPr/>
            <p:nvPr/>
          </p:nvSpPr>
          <p:spPr>
            <a:xfrm>
              <a:off x="0" y="0"/>
              <a:ext cx="18836639" cy="38100"/>
            </a:xfrm>
            <a:custGeom>
              <a:avLst/>
              <a:gdLst/>
              <a:ahLst/>
              <a:cxnLst/>
              <a:rect l="l" t="t" r="r" b="b"/>
              <a:pathLst>
                <a:path w="18836639" h="38100">
                  <a:moveTo>
                    <a:pt x="0" y="0"/>
                  </a:moveTo>
                  <a:lnTo>
                    <a:pt x="18836639" y="0"/>
                  </a:lnTo>
                  <a:lnTo>
                    <a:pt x="18836639" y="38100"/>
                  </a:lnTo>
                  <a:lnTo>
                    <a:pt x="0" y="38100"/>
                  </a:lnTo>
                  <a:close/>
                </a:path>
              </a:pathLst>
            </a:custGeom>
            <a:solidFill>
              <a:srgbClr val="353334"/>
            </a:solidFill>
          </p:spPr>
        </p:sp>
      </p:grpSp>
      <p:grpSp>
        <p:nvGrpSpPr>
          <p:cNvPr id="41" name="Group 41"/>
          <p:cNvGrpSpPr/>
          <p:nvPr/>
        </p:nvGrpSpPr>
        <p:grpSpPr>
          <a:xfrm>
            <a:off x="2937510" y="2814066"/>
            <a:ext cx="2423160" cy="406908"/>
            <a:chOff x="0" y="0"/>
            <a:chExt cx="3230880" cy="542544"/>
          </a:xfrm>
        </p:grpSpPr>
        <p:sp>
          <p:nvSpPr>
            <p:cNvPr id="42" name="Freeform 42"/>
            <p:cNvSpPr/>
            <p:nvPr/>
          </p:nvSpPr>
          <p:spPr>
            <a:xfrm>
              <a:off x="0" y="0"/>
              <a:ext cx="3230880" cy="542544"/>
            </a:xfrm>
            <a:custGeom>
              <a:avLst/>
              <a:gdLst/>
              <a:ahLst/>
              <a:cxnLst/>
              <a:rect l="l" t="t" r="r" b="b"/>
              <a:pathLst>
                <a:path w="3230880" h="542544">
                  <a:moveTo>
                    <a:pt x="0" y="271272"/>
                  </a:moveTo>
                  <a:cubicBezTo>
                    <a:pt x="0" y="121412"/>
                    <a:pt x="121412" y="0"/>
                    <a:pt x="271272" y="0"/>
                  </a:cubicBezTo>
                  <a:lnTo>
                    <a:pt x="2959608" y="0"/>
                  </a:lnTo>
                  <a:cubicBezTo>
                    <a:pt x="3109468" y="0"/>
                    <a:pt x="3230880" y="121412"/>
                    <a:pt x="3230880" y="271272"/>
                  </a:cubicBezTo>
                  <a:cubicBezTo>
                    <a:pt x="3230880" y="421132"/>
                    <a:pt x="3109468" y="542544"/>
                    <a:pt x="2959608" y="542544"/>
                  </a:cubicBezTo>
                  <a:lnTo>
                    <a:pt x="271272" y="542544"/>
                  </a:lnTo>
                  <a:cubicBezTo>
                    <a:pt x="121412" y="542544"/>
                    <a:pt x="0" y="421132"/>
                    <a:pt x="0" y="271272"/>
                  </a:cubicBezTo>
                  <a:close/>
                </a:path>
              </a:pathLst>
            </a:custGeom>
            <a:solidFill>
              <a:srgbClr val="353334"/>
            </a:solidFill>
            <a:ln w="22860" cap="sq">
              <a:solidFill>
                <a:srgbClr val="353334"/>
              </a:solidFill>
              <a:prstDash val="solid"/>
              <a:miter/>
            </a:ln>
          </p:spPr>
        </p:sp>
        <p:sp>
          <p:nvSpPr>
            <p:cNvPr id="43" name="TextBox 43"/>
            <p:cNvSpPr txBox="1"/>
            <p:nvPr/>
          </p:nvSpPr>
          <p:spPr>
            <a:xfrm>
              <a:off x="0" y="-19050"/>
              <a:ext cx="3230880" cy="561594"/>
            </a:xfrm>
            <a:prstGeom prst="rect">
              <a:avLst/>
            </a:prstGeom>
          </p:spPr>
          <p:txBody>
            <a:bodyPr lIns="50800" tIns="50800" rIns="50800" bIns="50800" rtlCol="0" anchor="ctr"/>
            <a:lstStyle/>
            <a:p>
              <a:pPr algn="ctr">
                <a:lnSpc>
                  <a:spcPts val="1530"/>
                </a:lnSpc>
              </a:pPr>
              <a:r>
                <a:rPr lang="en-US" sz="1275" b="1">
                  <a:solidFill>
                    <a:srgbClr val="FFFFFF"/>
                  </a:solidFill>
                  <a:latin typeface="Arimo Bold"/>
                  <a:ea typeface="Arimo Bold"/>
                  <a:cs typeface="Arimo Bold"/>
                  <a:sym typeface="Arimo Bold"/>
                </a:rPr>
                <a:t>SYSTEM DIAGRAM</a:t>
              </a:r>
            </a:p>
          </p:txBody>
        </p:sp>
      </p:grpSp>
      <p:grpSp>
        <p:nvGrpSpPr>
          <p:cNvPr id="44" name="Group 44"/>
          <p:cNvGrpSpPr/>
          <p:nvPr/>
        </p:nvGrpSpPr>
        <p:grpSpPr>
          <a:xfrm>
            <a:off x="3936850" y="3306699"/>
            <a:ext cx="11191539" cy="7125172"/>
            <a:chOff x="0" y="0"/>
            <a:chExt cx="1985929" cy="1264356"/>
          </a:xfrm>
        </p:grpSpPr>
        <p:sp>
          <p:nvSpPr>
            <p:cNvPr id="45" name="Freeform 45"/>
            <p:cNvSpPr/>
            <p:nvPr/>
          </p:nvSpPr>
          <p:spPr>
            <a:xfrm>
              <a:off x="0" y="0"/>
              <a:ext cx="1985929" cy="1264356"/>
            </a:xfrm>
            <a:custGeom>
              <a:avLst/>
              <a:gdLst/>
              <a:ahLst/>
              <a:cxnLst/>
              <a:rect l="l" t="t" r="r" b="b"/>
              <a:pathLst>
                <a:path w="1985929" h="1264356">
                  <a:moveTo>
                    <a:pt x="0" y="0"/>
                  </a:moveTo>
                  <a:lnTo>
                    <a:pt x="1985929" y="0"/>
                  </a:lnTo>
                  <a:lnTo>
                    <a:pt x="1985929" y="1264356"/>
                  </a:lnTo>
                  <a:lnTo>
                    <a:pt x="0" y="1264356"/>
                  </a:lnTo>
                  <a:close/>
                </a:path>
              </a:pathLst>
            </a:custGeom>
            <a:blipFill>
              <a:blip r:embed="rId3"/>
              <a:stretch>
                <a:fillRect t="-2356" b="-2356"/>
              </a:stretch>
            </a:blipFill>
          </p:spPr>
        </p:sp>
      </p:grpSp>
      <p:sp>
        <p:nvSpPr>
          <p:cNvPr id="46" name="TextBox 46"/>
          <p:cNvSpPr txBox="1"/>
          <p:nvPr/>
        </p:nvSpPr>
        <p:spPr>
          <a:xfrm>
            <a:off x="2468880" y="566547"/>
            <a:ext cx="12344400" cy="421005"/>
          </a:xfrm>
          <a:prstGeom prst="rect">
            <a:avLst/>
          </a:prstGeom>
        </p:spPr>
        <p:txBody>
          <a:bodyPr lIns="0" tIns="0" rIns="0" bIns="0" rtlCol="0" anchor="t">
            <a:spAutoFit/>
          </a:bodyPr>
          <a:lstStyle/>
          <a:p>
            <a:pPr algn="l">
              <a:lnSpc>
                <a:spcPts val="1889"/>
              </a:lnSpc>
            </a:pPr>
            <a:r>
              <a:rPr lang="en-US" sz="1575" b="1">
                <a:solidFill>
                  <a:srgbClr val="353334"/>
                </a:solidFill>
                <a:latin typeface="Arimo Bold"/>
                <a:ea typeface="Arimo Bold"/>
                <a:cs typeface="Arimo Bold"/>
                <a:sym typeface="Arimo Bold"/>
              </a:rPr>
              <a:t>DATAQUEST 3.0  ·  ROUND 1</a:t>
            </a:r>
          </a:p>
        </p:txBody>
      </p:sp>
      <p:sp>
        <p:nvSpPr>
          <p:cNvPr id="47" name="TextBox 47"/>
          <p:cNvSpPr txBox="1"/>
          <p:nvPr/>
        </p:nvSpPr>
        <p:spPr>
          <a:xfrm>
            <a:off x="2468880" y="913638"/>
            <a:ext cx="13716000" cy="1184910"/>
          </a:xfrm>
          <a:prstGeom prst="rect">
            <a:avLst/>
          </a:prstGeom>
        </p:spPr>
        <p:txBody>
          <a:bodyPr lIns="0" tIns="0" rIns="0" bIns="0" rtlCol="0" anchor="t">
            <a:spAutoFit/>
          </a:bodyPr>
          <a:lstStyle/>
          <a:p>
            <a:pPr algn="l">
              <a:lnSpc>
                <a:spcPts val="5759"/>
              </a:lnSpc>
            </a:pPr>
            <a:r>
              <a:rPr lang="en-US" sz="4800" b="1">
                <a:solidFill>
                  <a:srgbClr val="FD1485"/>
                </a:solidFill>
                <a:latin typeface="Arimo Bold"/>
                <a:ea typeface="Arimo Bold"/>
                <a:cs typeface="Arimo Bold"/>
                <a:sym typeface="Arimo Bold"/>
              </a:rPr>
              <a:t>04  </a:t>
            </a:r>
            <a:r>
              <a:rPr lang="en-US" sz="4800" b="1">
                <a:solidFill>
                  <a:srgbClr val="353334"/>
                </a:solidFill>
                <a:latin typeface="Arimo Bold"/>
                <a:ea typeface="Arimo Bold"/>
                <a:cs typeface="Arimo Bold"/>
                <a:sym typeface="Arimo Bold"/>
              </a:rPr>
              <a:t>System Architecture</a:t>
            </a:r>
          </a:p>
        </p:txBody>
      </p:sp>
      <p:sp>
        <p:nvSpPr>
          <p:cNvPr id="48" name="TextBox 48"/>
          <p:cNvSpPr txBox="1"/>
          <p:nvPr/>
        </p:nvSpPr>
        <p:spPr>
          <a:xfrm>
            <a:off x="2468880" y="2257806"/>
            <a:ext cx="14127480" cy="499110"/>
          </a:xfrm>
          <a:prstGeom prst="rect">
            <a:avLst/>
          </a:prstGeom>
        </p:spPr>
        <p:txBody>
          <a:bodyPr lIns="0" tIns="0" rIns="0" bIns="0" rtlCol="0" anchor="t">
            <a:spAutoFit/>
          </a:bodyPr>
          <a:lstStyle/>
          <a:p>
            <a:pPr algn="l">
              <a:lnSpc>
                <a:spcPts val="1980"/>
              </a:lnSpc>
            </a:pPr>
            <a:r>
              <a:rPr lang="en-US" sz="1650">
                <a:solidFill>
                  <a:srgbClr val="6E6E73"/>
                </a:solidFill>
                <a:latin typeface="Arimo"/>
                <a:ea typeface="Arimo"/>
                <a:cs typeface="Arimo"/>
                <a:sym typeface="Arimo"/>
              </a:rPr>
              <a:t>System diagram is the primary visual · Engineering decisions · Validation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7543" cy="10287000"/>
            <a:chOff x="0" y="0"/>
            <a:chExt cx="24383390" cy="13716000"/>
          </a:xfrm>
        </p:grpSpPr>
        <p:sp>
          <p:nvSpPr>
            <p:cNvPr id="3" name="Freeform 3"/>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close/>
                </a:path>
              </a:pathLst>
            </a:custGeom>
            <a:solidFill>
              <a:srgbClr val="FFFFF1"/>
            </a:solidFill>
          </p:spPr>
        </p:sp>
      </p:grpSp>
      <p:grpSp>
        <p:nvGrpSpPr>
          <p:cNvPr id="4" name="Group 4"/>
          <p:cNvGrpSpPr/>
          <p:nvPr/>
        </p:nvGrpSpPr>
        <p:grpSpPr>
          <a:xfrm>
            <a:off x="-274320" y="1577340"/>
            <a:ext cx="1577340" cy="493776"/>
            <a:chOff x="0" y="0"/>
            <a:chExt cx="2103120" cy="658368"/>
          </a:xfrm>
        </p:grpSpPr>
        <p:sp>
          <p:nvSpPr>
            <p:cNvPr id="5" name="Freeform 5"/>
            <p:cNvSpPr/>
            <p:nvPr/>
          </p:nvSpPr>
          <p:spPr>
            <a:xfrm>
              <a:off x="0" y="0"/>
              <a:ext cx="2103120" cy="658368"/>
            </a:xfrm>
            <a:custGeom>
              <a:avLst/>
              <a:gdLst/>
              <a:ahLst/>
              <a:cxnLst/>
              <a:rect l="l" t="t" r="r" b="b"/>
              <a:pathLst>
                <a:path w="2103120" h="658368">
                  <a:moveTo>
                    <a:pt x="0" y="329184"/>
                  </a:moveTo>
                  <a:cubicBezTo>
                    <a:pt x="0" y="147320"/>
                    <a:pt x="147320" y="0"/>
                    <a:pt x="329184" y="0"/>
                  </a:cubicBezTo>
                  <a:lnTo>
                    <a:pt x="1773936" y="0"/>
                  </a:lnTo>
                  <a:cubicBezTo>
                    <a:pt x="1955800" y="0"/>
                    <a:pt x="2103120" y="147320"/>
                    <a:pt x="2103120" y="329184"/>
                  </a:cubicBezTo>
                  <a:cubicBezTo>
                    <a:pt x="2103120" y="511048"/>
                    <a:pt x="1955800" y="658368"/>
                    <a:pt x="1773936" y="658368"/>
                  </a:cubicBezTo>
                  <a:lnTo>
                    <a:pt x="329184" y="658368"/>
                  </a:lnTo>
                  <a:cubicBezTo>
                    <a:pt x="147320" y="658368"/>
                    <a:pt x="0" y="511048"/>
                    <a:pt x="0" y="329184"/>
                  </a:cubicBezTo>
                  <a:close/>
                </a:path>
              </a:pathLst>
            </a:custGeom>
            <a:solidFill>
              <a:srgbClr val="FFB903"/>
            </a:solidFill>
          </p:spPr>
        </p:sp>
      </p:grpSp>
      <p:grpSp>
        <p:nvGrpSpPr>
          <p:cNvPr id="6" name="Group 6"/>
          <p:cNvGrpSpPr/>
          <p:nvPr/>
        </p:nvGrpSpPr>
        <p:grpSpPr>
          <a:xfrm>
            <a:off x="-274320" y="2180844"/>
            <a:ext cx="2194560" cy="493776"/>
            <a:chOff x="0" y="0"/>
            <a:chExt cx="2926080" cy="658368"/>
          </a:xfrm>
        </p:grpSpPr>
        <p:sp>
          <p:nvSpPr>
            <p:cNvPr id="7" name="Freeform 7"/>
            <p:cNvSpPr/>
            <p:nvPr/>
          </p:nvSpPr>
          <p:spPr>
            <a:xfrm>
              <a:off x="0" y="0"/>
              <a:ext cx="2926080" cy="658368"/>
            </a:xfrm>
            <a:custGeom>
              <a:avLst/>
              <a:gdLst/>
              <a:ahLst/>
              <a:cxnLst/>
              <a:rect l="l" t="t" r="r" b="b"/>
              <a:pathLst>
                <a:path w="2926080" h="658368">
                  <a:moveTo>
                    <a:pt x="0" y="329184"/>
                  </a:moveTo>
                  <a:cubicBezTo>
                    <a:pt x="0" y="147320"/>
                    <a:pt x="147320" y="0"/>
                    <a:pt x="329184" y="0"/>
                  </a:cubicBezTo>
                  <a:lnTo>
                    <a:pt x="2596896" y="0"/>
                  </a:lnTo>
                  <a:cubicBezTo>
                    <a:pt x="2778760" y="0"/>
                    <a:pt x="2926080" y="147320"/>
                    <a:pt x="2926080" y="329184"/>
                  </a:cubicBezTo>
                  <a:cubicBezTo>
                    <a:pt x="2926080" y="511048"/>
                    <a:pt x="2778760" y="658368"/>
                    <a:pt x="2596896" y="658368"/>
                  </a:cubicBezTo>
                  <a:lnTo>
                    <a:pt x="329184" y="658368"/>
                  </a:lnTo>
                  <a:cubicBezTo>
                    <a:pt x="147320" y="658368"/>
                    <a:pt x="0" y="511048"/>
                    <a:pt x="0" y="329184"/>
                  </a:cubicBezTo>
                  <a:close/>
                </a:path>
              </a:pathLst>
            </a:custGeom>
            <a:solidFill>
              <a:srgbClr val="079ED2"/>
            </a:solidFill>
          </p:spPr>
        </p:sp>
      </p:grpSp>
      <p:grpSp>
        <p:nvGrpSpPr>
          <p:cNvPr id="8" name="Group 8"/>
          <p:cNvGrpSpPr/>
          <p:nvPr/>
        </p:nvGrpSpPr>
        <p:grpSpPr>
          <a:xfrm>
            <a:off x="-274320" y="2784348"/>
            <a:ext cx="1577340" cy="493776"/>
            <a:chOff x="0" y="0"/>
            <a:chExt cx="2103120" cy="658368"/>
          </a:xfrm>
        </p:grpSpPr>
        <p:sp>
          <p:nvSpPr>
            <p:cNvPr id="9" name="Freeform 9"/>
            <p:cNvSpPr/>
            <p:nvPr/>
          </p:nvSpPr>
          <p:spPr>
            <a:xfrm>
              <a:off x="0" y="0"/>
              <a:ext cx="2103120" cy="658368"/>
            </a:xfrm>
            <a:custGeom>
              <a:avLst/>
              <a:gdLst/>
              <a:ahLst/>
              <a:cxnLst/>
              <a:rect l="l" t="t" r="r" b="b"/>
              <a:pathLst>
                <a:path w="2103120" h="658368">
                  <a:moveTo>
                    <a:pt x="0" y="329184"/>
                  </a:moveTo>
                  <a:cubicBezTo>
                    <a:pt x="0" y="147320"/>
                    <a:pt x="147320" y="0"/>
                    <a:pt x="329184" y="0"/>
                  </a:cubicBezTo>
                  <a:lnTo>
                    <a:pt x="1773936" y="0"/>
                  </a:lnTo>
                  <a:cubicBezTo>
                    <a:pt x="1955800" y="0"/>
                    <a:pt x="2103120" y="147320"/>
                    <a:pt x="2103120" y="329184"/>
                  </a:cubicBezTo>
                  <a:cubicBezTo>
                    <a:pt x="2103120" y="511048"/>
                    <a:pt x="1955800" y="658368"/>
                    <a:pt x="1773936" y="658368"/>
                  </a:cubicBezTo>
                  <a:lnTo>
                    <a:pt x="329184" y="658368"/>
                  </a:lnTo>
                  <a:cubicBezTo>
                    <a:pt x="147320" y="658368"/>
                    <a:pt x="0" y="511048"/>
                    <a:pt x="0" y="329184"/>
                  </a:cubicBezTo>
                  <a:close/>
                </a:path>
              </a:pathLst>
            </a:custGeom>
            <a:solidFill>
              <a:srgbClr val="FD1485"/>
            </a:solidFill>
          </p:spPr>
        </p:sp>
      </p:grpSp>
      <p:grpSp>
        <p:nvGrpSpPr>
          <p:cNvPr id="10" name="Group 10"/>
          <p:cNvGrpSpPr/>
          <p:nvPr/>
        </p:nvGrpSpPr>
        <p:grpSpPr>
          <a:xfrm>
            <a:off x="17282160" y="822960"/>
            <a:ext cx="329184" cy="246888"/>
            <a:chOff x="0" y="0"/>
            <a:chExt cx="438912" cy="329184"/>
          </a:xfrm>
        </p:grpSpPr>
        <p:sp>
          <p:nvSpPr>
            <p:cNvPr id="11" name="Freeform 11"/>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353334"/>
            </a:solidFill>
          </p:spPr>
        </p:sp>
      </p:grpSp>
      <p:grpSp>
        <p:nvGrpSpPr>
          <p:cNvPr id="12" name="Group 12"/>
          <p:cNvGrpSpPr/>
          <p:nvPr/>
        </p:nvGrpSpPr>
        <p:grpSpPr>
          <a:xfrm>
            <a:off x="17282160" y="1069848"/>
            <a:ext cx="329184" cy="246888"/>
            <a:chOff x="0" y="0"/>
            <a:chExt cx="438912" cy="329184"/>
          </a:xfrm>
        </p:grpSpPr>
        <p:sp>
          <p:nvSpPr>
            <p:cNvPr id="13" name="Freeform 13"/>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FFB903"/>
            </a:solidFill>
          </p:spPr>
        </p:sp>
      </p:grpSp>
      <p:grpSp>
        <p:nvGrpSpPr>
          <p:cNvPr id="14" name="Group 14"/>
          <p:cNvGrpSpPr/>
          <p:nvPr/>
        </p:nvGrpSpPr>
        <p:grpSpPr>
          <a:xfrm>
            <a:off x="17282160" y="1316736"/>
            <a:ext cx="329184" cy="246888"/>
            <a:chOff x="0" y="0"/>
            <a:chExt cx="438912" cy="329184"/>
          </a:xfrm>
        </p:grpSpPr>
        <p:sp>
          <p:nvSpPr>
            <p:cNvPr id="15" name="Freeform 15"/>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FD1485"/>
            </a:solidFill>
          </p:spPr>
        </p:sp>
      </p:grpSp>
      <p:grpSp>
        <p:nvGrpSpPr>
          <p:cNvPr id="16" name="Group 16"/>
          <p:cNvGrpSpPr/>
          <p:nvPr/>
        </p:nvGrpSpPr>
        <p:grpSpPr>
          <a:xfrm>
            <a:off x="17282160" y="1563624"/>
            <a:ext cx="329184" cy="246888"/>
            <a:chOff x="0" y="0"/>
            <a:chExt cx="438912" cy="329184"/>
          </a:xfrm>
        </p:grpSpPr>
        <p:sp>
          <p:nvSpPr>
            <p:cNvPr id="17" name="Freeform 17"/>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079ED2"/>
            </a:solidFill>
          </p:spPr>
        </p:sp>
      </p:grpSp>
      <p:grpSp>
        <p:nvGrpSpPr>
          <p:cNvPr id="18" name="Group 18"/>
          <p:cNvGrpSpPr/>
          <p:nvPr/>
        </p:nvGrpSpPr>
        <p:grpSpPr>
          <a:xfrm>
            <a:off x="822960" y="8366760"/>
            <a:ext cx="329184" cy="246888"/>
            <a:chOff x="0" y="0"/>
            <a:chExt cx="438912" cy="329184"/>
          </a:xfrm>
        </p:grpSpPr>
        <p:sp>
          <p:nvSpPr>
            <p:cNvPr id="19" name="Freeform 19"/>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353334"/>
            </a:solidFill>
          </p:spPr>
        </p:sp>
      </p:grpSp>
      <p:grpSp>
        <p:nvGrpSpPr>
          <p:cNvPr id="20" name="Group 20"/>
          <p:cNvGrpSpPr/>
          <p:nvPr/>
        </p:nvGrpSpPr>
        <p:grpSpPr>
          <a:xfrm>
            <a:off x="822960" y="8613648"/>
            <a:ext cx="329184" cy="246888"/>
            <a:chOff x="0" y="0"/>
            <a:chExt cx="438912" cy="329184"/>
          </a:xfrm>
        </p:grpSpPr>
        <p:sp>
          <p:nvSpPr>
            <p:cNvPr id="21" name="Freeform 21"/>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FFB903"/>
            </a:solidFill>
          </p:spPr>
        </p:sp>
      </p:grpSp>
      <p:grpSp>
        <p:nvGrpSpPr>
          <p:cNvPr id="22" name="Group 22"/>
          <p:cNvGrpSpPr/>
          <p:nvPr/>
        </p:nvGrpSpPr>
        <p:grpSpPr>
          <a:xfrm>
            <a:off x="822960" y="8860536"/>
            <a:ext cx="329184" cy="246888"/>
            <a:chOff x="0" y="0"/>
            <a:chExt cx="438912" cy="329184"/>
          </a:xfrm>
        </p:grpSpPr>
        <p:sp>
          <p:nvSpPr>
            <p:cNvPr id="23" name="Freeform 23"/>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FD1485"/>
            </a:solidFill>
          </p:spPr>
        </p:sp>
      </p:grpSp>
      <p:grpSp>
        <p:nvGrpSpPr>
          <p:cNvPr id="24" name="Group 24"/>
          <p:cNvGrpSpPr/>
          <p:nvPr/>
        </p:nvGrpSpPr>
        <p:grpSpPr>
          <a:xfrm>
            <a:off x="822960" y="9107424"/>
            <a:ext cx="329184" cy="246888"/>
            <a:chOff x="0" y="0"/>
            <a:chExt cx="438912" cy="329184"/>
          </a:xfrm>
        </p:grpSpPr>
        <p:sp>
          <p:nvSpPr>
            <p:cNvPr id="25" name="Freeform 25"/>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079ED2"/>
            </a:solidFill>
          </p:spPr>
        </p:sp>
      </p:grpSp>
      <p:grpSp>
        <p:nvGrpSpPr>
          <p:cNvPr id="26" name="Group 26"/>
          <p:cNvGrpSpPr/>
          <p:nvPr/>
        </p:nvGrpSpPr>
        <p:grpSpPr>
          <a:xfrm>
            <a:off x="16630650" y="8901112"/>
            <a:ext cx="480060" cy="28575"/>
            <a:chOff x="0" y="0"/>
            <a:chExt cx="640080" cy="38100"/>
          </a:xfrm>
        </p:grpSpPr>
        <p:sp>
          <p:nvSpPr>
            <p:cNvPr id="27" name="Freeform 27"/>
            <p:cNvSpPr/>
            <p:nvPr/>
          </p:nvSpPr>
          <p:spPr>
            <a:xfrm>
              <a:off x="0" y="0"/>
              <a:ext cx="640080" cy="38100"/>
            </a:xfrm>
            <a:custGeom>
              <a:avLst/>
              <a:gdLst/>
              <a:ahLst/>
              <a:cxnLst/>
              <a:rect l="l" t="t" r="r" b="b"/>
              <a:pathLst>
                <a:path w="640080" h="38100">
                  <a:moveTo>
                    <a:pt x="0" y="0"/>
                  </a:moveTo>
                  <a:lnTo>
                    <a:pt x="640080" y="0"/>
                  </a:lnTo>
                  <a:lnTo>
                    <a:pt x="640080" y="38100"/>
                  </a:lnTo>
                  <a:lnTo>
                    <a:pt x="0" y="38100"/>
                  </a:lnTo>
                  <a:close/>
                </a:path>
              </a:pathLst>
            </a:custGeom>
            <a:solidFill>
              <a:srgbClr val="353334"/>
            </a:solidFill>
          </p:spPr>
        </p:sp>
      </p:grpSp>
      <p:grpSp>
        <p:nvGrpSpPr>
          <p:cNvPr id="28" name="Group 28"/>
          <p:cNvGrpSpPr/>
          <p:nvPr/>
        </p:nvGrpSpPr>
        <p:grpSpPr>
          <a:xfrm>
            <a:off x="16856392" y="8675370"/>
            <a:ext cx="28575" cy="480060"/>
            <a:chOff x="0" y="0"/>
            <a:chExt cx="38100" cy="640080"/>
          </a:xfrm>
        </p:grpSpPr>
        <p:sp>
          <p:nvSpPr>
            <p:cNvPr id="29" name="Freeform 29"/>
            <p:cNvSpPr/>
            <p:nvPr/>
          </p:nvSpPr>
          <p:spPr>
            <a:xfrm>
              <a:off x="0" y="0"/>
              <a:ext cx="38100" cy="640080"/>
            </a:xfrm>
            <a:custGeom>
              <a:avLst/>
              <a:gdLst/>
              <a:ahLst/>
              <a:cxnLst/>
              <a:rect l="l" t="t" r="r" b="b"/>
              <a:pathLst>
                <a:path w="38100" h="640080">
                  <a:moveTo>
                    <a:pt x="0" y="0"/>
                  </a:moveTo>
                  <a:lnTo>
                    <a:pt x="38100" y="0"/>
                  </a:lnTo>
                  <a:lnTo>
                    <a:pt x="38100" y="640080"/>
                  </a:lnTo>
                  <a:lnTo>
                    <a:pt x="0" y="640080"/>
                  </a:lnTo>
                  <a:close/>
                </a:path>
              </a:pathLst>
            </a:custGeom>
            <a:solidFill>
              <a:srgbClr val="353334"/>
            </a:solidFill>
          </p:spPr>
        </p:sp>
      </p:grpSp>
      <p:grpSp>
        <p:nvGrpSpPr>
          <p:cNvPr id="30" name="Group 30"/>
          <p:cNvGrpSpPr/>
          <p:nvPr/>
        </p:nvGrpSpPr>
        <p:grpSpPr>
          <a:xfrm>
            <a:off x="16788384" y="8833104"/>
            <a:ext cx="164592" cy="164592"/>
            <a:chOff x="0" y="0"/>
            <a:chExt cx="219456" cy="219456"/>
          </a:xfrm>
        </p:grpSpPr>
        <p:sp>
          <p:nvSpPr>
            <p:cNvPr id="31" name="Freeform 31"/>
            <p:cNvSpPr/>
            <p:nvPr/>
          </p:nvSpPr>
          <p:spPr>
            <a:xfrm>
              <a:off x="0" y="0"/>
              <a:ext cx="219456" cy="219456"/>
            </a:xfrm>
            <a:custGeom>
              <a:avLst/>
              <a:gdLst/>
              <a:ahLst/>
              <a:cxnLst/>
              <a:rect l="l" t="t" r="r" b="b"/>
              <a:pathLst>
                <a:path w="219456" h="219456">
                  <a:moveTo>
                    <a:pt x="0" y="0"/>
                  </a:moveTo>
                  <a:lnTo>
                    <a:pt x="219456" y="0"/>
                  </a:lnTo>
                  <a:lnTo>
                    <a:pt x="219456" y="219456"/>
                  </a:lnTo>
                  <a:lnTo>
                    <a:pt x="0" y="219456"/>
                  </a:lnTo>
                  <a:close/>
                </a:path>
              </a:pathLst>
            </a:custGeom>
            <a:solidFill>
              <a:srgbClr val="FFB903"/>
            </a:solidFill>
          </p:spPr>
        </p:sp>
      </p:grpSp>
      <p:grpSp>
        <p:nvGrpSpPr>
          <p:cNvPr id="32" name="Group 32"/>
          <p:cNvGrpSpPr/>
          <p:nvPr/>
        </p:nvGrpSpPr>
        <p:grpSpPr>
          <a:xfrm>
            <a:off x="12604432" y="945832"/>
            <a:ext cx="1537335" cy="1263015"/>
            <a:chOff x="0" y="0"/>
            <a:chExt cx="2049780" cy="1684020"/>
          </a:xfrm>
        </p:grpSpPr>
        <p:sp>
          <p:nvSpPr>
            <p:cNvPr id="33" name="Freeform 33"/>
            <p:cNvSpPr/>
            <p:nvPr/>
          </p:nvSpPr>
          <p:spPr>
            <a:xfrm>
              <a:off x="1024890" y="0"/>
              <a:ext cx="1024890" cy="842010"/>
            </a:xfrm>
            <a:custGeom>
              <a:avLst/>
              <a:gdLst/>
              <a:ahLst/>
              <a:cxnLst/>
              <a:rect l="l" t="t" r="r" b="b"/>
              <a:pathLst>
                <a:path w="1024890" h="842010">
                  <a:moveTo>
                    <a:pt x="0" y="0"/>
                  </a:moveTo>
                  <a:cubicBezTo>
                    <a:pt x="566039" y="0"/>
                    <a:pt x="1024890" y="376936"/>
                    <a:pt x="1024890" y="842010"/>
                  </a:cubicBezTo>
                  <a:lnTo>
                    <a:pt x="0" y="842010"/>
                  </a:lnTo>
                  <a:close/>
                </a:path>
              </a:pathLst>
            </a:custGeom>
            <a:blipFill>
              <a:blip r:embed="rId2">
                <a:alphaModFix amt="0"/>
              </a:blip>
              <a:stretch>
                <a:fillRect l="-210818" r="-110818" b="-99999"/>
              </a:stretch>
            </a:blipFill>
            <a:ln w="28575" cap="sq">
              <a:solidFill>
                <a:srgbClr val="079ED2"/>
              </a:solidFill>
              <a:prstDash val="solid"/>
              <a:miter/>
            </a:ln>
          </p:spPr>
        </p:sp>
        <p:sp>
          <p:nvSpPr>
            <p:cNvPr id="34" name="Freeform 34"/>
            <p:cNvSpPr/>
            <p:nvPr/>
          </p:nvSpPr>
          <p:spPr>
            <a:xfrm>
              <a:off x="1024890" y="0"/>
              <a:ext cx="1024890" cy="842010"/>
            </a:xfrm>
            <a:custGeom>
              <a:avLst/>
              <a:gdLst/>
              <a:ahLst/>
              <a:cxnLst/>
              <a:rect l="l" t="t" r="r" b="b"/>
              <a:pathLst>
                <a:path w="1024890" h="842010">
                  <a:moveTo>
                    <a:pt x="0" y="0"/>
                  </a:moveTo>
                  <a:cubicBezTo>
                    <a:pt x="566039" y="0"/>
                    <a:pt x="1024890" y="376936"/>
                    <a:pt x="1024890" y="842010"/>
                  </a:cubicBezTo>
                </a:path>
              </a:pathLst>
            </a:custGeom>
            <a:blipFill>
              <a:blip r:embed="rId2">
                <a:alphaModFix amt="0"/>
              </a:blip>
              <a:stretch>
                <a:fillRect l="-210818" r="-110818" b="-99999"/>
              </a:stretch>
            </a:blipFill>
            <a:ln w="28575" cap="sq">
              <a:solidFill>
                <a:srgbClr val="079ED2"/>
              </a:solidFill>
              <a:prstDash val="solid"/>
              <a:miter/>
            </a:ln>
          </p:spPr>
        </p:sp>
      </p:grpSp>
      <p:grpSp>
        <p:nvGrpSpPr>
          <p:cNvPr id="35" name="Group 35"/>
          <p:cNvGrpSpPr/>
          <p:nvPr/>
        </p:nvGrpSpPr>
        <p:grpSpPr>
          <a:xfrm>
            <a:off x="12543663" y="1502283"/>
            <a:ext cx="150114" cy="150114"/>
            <a:chOff x="0" y="0"/>
            <a:chExt cx="200152" cy="200152"/>
          </a:xfrm>
        </p:grpSpPr>
        <p:sp>
          <p:nvSpPr>
            <p:cNvPr id="36" name="Freeform 36"/>
            <p:cNvSpPr/>
            <p:nvPr/>
          </p:nvSpPr>
          <p:spPr>
            <a:xfrm>
              <a:off x="0" y="0"/>
              <a:ext cx="200152" cy="200152"/>
            </a:xfrm>
            <a:custGeom>
              <a:avLst/>
              <a:gdLst/>
              <a:ahLst/>
              <a:cxnLst/>
              <a:rect l="l" t="t" r="r" b="b"/>
              <a:pathLst>
                <a:path w="200152" h="200152">
                  <a:moveTo>
                    <a:pt x="0" y="0"/>
                  </a:moveTo>
                  <a:lnTo>
                    <a:pt x="200152" y="0"/>
                  </a:lnTo>
                  <a:lnTo>
                    <a:pt x="200152" y="200152"/>
                  </a:lnTo>
                  <a:lnTo>
                    <a:pt x="0" y="200152"/>
                  </a:lnTo>
                  <a:close/>
                </a:path>
              </a:pathLst>
            </a:custGeom>
            <a:solidFill>
              <a:srgbClr val="FFFFFF"/>
            </a:solidFill>
            <a:ln w="26670" cap="sq">
              <a:solidFill>
                <a:srgbClr val="FD1485"/>
              </a:solidFill>
              <a:prstDash val="solid"/>
              <a:miter/>
            </a:ln>
          </p:spPr>
        </p:sp>
      </p:grpSp>
      <p:grpSp>
        <p:nvGrpSpPr>
          <p:cNvPr id="37" name="Group 37"/>
          <p:cNvGrpSpPr/>
          <p:nvPr/>
        </p:nvGrpSpPr>
        <p:grpSpPr>
          <a:xfrm>
            <a:off x="14052423" y="885063"/>
            <a:ext cx="150114" cy="150114"/>
            <a:chOff x="0" y="0"/>
            <a:chExt cx="200152" cy="200152"/>
          </a:xfrm>
        </p:grpSpPr>
        <p:sp>
          <p:nvSpPr>
            <p:cNvPr id="38" name="Freeform 38"/>
            <p:cNvSpPr/>
            <p:nvPr/>
          </p:nvSpPr>
          <p:spPr>
            <a:xfrm>
              <a:off x="0" y="0"/>
              <a:ext cx="200152" cy="200152"/>
            </a:xfrm>
            <a:custGeom>
              <a:avLst/>
              <a:gdLst/>
              <a:ahLst/>
              <a:cxnLst/>
              <a:rect l="l" t="t" r="r" b="b"/>
              <a:pathLst>
                <a:path w="200152" h="200152">
                  <a:moveTo>
                    <a:pt x="0" y="0"/>
                  </a:moveTo>
                  <a:lnTo>
                    <a:pt x="200152" y="0"/>
                  </a:lnTo>
                  <a:lnTo>
                    <a:pt x="200152" y="200152"/>
                  </a:lnTo>
                  <a:lnTo>
                    <a:pt x="0" y="200152"/>
                  </a:lnTo>
                  <a:close/>
                </a:path>
              </a:pathLst>
            </a:custGeom>
            <a:solidFill>
              <a:srgbClr val="FFFFFF"/>
            </a:solidFill>
            <a:ln w="26670" cap="sq">
              <a:solidFill>
                <a:srgbClr val="FD1485"/>
              </a:solidFill>
              <a:prstDash val="solid"/>
              <a:miter/>
            </a:ln>
          </p:spPr>
        </p:sp>
      </p:grpSp>
      <p:sp>
        <p:nvSpPr>
          <p:cNvPr id="39" name="TextBox 39"/>
          <p:cNvSpPr txBox="1"/>
          <p:nvPr/>
        </p:nvSpPr>
        <p:spPr>
          <a:xfrm>
            <a:off x="2468880" y="566547"/>
            <a:ext cx="12344400" cy="421005"/>
          </a:xfrm>
          <a:prstGeom prst="rect">
            <a:avLst/>
          </a:prstGeom>
        </p:spPr>
        <p:txBody>
          <a:bodyPr lIns="0" tIns="0" rIns="0" bIns="0" rtlCol="0" anchor="t">
            <a:spAutoFit/>
          </a:bodyPr>
          <a:lstStyle/>
          <a:p>
            <a:pPr algn="l">
              <a:lnSpc>
                <a:spcPts val="1889"/>
              </a:lnSpc>
            </a:pPr>
            <a:r>
              <a:rPr lang="en-US" sz="1575" b="1">
                <a:solidFill>
                  <a:srgbClr val="353334"/>
                </a:solidFill>
                <a:latin typeface="Arimo Bold"/>
                <a:ea typeface="Arimo Bold"/>
                <a:cs typeface="Arimo Bold"/>
                <a:sym typeface="Arimo Bold"/>
              </a:rPr>
              <a:t>DATAQUEST 3.0  ·  ROUND 1</a:t>
            </a:r>
          </a:p>
        </p:txBody>
      </p:sp>
      <p:sp>
        <p:nvSpPr>
          <p:cNvPr id="40" name="TextBox 40"/>
          <p:cNvSpPr txBox="1"/>
          <p:nvPr/>
        </p:nvSpPr>
        <p:spPr>
          <a:xfrm>
            <a:off x="2468880" y="913638"/>
            <a:ext cx="13716000" cy="1184910"/>
          </a:xfrm>
          <a:prstGeom prst="rect">
            <a:avLst/>
          </a:prstGeom>
        </p:spPr>
        <p:txBody>
          <a:bodyPr lIns="0" tIns="0" rIns="0" bIns="0" rtlCol="0" anchor="t">
            <a:spAutoFit/>
          </a:bodyPr>
          <a:lstStyle/>
          <a:p>
            <a:pPr algn="l">
              <a:lnSpc>
                <a:spcPts val="5759"/>
              </a:lnSpc>
            </a:pPr>
            <a:r>
              <a:rPr lang="en-US" sz="4800" b="1">
                <a:solidFill>
                  <a:srgbClr val="FD1485"/>
                </a:solidFill>
                <a:latin typeface="Arimo Bold"/>
                <a:ea typeface="Arimo Bold"/>
                <a:cs typeface="Arimo Bold"/>
                <a:sym typeface="Arimo Bold"/>
              </a:rPr>
              <a:t>04  </a:t>
            </a:r>
            <a:r>
              <a:rPr lang="en-US" sz="4800" b="1">
                <a:solidFill>
                  <a:srgbClr val="353334"/>
                </a:solidFill>
                <a:latin typeface="Arimo Bold"/>
                <a:ea typeface="Arimo Bold"/>
                <a:cs typeface="Arimo Bold"/>
                <a:sym typeface="Arimo Bold"/>
              </a:rPr>
              <a:t>System Architecture</a:t>
            </a:r>
          </a:p>
        </p:txBody>
      </p:sp>
      <p:grpSp>
        <p:nvGrpSpPr>
          <p:cNvPr id="41" name="Group 41"/>
          <p:cNvGrpSpPr/>
          <p:nvPr/>
        </p:nvGrpSpPr>
        <p:grpSpPr>
          <a:xfrm>
            <a:off x="2468880" y="2167128"/>
            <a:ext cx="14127480" cy="28575"/>
            <a:chOff x="0" y="0"/>
            <a:chExt cx="18836640" cy="38100"/>
          </a:xfrm>
        </p:grpSpPr>
        <p:sp>
          <p:nvSpPr>
            <p:cNvPr id="42" name="Freeform 42"/>
            <p:cNvSpPr/>
            <p:nvPr/>
          </p:nvSpPr>
          <p:spPr>
            <a:xfrm>
              <a:off x="0" y="0"/>
              <a:ext cx="18836639" cy="38100"/>
            </a:xfrm>
            <a:custGeom>
              <a:avLst/>
              <a:gdLst/>
              <a:ahLst/>
              <a:cxnLst/>
              <a:rect l="l" t="t" r="r" b="b"/>
              <a:pathLst>
                <a:path w="18836639" h="38100">
                  <a:moveTo>
                    <a:pt x="0" y="0"/>
                  </a:moveTo>
                  <a:lnTo>
                    <a:pt x="18836639" y="0"/>
                  </a:lnTo>
                  <a:lnTo>
                    <a:pt x="18836639" y="38100"/>
                  </a:lnTo>
                  <a:lnTo>
                    <a:pt x="0" y="38100"/>
                  </a:lnTo>
                  <a:close/>
                </a:path>
              </a:pathLst>
            </a:custGeom>
            <a:solidFill>
              <a:srgbClr val="353334"/>
            </a:solidFill>
          </p:spPr>
        </p:sp>
      </p:grpSp>
      <p:sp>
        <p:nvSpPr>
          <p:cNvPr id="43" name="TextBox 43"/>
          <p:cNvSpPr txBox="1"/>
          <p:nvPr/>
        </p:nvSpPr>
        <p:spPr>
          <a:xfrm>
            <a:off x="2468880" y="2257806"/>
            <a:ext cx="14127480" cy="499110"/>
          </a:xfrm>
          <a:prstGeom prst="rect">
            <a:avLst/>
          </a:prstGeom>
        </p:spPr>
        <p:txBody>
          <a:bodyPr lIns="0" tIns="0" rIns="0" bIns="0" rtlCol="0" anchor="t">
            <a:spAutoFit/>
          </a:bodyPr>
          <a:lstStyle/>
          <a:p>
            <a:pPr algn="l">
              <a:lnSpc>
                <a:spcPts val="1980"/>
              </a:lnSpc>
            </a:pPr>
            <a:r>
              <a:rPr lang="en-US" sz="1650">
                <a:solidFill>
                  <a:srgbClr val="6E6E73"/>
                </a:solidFill>
                <a:latin typeface="Arimo"/>
                <a:ea typeface="Arimo"/>
                <a:cs typeface="Arimo"/>
                <a:sym typeface="Arimo"/>
              </a:rPr>
              <a:t>System diagram is the primary visual · Engineering decisions · Validation</a:t>
            </a:r>
          </a:p>
        </p:txBody>
      </p:sp>
      <p:grpSp>
        <p:nvGrpSpPr>
          <p:cNvPr id="44" name="Group 44"/>
          <p:cNvGrpSpPr/>
          <p:nvPr/>
        </p:nvGrpSpPr>
        <p:grpSpPr>
          <a:xfrm rot="5400000">
            <a:off x="306310" y="4213061"/>
            <a:ext cx="7149086" cy="3979810"/>
            <a:chOff x="0" y="0"/>
            <a:chExt cx="5981700" cy="3329940"/>
          </a:xfrm>
        </p:grpSpPr>
        <p:sp>
          <p:nvSpPr>
            <p:cNvPr id="45" name="Freeform 45"/>
            <p:cNvSpPr/>
            <p:nvPr/>
          </p:nvSpPr>
          <p:spPr>
            <a:xfrm>
              <a:off x="0" y="0"/>
              <a:ext cx="5981700" cy="3329940"/>
            </a:xfrm>
            <a:custGeom>
              <a:avLst/>
              <a:gdLst/>
              <a:ahLst/>
              <a:cxnLst/>
              <a:rect l="l" t="t" r="r" b="b"/>
              <a:pathLst>
                <a:path w="5981700" h="3329940">
                  <a:moveTo>
                    <a:pt x="0" y="116586"/>
                  </a:moveTo>
                  <a:cubicBezTo>
                    <a:pt x="0" y="52197"/>
                    <a:pt x="52197" y="0"/>
                    <a:pt x="116586" y="0"/>
                  </a:cubicBezTo>
                  <a:lnTo>
                    <a:pt x="5865114" y="0"/>
                  </a:lnTo>
                  <a:cubicBezTo>
                    <a:pt x="5929503" y="0"/>
                    <a:pt x="5981700" y="52197"/>
                    <a:pt x="5981700" y="116586"/>
                  </a:cubicBezTo>
                  <a:lnTo>
                    <a:pt x="5981700" y="3213354"/>
                  </a:lnTo>
                  <a:cubicBezTo>
                    <a:pt x="5981700" y="3277743"/>
                    <a:pt x="5929503" y="3329940"/>
                    <a:pt x="5865114" y="3329940"/>
                  </a:cubicBezTo>
                  <a:lnTo>
                    <a:pt x="116586" y="3329940"/>
                  </a:lnTo>
                  <a:cubicBezTo>
                    <a:pt x="52197" y="3329940"/>
                    <a:pt x="0" y="3277743"/>
                    <a:pt x="0" y="3213354"/>
                  </a:cubicBezTo>
                  <a:close/>
                </a:path>
              </a:pathLst>
            </a:custGeom>
            <a:solidFill>
              <a:srgbClr val="FFFFFF"/>
            </a:solidFill>
            <a:ln w="28575" cap="sq">
              <a:solidFill>
                <a:srgbClr val="353334"/>
              </a:solidFill>
              <a:prstDash val="solid"/>
              <a:miter/>
            </a:ln>
          </p:spPr>
        </p:sp>
      </p:grpSp>
      <p:sp>
        <p:nvSpPr>
          <p:cNvPr id="46" name="TextBox 46"/>
          <p:cNvSpPr txBox="1"/>
          <p:nvPr/>
        </p:nvSpPr>
        <p:spPr>
          <a:xfrm>
            <a:off x="2180021" y="3427790"/>
            <a:ext cx="3401662" cy="4952125"/>
          </a:xfrm>
          <a:prstGeom prst="rect">
            <a:avLst/>
          </a:prstGeom>
        </p:spPr>
        <p:txBody>
          <a:bodyPr lIns="0" tIns="0" rIns="0" bIns="0" rtlCol="0" anchor="t">
            <a:spAutoFit/>
          </a:bodyPr>
          <a:lstStyle/>
          <a:p>
            <a:pPr algn="l">
              <a:lnSpc>
                <a:spcPts val="1807"/>
              </a:lnSpc>
            </a:pPr>
            <a:r>
              <a:rPr lang="en-US" sz="1506" b="1" dirty="0">
                <a:solidFill>
                  <a:srgbClr val="353334"/>
                </a:solidFill>
                <a:latin typeface="Arimo Bold"/>
                <a:ea typeface="Arimo Bold"/>
                <a:cs typeface="Arimo Bold"/>
                <a:sym typeface="Arimo Bold"/>
              </a:rPr>
              <a:t>KEY TECHNICAL DECISION</a:t>
            </a:r>
          </a:p>
          <a:p>
            <a:pPr algn="l">
              <a:lnSpc>
                <a:spcPts val="1807"/>
              </a:lnSpc>
            </a:pPr>
            <a:endParaRPr lang="en-US" sz="1506" b="1" dirty="0">
              <a:solidFill>
                <a:srgbClr val="353334"/>
              </a:solidFill>
              <a:latin typeface="Arimo Bold"/>
              <a:ea typeface="Arimo Bold"/>
              <a:cs typeface="Arimo Bold"/>
              <a:sym typeface="Arimo Bold"/>
            </a:endParaRPr>
          </a:p>
          <a:p>
            <a:r>
              <a:rPr lang="en-IN" sz="1400" b="1" dirty="0"/>
              <a:t>Pipeline:</a:t>
            </a:r>
            <a:br>
              <a:rPr lang="en-IN" sz="1400" dirty="0"/>
            </a:br>
            <a:r>
              <a:rPr lang="en-IN" sz="1400" dirty="0"/>
              <a:t>Upload → Detect &amp; Route → Specialized Extraction → Assemble → Confidence + Provenance → Canonical Document → JSON/Markdown</a:t>
            </a:r>
          </a:p>
          <a:p>
            <a:r>
              <a:rPr lang="en-IN" sz="1400" b="1" dirty="0"/>
              <a:t>Why this stack?</a:t>
            </a:r>
            <a:endParaRPr lang="en-IN" sz="1400" dirty="0"/>
          </a:p>
          <a:p>
            <a:r>
              <a:rPr lang="en-IN" sz="1400" b="1" dirty="0" err="1"/>
              <a:t>PyMuPDF</a:t>
            </a:r>
            <a:r>
              <a:rPr lang="en-IN" sz="1400" dirty="0"/>
              <a:t> → PDF ingestion, text/layout geometry</a:t>
            </a:r>
          </a:p>
          <a:p>
            <a:r>
              <a:rPr lang="en-IN" sz="1400" b="1" dirty="0"/>
              <a:t>python-docx / python-pptx / </a:t>
            </a:r>
            <a:r>
              <a:rPr lang="en-IN" sz="1400" b="1" dirty="0" err="1"/>
              <a:t>openpyxl</a:t>
            </a:r>
            <a:r>
              <a:rPr lang="en-IN" sz="1400" dirty="0"/>
              <a:t> → native Office parsing</a:t>
            </a:r>
          </a:p>
          <a:p>
            <a:r>
              <a:rPr lang="en-IN" sz="1400" b="1" dirty="0"/>
              <a:t>Tesseract / </a:t>
            </a:r>
            <a:r>
              <a:rPr lang="en-IN" sz="1400" b="1" dirty="0" err="1"/>
              <a:t>PaddleOCR</a:t>
            </a:r>
            <a:r>
              <a:rPr lang="en-IN" sz="1400" dirty="0"/>
              <a:t> → scanned-page OCR</a:t>
            </a:r>
          </a:p>
          <a:p>
            <a:r>
              <a:rPr lang="en-IN" sz="1400" b="1" dirty="0"/>
              <a:t>OpenCV</a:t>
            </a:r>
            <a:r>
              <a:rPr lang="en-IN" sz="1400" dirty="0"/>
              <a:t> → scanned-table/grid detection</a:t>
            </a:r>
          </a:p>
          <a:p>
            <a:r>
              <a:rPr lang="en-IN" sz="1400" b="1" dirty="0" err="1"/>
              <a:t>Pydantic</a:t>
            </a:r>
            <a:r>
              <a:rPr lang="en-IN" sz="1400" b="1" dirty="0"/>
              <a:t> models</a:t>
            </a:r>
            <a:r>
              <a:rPr lang="en-IN" sz="1400" dirty="0"/>
              <a:t> → unified Document / Block / Table representation</a:t>
            </a:r>
          </a:p>
          <a:p>
            <a:r>
              <a:rPr lang="en-IN" sz="1400" b="1" dirty="0" err="1"/>
              <a:t>FastAPI</a:t>
            </a:r>
            <a:r>
              <a:rPr lang="en-IN" sz="1400" b="1" dirty="0"/>
              <a:t> + React</a:t>
            </a:r>
            <a:r>
              <a:rPr lang="en-IN" sz="1400" dirty="0"/>
              <a:t> → API + interactive interface</a:t>
            </a:r>
          </a:p>
          <a:p>
            <a:r>
              <a:rPr lang="en-IN" sz="1400" b="1" dirty="0"/>
              <a:t>Key decision:</a:t>
            </a:r>
            <a:r>
              <a:rPr lang="en-IN" sz="1400" dirty="0"/>
              <a:t> all extractors produce the same canonical blocks, so JSON, Markdown, Search, Summary and source navigation operate on </a:t>
            </a:r>
            <a:r>
              <a:rPr lang="en-IN" sz="1400" b="1" dirty="0"/>
              <a:t>one representation</a:t>
            </a:r>
            <a:r>
              <a:rPr lang="en-IN" sz="1400" dirty="0"/>
              <a:t>.</a:t>
            </a:r>
          </a:p>
          <a:p>
            <a:pPr algn="l">
              <a:lnSpc>
                <a:spcPts val="1561"/>
              </a:lnSpc>
            </a:pPr>
            <a:endParaRPr lang="en-US" sz="1300" dirty="0">
              <a:solidFill>
                <a:srgbClr val="3C3C41"/>
              </a:solidFill>
              <a:latin typeface="Arimo"/>
              <a:ea typeface="Arimo"/>
              <a:cs typeface="Arimo"/>
              <a:sym typeface="Arimo"/>
            </a:endParaRPr>
          </a:p>
          <a:p>
            <a:pPr algn="l">
              <a:lnSpc>
                <a:spcPts val="1561"/>
              </a:lnSpc>
            </a:pPr>
            <a:endParaRPr lang="en-US" sz="1300" dirty="0">
              <a:solidFill>
                <a:srgbClr val="3C3C41"/>
              </a:solidFill>
              <a:latin typeface="Arimo"/>
              <a:ea typeface="Arimo"/>
              <a:cs typeface="Arimo"/>
              <a:sym typeface="Arimo"/>
            </a:endParaRPr>
          </a:p>
        </p:txBody>
      </p:sp>
      <p:grpSp>
        <p:nvGrpSpPr>
          <p:cNvPr id="47" name="Group 47"/>
          <p:cNvGrpSpPr/>
          <p:nvPr/>
        </p:nvGrpSpPr>
        <p:grpSpPr>
          <a:xfrm>
            <a:off x="1948815" y="2597971"/>
            <a:ext cx="2530399" cy="424916"/>
            <a:chOff x="0" y="0"/>
            <a:chExt cx="3230880" cy="542544"/>
          </a:xfrm>
        </p:grpSpPr>
        <p:sp>
          <p:nvSpPr>
            <p:cNvPr id="48" name="Freeform 48"/>
            <p:cNvSpPr/>
            <p:nvPr/>
          </p:nvSpPr>
          <p:spPr>
            <a:xfrm>
              <a:off x="0" y="0"/>
              <a:ext cx="3230880" cy="542544"/>
            </a:xfrm>
            <a:custGeom>
              <a:avLst/>
              <a:gdLst/>
              <a:ahLst/>
              <a:cxnLst/>
              <a:rect l="l" t="t" r="r" b="b"/>
              <a:pathLst>
                <a:path w="3230880" h="542544">
                  <a:moveTo>
                    <a:pt x="0" y="271272"/>
                  </a:moveTo>
                  <a:cubicBezTo>
                    <a:pt x="0" y="121412"/>
                    <a:pt x="121412" y="0"/>
                    <a:pt x="271272" y="0"/>
                  </a:cubicBezTo>
                  <a:lnTo>
                    <a:pt x="2959608" y="0"/>
                  </a:lnTo>
                  <a:cubicBezTo>
                    <a:pt x="3109468" y="0"/>
                    <a:pt x="3230880" y="121412"/>
                    <a:pt x="3230880" y="271272"/>
                  </a:cubicBezTo>
                  <a:cubicBezTo>
                    <a:pt x="3230880" y="421132"/>
                    <a:pt x="3109468" y="542544"/>
                    <a:pt x="2959608" y="542544"/>
                  </a:cubicBezTo>
                  <a:lnTo>
                    <a:pt x="271272" y="542544"/>
                  </a:lnTo>
                  <a:cubicBezTo>
                    <a:pt x="121412" y="542544"/>
                    <a:pt x="0" y="421132"/>
                    <a:pt x="0" y="271272"/>
                  </a:cubicBezTo>
                  <a:close/>
                </a:path>
              </a:pathLst>
            </a:custGeom>
            <a:solidFill>
              <a:srgbClr val="FFB903"/>
            </a:solidFill>
            <a:ln w="22860" cap="sq">
              <a:solidFill>
                <a:srgbClr val="353334"/>
              </a:solidFill>
              <a:prstDash val="solid"/>
              <a:miter/>
            </a:ln>
          </p:spPr>
        </p:sp>
        <p:sp>
          <p:nvSpPr>
            <p:cNvPr id="49" name="TextBox 49"/>
            <p:cNvSpPr txBox="1"/>
            <p:nvPr/>
          </p:nvSpPr>
          <p:spPr>
            <a:xfrm>
              <a:off x="0" y="-19050"/>
              <a:ext cx="3230880" cy="561594"/>
            </a:xfrm>
            <a:prstGeom prst="rect">
              <a:avLst/>
            </a:prstGeom>
          </p:spPr>
          <p:txBody>
            <a:bodyPr lIns="79187" tIns="79187" rIns="79187" bIns="79187" rtlCol="0" anchor="ctr"/>
            <a:lstStyle/>
            <a:p>
              <a:pPr algn="ctr">
                <a:lnSpc>
                  <a:spcPts val="1530"/>
                </a:lnSpc>
              </a:pPr>
              <a:r>
                <a:rPr lang="en-US" sz="1275" b="1">
                  <a:solidFill>
                    <a:srgbClr val="353334"/>
                  </a:solidFill>
                  <a:latin typeface="Arimo Bold"/>
                  <a:ea typeface="Arimo Bold"/>
                  <a:cs typeface="Arimo Bold"/>
                  <a:sym typeface="Arimo Bold"/>
                </a:rPr>
                <a:t>TECH 01</a:t>
              </a:r>
            </a:p>
          </p:txBody>
        </p:sp>
      </p:grpSp>
      <p:grpSp>
        <p:nvGrpSpPr>
          <p:cNvPr id="50" name="Group 50"/>
          <p:cNvGrpSpPr/>
          <p:nvPr/>
        </p:nvGrpSpPr>
        <p:grpSpPr>
          <a:xfrm rot="-5400000">
            <a:off x="5519955" y="4196108"/>
            <a:ext cx="7209990" cy="4013714"/>
            <a:chOff x="0" y="0"/>
            <a:chExt cx="5981700" cy="3329940"/>
          </a:xfrm>
        </p:grpSpPr>
        <p:sp>
          <p:nvSpPr>
            <p:cNvPr id="51" name="Freeform 51"/>
            <p:cNvSpPr/>
            <p:nvPr/>
          </p:nvSpPr>
          <p:spPr>
            <a:xfrm>
              <a:off x="0" y="0"/>
              <a:ext cx="5981700" cy="3329940"/>
            </a:xfrm>
            <a:custGeom>
              <a:avLst/>
              <a:gdLst/>
              <a:ahLst/>
              <a:cxnLst/>
              <a:rect l="l" t="t" r="r" b="b"/>
              <a:pathLst>
                <a:path w="5981700" h="3329940">
                  <a:moveTo>
                    <a:pt x="0" y="116586"/>
                  </a:moveTo>
                  <a:cubicBezTo>
                    <a:pt x="0" y="52197"/>
                    <a:pt x="52197" y="0"/>
                    <a:pt x="116586" y="0"/>
                  </a:cubicBezTo>
                  <a:lnTo>
                    <a:pt x="5865114" y="0"/>
                  </a:lnTo>
                  <a:cubicBezTo>
                    <a:pt x="5929503" y="0"/>
                    <a:pt x="5981700" y="52197"/>
                    <a:pt x="5981700" y="116586"/>
                  </a:cubicBezTo>
                  <a:lnTo>
                    <a:pt x="5981700" y="3213354"/>
                  </a:lnTo>
                  <a:cubicBezTo>
                    <a:pt x="5981700" y="3277743"/>
                    <a:pt x="5929503" y="3329940"/>
                    <a:pt x="5865114" y="3329940"/>
                  </a:cubicBezTo>
                  <a:lnTo>
                    <a:pt x="116586" y="3329940"/>
                  </a:lnTo>
                  <a:cubicBezTo>
                    <a:pt x="52197" y="3329940"/>
                    <a:pt x="0" y="3277743"/>
                    <a:pt x="0" y="3213354"/>
                  </a:cubicBezTo>
                  <a:close/>
                </a:path>
              </a:pathLst>
            </a:custGeom>
            <a:solidFill>
              <a:srgbClr val="FFFFFF"/>
            </a:solidFill>
            <a:ln w="28575" cap="sq">
              <a:solidFill>
                <a:srgbClr val="353334"/>
              </a:solidFill>
              <a:prstDash val="solid"/>
              <a:miter/>
            </a:ln>
          </p:spPr>
        </p:sp>
      </p:grpSp>
      <p:grpSp>
        <p:nvGrpSpPr>
          <p:cNvPr id="52" name="Group 52"/>
          <p:cNvGrpSpPr/>
          <p:nvPr/>
        </p:nvGrpSpPr>
        <p:grpSpPr>
          <a:xfrm>
            <a:off x="7199090" y="2561844"/>
            <a:ext cx="2423160" cy="406908"/>
            <a:chOff x="0" y="0"/>
            <a:chExt cx="3230880" cy="542544"/>
          </a:xfrm>
        </p:grpSpPr>
        <p:sp>
          <p:nvSpPr>
            <p:cNvPr id="53" name="Freeform 53"/>
            <p:cNvSpPr/>
            <p:nvPr/>
          </p:nvSpPr>
          <p:spPr>
            <a:xfrm>
              <a:off x="0" y="0"/>
              <a:ext cx="3230880" cy="542544"/>
            </a:xfrm>
            <a:custGeom>
              <a:avLst/>
              <a:gdLst/>
              <a:ahLst/>
              <a:cxnLst/>
              <a:rect l="l" t="t" r="r" b="b"/>
              <a:pathLst>
                <a:path w="3230880" h="542544">
                  <a:moveTo>
                    <a:pt x="0" y="271272"/>
                  </a:moveTo>
                  <a:cubicBezTo>
                    <a:pt x="0" y="121412"/>
                    <a:pt x="121412" y="0"/>
                    <a:pt x="271272" y="0"/>
                  </a:cubicBezTo>
                  <a:lnTo>
                    <a:pt x="2959608" y="0"/>
                  </a:lnTo>
                  <a:cubicBezTo>
                    <a:pt x="3109468" y="0"/>
                    <a:pt x="3230880" y="121412"/>
                    <a:pt x="3230880" y="271272"/>
                  </a:cubicBezTo>
                  <a:cubicBezTo>
                    <a:pt x="3230880" y="421132"/>
                    <a:pt x="3109468" y="542544"/>
                    <a:pt x="2959608" y="542544"/>
                  </a:cubicBezTo>
                  <a:lnTo>
                    <a:pt x="271272" y="542544"/>
                  </a:lnTo>
                  <a:cubicBezTo>
                    <a:pt x="121412" y="542544"/>
                    <a:pt x="0" y="421132"/>
                    <a:pt x="0" y="271272"/>
                  </a:cubicBezTo>
                  <a:close/>
                </a:path>
              </a:pathLst>
            </a:custGeom>
            <a:solidFill>
              <a:srgbClr val="FD1485"/>
            </a:solidFill>
            <a:ln w="22860" cap="sq">
              <a:solidFill>
                <a:srgbClr val="353334"/>
              </a:solidFill>
              <a:prstDash val="solid"/>
              <a:miter/>
            </a:ln>
          </p:spPr>
        </p:sp>
        <p:sp>
          <p:nvSpPr>
            <p:cNvPr id="54" name="TextBox 54"/>
            <p:cNvSpPr txBox="1"/>
            <p:nvPr/>
          </p:nvSpPr>
          <p:spPr>
            <a:xfrm>
              <a:off x="0" y="-19050"/>
              <a:ext cx="3230880" cy="561594"/>
            </a:xfrm>
            <a:prstGeom prst="rect">
              <a:avLst/>
            </a:prstGeom>
          </p:spPr>
          <p:txBody>
            <a:bodyPr lIns="50800" tIns="50800" rIns="50800" bIns="50800" rtlCol="0" anchor="ctr"/>
            <a:lstStyle/>
            <a:p>
              <a:pPr algn="ctr">
                <a:lnSpc>
                  <a:spcPts val="1530"/>
                </a:lnSpc>
              </a:pPr>
              <a:r>
                <a:rPr lang="en-US" sz="1275" b="1">
                  <a:solidFill>
                    <a:srgbClr val="FFFFFF"/>
                  </a:solidFill>
                  <a:latin typeface="Arimo Bold"/>
                  <a:ea typeface="Arimo Bold"/>
                  <a:cs typeface="Arimo Bold"/>
                  <a:sym typeface="Arimo Bold"/>
                </a:rPr>
                <a:t>TECH 02</a:t>
              </a:r>
            </a:p>
          </p:txBody>
        </p:sp>
      </p:grpSp>
      <p:sp>
        <p:nvSpPr>
          <p:cNvPr id="55" name="TextBox 55"/>
          <p:cNvSpPr txBox="1"/>
          <p:nvPr/>
        </p:nvSpPr>
        <p:spPr>
          <a:xfrm>
            <a:off x="7261860" y="3416427"/>
            <a:ext cx="3726180" cy="4562475"/>
          </a:xfrm>
          <a:prstGeom prst="rect">
            <a:avLst/>
          </a:prstGeom>
        </p:spPr>
        <p:txBody>
          <a:bodyPr lIns="0" tIns="0" rIns="0" bIns="0" rtlCol="0" anchor="t">
            <a:spAutoFit/>
          </a:bodyPr>
          <a:lstStyle/>
          <a:p>
            <a:pPr algn="l">
              <a:lnSpc>
                <a:spcPts val="1980"/>
              </a:lnSpc>
            </a:pPr>
            <a:r>
              <a:rPr lang="en-US" sz="1650" b="1">
                <a:solidFill>
                  <a:srgbClr val="353334"/>
                </a:solidFill>
                <a:latin typeface="Arimo Bold"/>
                <a:ea typeface="Arimo Bold"/>
                <a:cs typeface="Arimo Bold"/>
                <a:sym typeface="Arimo Bold"/>
              </a:rPr>
              <a:t>HARDEST PART</a:t>
            </a:r>
          </a:p>
          <a:p>
            <a:pPr algn="l">
              <a:lnSpc>
                <a:spcPts val="1980"/>
              </a:lnSpc>
            </a:pPr>
            <a:endParaRPr lang="en-US" sz="1650" b="1">
              <a:solidFill>
                <a:srgbClr val="353334"/>
              </a:solidFill>
              <a:latin typeface="Arimo Bold"/>
              <a:ea typeface="Arimo Bold"/>
              <a:cs typeface="Arimo Bold"/>
              <a:sym typeface="Arimo Bold"/>
            </a:endParaRPr>
          </a:p>
          <a:p>
            <a:pPr algn="l">
              <a:lnSpc>
                <a:spcPts val="1740"/>
              </a:lnSpc>
            </a:pPr>
            <a:endParaRPr lang="en-US" sz="1650" b="1">
              <a:solidFill>
                <a:srgbClr val="353334"/>
              </a:solidFill>
              <a:latin typeface="Arimo Bold"/>
              <a:ea typeface="Arimo Bold"/>
              <a:cs typeface="Arimo Bold"/>
              <a:sym typeface="Arimo Bold"/>
            </a:endParaRPr>
          </a:p>
          <a:p>
            <a:pPr algn="l">
              <a:lnSpc>
                <a:spcPts val="1740"/>
              </a:lnSpc>
            </a:pPr>
            <a:r>
              <a:rPr lang="en-US" sz="1450">
                <a:solidFill>
                  <a:srgbClr val="353334"/>
                </a:solidFill>
                <a:latin typeface="Arimo"/>
                <a:ea typeface="Arimo"/>
                <a:cs typeface="Arimo"/>
                <a:sym typeface="Arimo"/>
              </a:rPr>
              <a:t>Reconstructing the document correctly, not simply extracting text</a:t>
            </a:r>
          </a:p>
          <a:p>
            <a:pPr algn="l">
              <a:lnSpc>
                <a:spcPts val="1740"/>
              </a:lnSpc>
            </a:pPr>
            <a:r>
              <a:rPr lang="en-US" sz="1450">
                <a:solidFill>
                  <a:srgbClr val="353334"/>
                </a:solidFill>
                <a:latin typeface="Arimo"/>
                <a:ea typeface="Arimo"/>
                <a:cs typeface="Arimo"/>
                <a:sym typeface="Arimo"/>
              </a:rPr>
              <a:t>The hardest technical challenge is preserving the meaning and structure of a complex document when information is distributed across different visual regions.</a:t>
            </a:r>
          </a:p>
          <a:p>
            <a:pPr algn="l">
              <a:lnSpc>
                <a:spcPts val="1709"/>
              </a:lnSpc>
            </a:pPr>
            <a:endParaRPr lang="en-US" sz="1450">
              <a:solidFill>
                <a:srgbClr val="353334"/>
              </a:solidFill>
              <a:latin typeface="Arimo"/>
              <a:ea typeface="Arimo"/>
              <a:cs typeface="Arimo"/>
              <a:sym typeface="Arimo"/>
            </a:endParaRPr>
          </a:p>
          <a:p>
            <a:pPr algn="l">
              <a:lnSpc>
                <a:spcPts val="1709"/>
              </a:lnSpc>
            </a:pPr>
            <a:r>
              <a:rPr lang="en-US" sz="1425">
                <a:solidFill>
                  <a:srgbClr val="3C3C41"/>
                </a:solidFill>
                <a:latin typeface="Arimo"/>
                <a:ea typeface="Arimo"/>
                <a:cs typeface="Arimo"/>
                <a:sym typeface="Arimo"/>
              </a:rPr>
              <a:t>Particularly difficult cases include:</a:t>
            </a:r>
          </a:p>
          <a:p>
            <a:pPr marL="307658" lvl="1" indent="-153829" algn="l">
              <a:lnSpc>
                <a:spcPts val="1709"/>
              </a:lnSpc>
              <a:buFont typeface="Arial"/>
              <a:buChar char="•"/>
            </a:pPr>
            <a:r>
              <a:rPr lang="en-US" sz="1425">
                <a:solidFill>
                  <a:srgbClr val="3C3C41"/>
                </a:solidFill>
                <a:latin typeface="Arimo"/>
                <a:ea typeface="Arimo"/>
                <a:cs typeface="Arimo"/>
                <a:sym typeface="Arimo"/>
              </a:rPr>
              <a:t>Multi-column reading order</a:t>
            </a:r>
          </a:p>
          <a:p>
            <a:pPr marL="307658" lvl="1" indent="-153829" algn="l">
              <a:lnSpc>
                <a:spcPts val="1709"/>
              </a:lnSpc>
              <a:buFont typeface="Arial"/>
              <a:buChar char="•"/>
            </a:pPr>
            <a:r>
              <a:rPr lang="en-US" sz="1425">
                <a:solidFill>
                  <a:srgbClr val="3C3C41"/>
                </a:solidFill>
                <a:latin typeface="Arimo"/>
                <a:ea typeface="Arimo"/>
                <a:cs typeface="Arimo"/>
                <a:sym typeface="Arimo"/>
              </a:rPr>
              <a:t>Sidebars, captions, headers and footnotes</a:t>
            </a:r>
          </a:p>
          <a:p>
            <a:pPr marL="307658" lvl="1" indent="-153829" algn="l">
              <a:lnSpc>
                <a:spcPts val="1709"/>
              </a:lnSpc>
              <a:buFont typeface="Arial"/>
              <a:buChar char="•"/>
            </a:pPr>
            <a:r>
              <a:rPr lang="en-US" sz="1425">
                <a:solidFill>
                  <a:srgbClr val="3C3C41"/>
                </a:solidFill>
                <a:latin typeface="Arimo"/>
                <a:ea typeface="Arimo"/>
                <a:cs typeface="Arimo"/>
                <a:sym typeface="Arimo"/>
              </a:rPr>
              <a:t>Merged/multi-row table cells</a:t>
            </a:r>
          </a:p>
          <a:p>
            <a:pPr marL="307658" lvl="1" indent="-153829" algn="l">
              <a:lnSpc>
                <a:spcPts val="1709"/>
              </a:lnSpc>
              <a:buFont typeface="Arial"/>
              <a:buChar char="•"/>
            </a:pPr>
            <a:r>
              <a:rPr lang="en-US" sz="1425">
                <a:solidFill>
                  <a:srgbClr val="3C3C41"/>
                </a:solidFill>
                <a:latin typeface="Arimo"/>
                <a:ea typeface="Arimo"/>
                <a:cs typeface="Arimo"/>
                <a:sym typeface="Arimo"/>
              </a:rPr>
              <a:t>Tables spanning multiple pages</a:t>
            </a:r>
          </a:p>
          <a:p>
            <a:pPr marL="307658" lvl="1" indent="-153829" algn="l">
              <a:lnSpc>
                <a:spcPts val="1709"/>
              </a:lnSpc>
              <a:buFont typeface="Arial"/>
              <a:buChar char="•"/>
            </a:pPr>
            <a:r>
              <a:rPr lang="en-US" sz="1425">
                <a:solidFill>
                  <a:srgbClr val="3C3C41"/>
                </a:solidFill>
                <a:latin typeface="Arimo"/>
                <a:ea typeface="Arimo"/>
                <a:cs typeface="Arimo"/>
                <a:sym typeface="Arimo"/>
              </a:rPr>
              <a:t>Mixed digital + scanned pages</a:t>
            </a:r>
          </a:p>
          <a:p>
            <a:pPr marL="307658" lvl="1" indent="-153829" algn="l">
              <a:lnSpc>
                <a:spcPts val="1709"/>
              </a:lnSpc>
              <a:buFont typeface="Arial"/>
              <a:buChar char="•"/>
            </a:pPr>
            <a:r>
              <a:rPr lang="en-US" sz="1425">
                <a:solidFill>
                  <a:srgbClr val="3C3C41"/>
                </a:solidFill>
                <a:latin typeface="Arimo"/>
                <a:ea typeface="Arimo"/>
                <a:cs typeface="Arimo"/>
                <a:sym typeface="Arimo"/>
              </a:rPr>
              <a:t>Equations embedded as images</a:t>
            </a:r>
          </a:p>
          <a:p>
            <a:pPr marL="307658" lvl="1" indent="-153829" algn="l">
              <a:lnSpc>
                <a:spcPts val="1709"/>
              </a:lnSpc>
              <a:buFont typeface="Arial"/>
              <a:buChar char="•"/>
            </a:pPr>
            <a:r>
              <a:rPr lang="en-US" sz="1425">
                <a:solidFill>
                  <a:srgbClr val="3C3C41"/>
                </a:solidFill>
                <a:latin typeface="Arimo"/>
                <a:ea typeface="Arimo"/>
                <a:cs typeface="Arimo"/>
                <a:sym typeface="Arimo"/>
              </a:rPr>
              <a:t>Charts alongside explanatory text</a:t>
            </a:r>
          </a:p>
          <a:p>
            <a:pPr marL="307658" lvl="1" indent="-153829" algn="l">
              <a:lnSpc>
                <a:spcPts val="1709"/>
              </a:lnSpc>
              <a:buFont typeface="Arial"/>
              <a:buChar char="•"/>
            </a:pPr>
            <a:r>
              <a:rPr lang="en-US" sz="1425">
                <a:solidFill>
                  <a:srgbClr val="3C3C41"/>
                </a:solidFill>
                <a:latin typeface="Arimo"/>
                <a:ea typeface="Arimo"/>
                <a:cs typeface="Arimo"/>
                <a:sym typeface="Arimo"/>
              </a:rPr>
              <a:t>Maintaining relationships between captions and figures</a:t>
            </a:r>
          </a:p>
          <a:p>
            <a:pPr algn="l">
              <a:lnSpc>
                <a:spcPts val="1709"/>
              </a:lnSpc>
            </a:pPr>
            <a:endParaRPr lang="en-US" sz="1425">
              <a:solidFill>
                <a:srgbClr val="3C3C41"/>
              </a:solidFill>
              <a:latin typeface="Arimo"/>
              <a:ea typeface="Arimo"/>
              <a:cs typeface="Arimo"/>
              <a:sym typeface="Arimo"/>
            </a:endParaRPr>
          </a:p>
        </p:txBody>
      </p:sp>
      <p:grpSp>
        <p:nvGrpSpPr>
          <p:cNvPr id="56" name="Group 56"/>
          <p:cNvGrpSpPr/>
          <p:nvPr/>
        </p:nvGrpSpPr>
        <p:grpSpPr>
          <a:xfrm rot="5400000">
            <a:off x="10853547" y="4188018"/>
            <a:ext cx="7036103" cy="3916913"/>
            <a:chOff x="0" y="0"/>
            <a:chExt cx="5981700" cy="3329940"/>
          </a:xfrm>
        </p:grpSpPr>
        <p:sp>
          <p:nvSpPr>
            <p:cNvPr id="57" name="Freeform 57"/>
            <p:cNvSpPr/>
            <p:nvPr/>
          </p:nvSpPr>
          <p:spPr>
            <a:xfrm>
              <a:off x="0" y="0"/>
              <a:ext cx="5981700" cy="3329940"/>
            </a:xfrm>
            <a:custGeom>
              <a:avLst/>
              <a:gdLst/>
              <a:ahLst/>
              <a:cxnLst/>
              <a:rect l="l" t="t" r="r" b="b"/>
              <a:pathLst>
                <a:path w="5981700" h="3329940">
                  <a:moveTo>
                    <a:pt x="0" y="116586"/>
                  </a:moveTo>
                  <a:cubicBezTo>
                    <a:pt x="0" y="52197"/>
                    <a:pt x="52197" y="0"/>
                    <a:pt x="116586" y="0"/>
                  </a:cubicBezTo>
                  <a:lnTo>
                    <a:pt x="5865114" y="0"/>
                  </a:lnTo>
                  <a:cubicBezTo>
                    <a:pt x="5929503" y="0"/>
                    <a:pt x="5981700" y="52197"/>
                    <a:pt x="5981700" y="116586"/>
                  </a:cubicBezTo>
                  <a:lnTo>
                    <a:pt x="5981700" y="3213354"/>
                  </a:lnTo>
                  <a:cubicBezTo>
                    <a:pt x="5981700" y="3277743"/>
                    <a:pt x="5929503" y="3329940"/>
                    <a:pt x="5865114" y="3329940"/>
                  </a:cubicBezTo>
                  <a:lnTo>
                    <a:pt x="116586" y="3329940"/>
                  </a:lnTo>
                  <a:cubicBezTo>
                    <a:pt x="52197" y="3329940"/>
                    <a:pt x="0" y="3277743"/>
                    <a:pt x="0" y="3213354"/>
                  </a:cubicBezTo>
                  <a:close/>
                </a:path>
              </a:pathLst>
            </a:custGeom>
            <a:solidFill>
              <a:srgbClr val="FFFFFF"/>
            </a:solidFill>
            <a:ln w="28575" cap="sq">
              <a:solidFill>
                <a:srgbClr val="353334"/>
              </a:solidFill>
              <a:prstDash val="solid"/>
              <a:miter/>
            </a:ln>
          </p:spPr>
        </p:sp>
      </p:grpSp>
      <p:grpSp>
        <p:nvGrpSpPr>
          <p:cNvPr id="58" name="Group 58"/>
          <p:cNvGrpSpPr/>
          <p:nvPr/>
        </p:nvGrpSpPr>
        <p:grpSpPr>
          <a:xfrm>
            <a:off x="12484357" y="2615979"/>
            <a:ext cx="2423160" cy="406908"/>
            <a:chOff x="0" y="0"/>
            <a:chExt cx="3230880" cy="542544"/>
          </a:xfrm>
        </p:grpSpPr>
        <p:sp>
          <p:nvSpPr>
            <p:cNvPr id="59" name="Freeform 59"/>
            <p:cNvSpPr/>
            <p:nvPr/>
          </p:nvSpPr>
          <p:spPr>
            <a:xfrm>
              <a:off x="0" y="0"/>
              <a:ext cx="3230880" cy="542544"/>
            </a:xfrm>
            <a:custGeom>
              <a:avLst/>
              <a:gdLst/>
              <a:ahLst/>
              <a:cxnLst/>
              <a:rect l="l" t="t" r="r" b="b"/>
              <a:pathLst>
                <a:path w="3230880" h="542544">
                  <a:moveTo>
                    <a:pt x="0" y="271272"/>
                  </a:moveTo>
                  <a:cubicBezTo>
                    <a:pt x="0" y="121412"/>
                    <a:pt x="121412" y="0"/>
                    <a:pt x="271272" y="0"/>
                  </a:cubicBezTo>
                  <a:lnTo>
                    <a:pt x="2959608" y="0"/>
                  </a:lnTo>
                  <a:cubicBezTo>
                    <a:pt x="3109468" y="0"/>
                    <a:pt x="3230880" y="121412"/>
                    <a:pt x="3230880" y="271272"/>
                  </a:cubicBezTo>
                  <a:cubicBezTo>
                    <a:pt x="3230880" y="421132"/>
                    <a:pt x="3109468" y="542544"/>
                    <a:pt x="2959608" y="542544"/>
                  </a:cubicBezTo>
                  <a:lnTo>
                    <a:pt x="271272" y="542544"/>
                  </a:lnTo>
                  <a:cubicBezTo>
                    <a:pt x="121412" y="542544"/>
                    <a:pt x="0" y="421132"/>
                    <a:pt x="0" y="271272"/>
                  </a:cubicBezTo>
                  <a:close/>
                </a:path>
              </a:pathLst>
            </a:custGeom>
            <a:solidFill>
              <a:srgbClr val="079ED2"/>
            </a:solidFill>
            <a:ln w="22860" cap="sq">
              <a:solidFill>
                <a:srgbClr val="353334"/>
              </a:solidFill>
              <a:prstDash val="solid"/>
              <a:miter/>
            </a:ln>
          </p:spPr>
        </p:sp>
        <p:sp>
          <p:nvSpPr>
            <p:cNvPr id="60" name="TextBox 60"/>
            <p:cNvSpPr txBox="1"/>
            <p:nvPr/>
          </p:nvSpPr>
          <p:spPr>
            <a:xfrm>
              <a:off x="0" y="-19050"/>
              <a:ext cx="3230880" cy="561594"/>
            </a:xfrm>
            <a:prstGeom prst="rect">
              <a:avLst/>
            </a:prstGeom>
          </p:spPr>
          <p:txBody>
            <a:bodyPr lIns="50800" tIns="50800" rIns="50800" bIns="50800" rtlCol="0" anchor="ctr"/>
            <a:lstStyle/>
            <a:p>
              <a:pPr algn="ctr">
                <a:lnSpc>
                  <a:spcPts val="1530"/>
                </a:lnSpc>
              </a:pPr>
              <a:r>
                <a:rPr lang="en-US" sz="1275" b="1">
                  <a:solidFill>
                    <a:srgbClr val="FFFFFF"/>
                  </a:solidFill>
                  <a:latin typeface="Arimo Bold"/>
                  <a:ea typeface="Arimo Bold"/>
                  <a:cs typeface="Arimo Bold"/>
                  <a:sym typeface="Arimo Bold"/>
                </a:rPr>
                <a:t>TECH 03</a:t>
              </a:r>
            </a:p>
          </p:txBody>
        </p:sp>
      </p:grpSp>
      <p:sp>
        <p:nvSpPr>
          <p:cNvPr id="61" name="TextBox 61"/>
          <p:cNvSpPr txBox="1"/>
          <p:nvPr/>
        </p:nvSpPr>
        <p:spPr>
          <a:xfrm>
            <a:off x="12603875" y="3471893"/>
            <a:ext cx="3726180" cy="5211683"/>
          </a:xfrm>
          <a:prstGeom prst="rect">
            <a:avLst/>
          </a:prstGeom>
        </p:spPr>
        <p:txBody>
          <a:bodyPr lIns="0" tIns="0" rIns="0" bIns="0" rtlCol="0" anchor="t">
            <a:spAutoFit/>
          </a:bodyPr>
          <a:lstStyle/>
          <a:p>
            <a:pPr algn="l">
              <a:lnSpc>
                <a:spcPts val="1980"/>
              </a:lnSpc>
            </a:pPr>
            <a:r>
              <a:rPr lang="en-US" sz="1650" b="1" dirty="0">
                <a:solidFill>
                  <a:srgbClr val="353334"/>
                </a:solidFill>
                <a:latin typeface="Arimo Bold"/>
                <a:ea typeface="Arimo Bold"/>
                <a:cs typeface="Arimo Bold"/>
                <a:sym typeface="Arimo Bold"/>
              </a:rPr>
              <a:t>VALIDATION</a:t>
            </a:r>
          </a:p>
          <a:p>
            <a:r>
              <a:rPr lang="en-US" sz="1600" b="1" dirty="0"/>
              <a:t>1. Extraction Quality</a:t>
            </a:r>
            <a:br>
              <a:rPr lang="en-US" sz="1600" dirty="0"/>
            </a:br>
            <a:r>
              <a:rPr lang="en-US" sz="1600" dirty="0"/>
              <a:t>Tested across:</a:t>
            </a:r>
          </a:p>
          <a:p>
            <a:r>
              <a:rPr lang="en-US" sz="1600" dirty="0"/>
              <a:t>Digital + scanned PDFs</a:t>
            </a:r>
          </a:p>
          <a:p>
            <a:r>
              <a:rPr lang="en-US" sz="1600" dirty="0"/>
              <a:t>DOCX / PPTX / XLSX</a:t>
            </a:r>
          </a:p>
          <a:p>
            <a:r>
              <a:rPr lang="en-US" sz="1600" dirty="0"/>
              <a:t>Multi-column layouts</a:t>
            </a:r>
          </a:p>
          <a:p>
            <a:r>
              <a:rPr lang="en-US" sz="1600" dirty="0"/>
              <a:t>Tables + merged cells</a:t>
            </a:r>
          </a:p>
          <a:p>
            <a:r>
              <a:rPr lang="en-US" sz="1600" dirty="0"/>
              <a:t>Figures / charts</a:t>
            </a:r>
          </a:p>
          <a:p>
            <a:r>
              <a:rPr lang="en-US" sz="1600" dirty="0"/>
              <a:t>Mathematical equations</a:t>
            </a:r>
          </a:p>
          <a:p>
            <a:r>
              <a:rPr lang="en-US" sz="1600" dirty="0"/>
              <a:t>OCR </a:t>
            </a:r>
          </a:p>
          <a:p>
            <a:r>
              <a:rPr lang="en-US" sz="1600" b="1" dirty="0"/>
              <a:t>2. Structural Validation</a:t>
            </a:r>
            <a:endParaRPr lang="en-US" sz="1600" dirty="0"/>
          </a:p>
          <a:p>
            <a:r>
              <a:rPr lang="en-US" sz="1600" dirty="0"/>
              <a:t>Every block retains provenance</a:t>
            </a:r>
          </a:p>
          <a:p>
            <a:r>
              <a:rPr lang="en-US" sz="1600" dirty="0"/>
              <a:t>Bounding boxes remain within page/slide boundaries</a:t>
            </a:r>
          </a:p>
          <a:p>
            <a:r>
              <a:rPr lang="en-US" sz="1600" dirty="0"/>
              <a:t>Reading order is validated</a:t>
            </a:r>
          </a:p>
          <a:p>
            <a:r>
              <a:rPr lang="en-US" sz="1600" dirty="0"/>
              <a:t>Cross-page tables are checked before merging</a:t>
            </a:r>
          </a:p>
          <a:p>
            <a:r>
              <a:rPr lang="en-US" sz="1600" dirty="0"/>
              <a:t>Table totals/consistency are mathematically validated</a:t>
            </a:r>
          </a:p>
          <a:p>
            <a:r>
              <a:rPr lang="en-US" sz="1600" b="1" dirty="0"/>
              <a:t>3. Performance &amp; Reliability</a:t>
            </a:r>
            <a:br>
              <a:rPr lang="en-US" sz="1600" dirty="0"/>
            </a:br>
            <a:r>
              <a:rPr lang="en-US" sz="1600" dirty="0"/>
              <a:t>Measured using real </a:t>
            </a:r>
            <a:r>
              <a:rPr lang="en-US" dirty="0" err="1"/>
              <a:t>time.perf_counter</a:t>
            </a:r>
            <a:r>
              <a:rPr lang="en-US" dirty="0"/>
              <a:t>()</a:t>
            </a:r>
            <a:endParaRPr lang="en-US" sz="1425" dirty="0">
              <a:solidFill>
                <a:srgbClr val="3C3C41"/>
              </a:solidFill>
              <a:latin typeface="Arimo"/>
              <a:ea typeface="Arimo"/>
              <a:cs typeface="Arimo"/>
              <a:sym typeface="Arim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7543" cy="10287000"/>
            <a:chOff x="0" y="0"/>
            <a:chExt cx="24383390" cy="13716000"/>
          </a:xfrm>
        </p:grpSpPr>
        <p:sp>
          <p:nvSpPr>
            <p:cNvPr id="3" name="Freeform 3"/>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close/>
                </a:path>
              </a:pathLst>
            </a:custGeom>
            <a:solidFill>
              <a:srgbClr val="FFFFF1"/>
            </a:solidFill>
          </p:spPr>
        </p:sp>
      </p:grpSp>
      <p:grpSp>
        <p:nvGrpSpPr>
          <p:cNvPr id="4" name="Group 4"/>
          <p:cNvGrpSpPr/>
          <p:nvPr/>
        </p:nvGrpSpPr>
        <p:grpSpPr>
          <a:xfrm>
            <a:off x="-274320" y="1577340"/>
            <a:ext cx="1577340" cy="493776"/>
            <a:chOff x="0" y="0"/>
            <a:chExt cx="2103120" cy="658368"/>
          </a:xfrm>
        </p:grpSpPr>
        <p:sp>
          <p:nvSpPr>
            <p:cNvPr id="5" name="Freeform 5"/>
            <p:cNvSpPr/>
            <p:nvPr/>
          </p:nvSpPr>
          <p:spPr>
            <a:xfrm>
              <a:off x="0" y="0"/>
              <a:ext cx="2103120" cy="658368"/>
            </a:xfrm>
            <a:custGeom>
              <a:avLst/>
              <a:gdLst/>
              <a:ahLst/>
              <a:cxnLst/>
              <a:rect l="l" t="t" r="r" b="b"/>
              <a:pathLst>
                <a:path w="2103120" h="658368">
                  <a:moveTo>
                    <a:pt x="0" y="329184"/>
                  </a:moveTo>
                  <a:cubicBezTo>
                    <a:pt x="0" y="147320"/>
                    <a:pt x="147320" y="0"/>
                    <a:pt x="329184" y="0"/>
                  </a:cubicBezTo>
                  <a:lnTo>
                    <a:pt x="1773936" y="0"/>
                  </a:lnTo>
                  <a:cubicBezTo>
                    <a:pt x="1955800" y="0"/>
                    <a:pt x="2103120" y="147320"/>
                    <a:pt x="2103120" y="329184"/>
                  </a:cubicBezTo>
                  <a:cubicBezTo>
                    <a:pt x="2103120" y="511048"/>
                    <a:pt x="1955800" y="658368"/>
                    <a:pt x="1773936" y="658368"/>
                  </a:cubicBezTo>
                  <a:lnTo>
                    <a:pt x="329184" y="658368"/>
                  </a:lnTo>
                  <a:cubicBezTo>
                    <a:pt x="147320" y="658368"/>
                    <a:pt x="0" y="511048"/>
                    <a:pt x="0" y="329184"/>
                  </a:cubicBezTo>
                  <a:close/>
                </a:path>
              </a:pathLst>
            </a:custGeom>
            <a:solidFill>
              <a:srgbClr val="FFB903"/>
            </a:solidFill>
          </p:spPr>
        </p:sp>
      </p:grpSp>
      <p:grpSp>
        <p:nvGrpSpPr>
          <p:cNvPr id="6" name="Group 6"/>
          <p:cNvGrpSpPr/>
          <p:nvPr/>
        </p:nvGrpSpPr>
        <p:grpSpPr>
          <a:xfrm>
            <a:off x="-274320" y="2180844"/>
            <a:ext cx="2194560" cy="493776"/>
            <a:chOff x="0" y="0"/>
            <a:chExt cx="2926080" cy="658368"/>
          </a:xfrm>
        </p:grpSpPr>
        <p:sp>
          <p:nvSpPr>
            <p:cNvPr id="7" name="Freeform 7"/>
            <p:cNvSpPr/>
            <p:nvPr/>
          </p:nvSpPr>
          <p:spPr>
            <a:xfrm>
              <a:off x="0" y="0"/>
              <a:ext cx="2926080" cy="658368"/>
            </a:xfrm>
            <a:custGeom>
              <a:avLst/>
              <a:gdLst/>
              <a:ahLst/>
              <a:cxnLst/>
              <a:rect l="l" t="t" r="r" b="b"/>
              <a:pathLst>
                <a:path w="2926080" h="658368">
                  <a:moveTo>
                    <a:pt x="0" y="329184"/>
                  </a:moveTo>
                  <a:cubicBezTo>
                    <a:pt x="0" y="147320"/>
                    <a:pt x="147320" y="0"/>
                    <a:pt x="329184" y="0"/>
                  </a:cubicBezTo>
                  <a:lnTo>
                    <a:pt x="2596896" y="0"/>
                  </a:lnTo>
                  <a:cubicBezTo>
                    <a:pt x="2778760" y="0"/>
                    <a:pt x="2926080" y="147320"/>
                    <a:pt x="2926080" y="329184"/>
                  </a:cubicBezTo>
                  <a:cubicBezTo>
                    <a:pt x="2926080" y="511048"/>
                    <a:pt x="2778760" y="658368"/>
                    <a:pt x="2596896" y="658368"/>
                  </a:cubicBezTo>
                  <a:lnTo>
                    <a:pt x="329184" y="658368"/>
                  </a:lnTo>
                  <a:cubicBezTo>
                    <a:pt x="147320" y="658368"/>
                    <a:pt x="0" y="511048"/>
                    <a:pt x="0" y="329184"/>
                  </a:cubicBezTo>
                  <a:close/>
                </a:path>
              </a:pathLst>
            </a:custGeom>
            <a:solidFill>
              <a:srgbClr val="079ED2"/>
            </a:solidFill>
          </p:spPr>
        </p:sp>
      </p:grpSp>
      <p:grpSp>
        <p:nvGrpSpPr>
          <p:cNvPr id="8" name="Group 8"/>
          <p:cNvGrpSpPr/>
          <p:nvPr/>
        </p:nvGrpSpPr>
        <p:grpSpPr>
          <a:xfrm>
            <a:off x="-274320" y="2784348"/>
            <a:ext cx="1577340" cy="493776"/>
            <a:chOff x="0" y="0"/>
            <a:chExt cx="2103120" cy="658368"/>
          </a:xfrm>
        </p:grpSpPr>
        <p:sp>
          <p:nvSpPr>
            <p:cNvPr id="9" name="Freeform 9"/>
            <p:cNvSpPr/>
            <p:nvPr/>
          </p:nvSpPr>
          <p:spPr>
            <a:xfrm>
              <a:off x="0" y="0"/>
              <a:ext cx="2103120" cy="658368"/>
            </a:xfrm>
            <a:custGeom>
              <a:avLst/>
              <a:gdLst/>
              <a:ahLst/>
              <a:cxnLst/>
              <a:rect l="l" t="t" r="r" b="b"/>
              <a:pathLst>
                <a:path w="2103120" h="658368">
                  <a:moveTo>
                    <a:pt x="0" y="329184"/>
                  </a:moveTo>
                  <a:cubicBezTo>
                    <a:pt x="0" y="147320"/>
                    <a:pt x="147320" y="0"/>
                    <a:pt x="329184" y="0"/>
                  </a:cubicBezTo>
                  <a:lnTo>
                    <a:pt x="1773936" y="0"/>
                  </a:lnTo>
                  <a:cubicBezTo>
                    <a:pt x="1955800" y="0"/>
                    <a:pt x="2103120" y="147320"/>
                    <a:pt x="2103120" y="329184"/>
                  </a:cubicBezTo>
                  <a:cubicBezTo>
                    <a:pt x="2103120" y="511048"/>
                    <a:pt x="1955800" y="658368"/>
                    <a:pt x="1773936" y="658368"/>
                  </a:cubicBezTo>
                  <a:lnTo>
                    <a:pt x="329184" y="658368"/>
                  </a:lnTo>
                  <a:cubicBezTo>
                    <a:pt x="147320" y="658368"/>
                    <a:pt x="0" y="511048"/>
                    <a:pt x="0" y="329184"/>
                  </a:cubicBezTo>
                  <a:close/>
                </a:path>
              </a:pathLst>
            </a:custGeom>
            <a:solidFill>
              <a:srgbClr val="FD1485"/>
            </a:solidFill>
          </p:spPr>
        </p:sp>
      </p:grpSp>
      <p:grpSp>
        <p:nvGrpSpPr>
          <p:cNvPr id="10" name="Group 10"/>
          <p:cNvGrpSpPr/>
          <p:nvPr/>
        </p:nvGrpSpPr>
        <p:grpSpPr>
          <a:xfrm>
            <a:off x="17282160" y="822960"/>
            <a:ext cx="329184" cy="246888"/>
            <a:chOff x="0" y="0"/>
            <a:chExt cx="438912" cy="329184"/>
          </a:xfrm>
        </p:grpSpPr>
        <p:sp>
          <p:nvSpPr>
            <p:cNvPr id="11" name="Freeform 11"/>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353334"/>
            </a:solidFill>
          </p:spPr>
        </p:sp>
      </p:grpSp>
      <p:grpSp>
        <p:nvGrpSpPr>
          <p:cNvPr id="12" name="Group 12"/>
          <p:cNvGrpSpPr/>
          <p:nvPr/>
        </p:nvGrpSpPr>
        <p:grpSpPr>
          <a:xfrm>
            <a:off x="17282160" y="1069848"/>
            <a:ext cx="329184" cy="246888"/>
            <a:chOff x="0" y="0"/>
            <a:chExt cx="438912" cy="329184"/>
          </a:xfrm>
        </p:grpSpPr>
        <p:sp>
          <p:nvSpPr>
            <p:cNvPr id="13" name="Freeform 13"/>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FFB903"/>
            </a:solidFill>
          </p:spPr>
        </p:sp>
      </p:grpSp>
      <p:grpSp>
        <p:nvGrpSpPr>
          <p:cNvPr id="14" name="Group 14"/>
          <p:cNvGrpSpPr/>
          <p:nvPr/>
        </p:nvGrpSpPr>
        <p:grpSpPr>
          <a:xfrm>
            <a:off x="17282160" y="1316736"/>
            <a:ext cx="329184" cy="246888"/>
            <a:chOff x="0" y="0"/>
            <a:chExt cx="438912" cy="329184"/>
          </a:xfrm>
        </p:grpSpPr>
        <p:sp>
          <p:nvSpPr>
            <p:cNvPr id="15" name="Freeform 15"/>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FD1485"/>
            </a:solidFill>
          </p:spPr>
        </p:sp>
      </p:grpSp>
      <p:grpSp>
        <p:nvGrpSpPr>
          <p:cNvPr id="16" name="Group 16"/>
          <p:cNvGrpSpPr/>
          <p:nvPr/>
        </p:nvGrpSpPr>
        <p:grpSpPr>
          <a:xfrm>
            <a:off x="17282160" y="1563624"/>
            <a:ext cx="329184" cy="246888"/>
            <a:chOff x="0" y="0"/>
            <a:chExt cx="438912" cy="329184"/>
          </a:xfrm>
        </p:grpSpPr>
        <p:sp>
          <p:nvSpPr>
            <p:cNvPr id="17" name="Freeform 17"/>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079ED2"/>
            </a:solidFill>
          </p:spPr>
        </p:sp>
      </p:grpSp>
      <p:grpSp>
        <p:nvGrpSpPr>
          <p:cNvPr id="18" name="Group 18"/>
          <p:cNvGrpSpPr/>
          <p:nvPr/>
        </p:nvGrpSpPr>
        <p:grpSpPr>
          <a:xfrm>
            <a:off x="822960" y="8366760"/>
            <a:ext cx="329184" cy="246888"/>
            <a:chOff x="0" y="0"/>
            <a:chExt cx="438912" cy="329184"/>
          </a:xfrm>
        </p:grpSpPr>
        <p:sp>
          <p:nvSpPr>
            <p:cNvPr id="19" name="Freeform 19"/>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353334"/>
            </a:solidFill>
          </p:spPr>
        </p:sp>
      </p:grpSp>
      <p:grpSp>
        <p:nvGrpSpPr>
          <p:cNvPr id="20" name="Group 20"/>
          <p:cNvGrpSpPr/>
          <p:nvPr/>
        </p:nvGrpSpPr>
        <p:grpSpPr>
          <a:xfrm>
            <a:off x="822960" y="8613648"/>
            <a:ext cx="329184" cy="246888"/>
            <a:chOff x="0" y="0"/>
            <a:chExt cx="438912" cy="329184"/>
          </a:xfrm>
        </p:grpSpPr>
        <p:sp>
          <p:nvSpPr>
            <p:cNvPr id="21" name="Freeform 21"/>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FFB903"/>
            </a:solidFill>
          </p:spPr>
        </p:sp>
      </p:grpSp>
      <p:grpSp>
        <p:nvGrpSpPr>
          <p:cNvPr id="22" name="Group 22"/>
          <p:cNvGrpSpPr/>
          <p:nvPr/>
        </p:nvGrpSpPr>
        <p:grpSpPr>
          <a:xfrm>
            <a:off x="822960" y="8860536"/>
            <a:ext cx="329184" cy="246888"/>
            <a:chOff x="0" y="0"/>
            <a:chExt cx="438912" cy="329184"/>
          </a:xfrm>
        </p:grpSpPr>
        <p:sp>
          <p:nvSpPr>
            <p:cNvPr id="23" name="Freeform 23"/>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FD1485"/>
            </a:solidFill>
          </p:spPr>
        </p:sp>
      </p:grpSp>
      <p:grpSp>
        <p:nvGrpSpPr>
          <p:cNvPr id="24" name="Group 24"/>
          <p:cNvGrpSpPr/>
          <p:nvPr/>
        </p:nvGrpSpPr>
        <p:grpSpPr>
          <a:xfrm>
            <a:off x="822960" y="9107424"/>
            <a:ext cx="329184" cy="246888"/>
            <a:chOff x="0" y="0"/>
            <a:chExt cx="438912" cy="329184"/>
          </a:xfrm>
        </p:grpSpPr>
        <p:sp>
          <p:nvSpPr>
            <p:cNvPr id="25" name="Freeform 25"/>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079ED2"/>
            </a:solidFill>
          </p:spPr>
        </p:sp>
      </p:grpSp>
      <p:grpSp>
        <p:nvGrpSpPr>
          <p:cNvPr id="26" name="Group 26"/>
          <p:cNvGrpSpPr/>
          <p:nvPr/>
        </p:nvGrpSpPr>
        <p:grpSpPr>
          <a:xfrm>
            <a:off x="16630650" y="8901112"/>
            <a:ext cx="480060" cy="28575"/>
            <a:chOff x="0" y="0"/>
            <a:chExt cx="640080" cy="38100"/>
          </a:xfrm>
        </p:grpSpPr>
        <p:sp>
          <p:nvSpPr>
            <p:cNvPr id="27" name="Freeform 27"/>
            <p:cNvSpPr/>
            <p:nvPr/>
          </p:nvSpPr>
          <p:spPr>
            <a:xfrm>
              <a:off x="0" y="0"/>
              <a:ext cx="640080" cy="38100"/>
            </a:xfrm>
            <a:custGeom>
              <a:avLst/>
              <a:gdLst/>
              <a:ahLst/>
              <a:cxnLst/>
              <a:rect l="l" t="t" r="r" b="b"/>
              <a:pathLst>
                <a:path w="640080" h="38100">
                  <a:moveTo>
                    <a:pt x="0" y="0"/>
                  </a:moveTo>
                  <a:lnTo>
                    <a:pt x="640080" y="0"/>
                  </a:lnTo>
                  <a:lnTo>
                    <a:pt x="640080" y="38100"/>
                  </a:lnTo>
                  <a:lnTo>
                    <a:pt x="0" y="38100"/>
                  </a:lnTo>
                  <a:close/>
                </a:path>
              </a:pathLst>
            </a:custGeom>
            <a:solidFill>
              <a:srgbClr val="353334"/>
            </a:solidFill>
          </p:spPr>
        </p:sp>
      </p:grpSp>
      <p:grpSp>
        <p:nvGrpSpPr>
          <p:cNvPr id="28" name="Group 28"/>
          <p:cNvGrpSpPr/>
          <p:nvPr/>
        </p:nvGrpSpPr>
        <p:grpSpPr>
          <a:xfrm>
            <a:off x="16856392" y="8675370"/>
            <a:ext cx="28575" cy="480060"/>
            <a:chOff x="0" y="0"/>
            <a:chExt cx="38100" cy="640080"/>
          </a:xfrm>
        </p:grpSpPr>
        <p:sp>
          <p:nvSpPr>
            <p:cNvPr id="29" name="Freeform 29"/>
            <p:cNvSpPr/>
            <p:nvPr/>
          </p:nvSpPr>
          <p:spPr>
            <a:xfrm>
              <a:off x="0" y="0"/>
              <a:ext cx="38100" cy="640080"/>
            </a:xfrm>
            <a:custGeom>
              <a:avLst/>
              <a:gdLst/>
              <a:ahLst/>
              <a:cxnLst/>
              <a:rect l="l" t="t" r="r" b="b"/>
              <a:pathLst>
                <a:path w="38100" h="640080">
                  <a:moveTo>
                    <a:pt x="0" y="0"/>
                  </a:moveTo>
                  <a:lnTo>
                    <a:pt x="38100" y="0"/>
                  </a:lnTo>
                  <a:lnTo>
                    <a:pt x="38100" y="640080"/>
                  </a:lnTo>
                  <a:lnTo>
                    <a:pt x="0" y="640080"/>
                  </a:lnTo>
                  <a:close/>
                </a:path>
              </a:pathLst>
            </a:custGeom>
            <a:solidFill>
              <a:srgbClr val="353334"/>
            </a:solidFill>
          </p:spPr>
        </p:sp>
      </p:grpSp>
      <p:grpSp>
        <p:nvGrpSpPr>
          <p:cNvPr id="30" name="Group 30"/>
          <p:cNvGrpSpPr/>
          <p:nvPr/>
        </p:nvGrpSpPr>
        <p:grpSpPr>
          <a:xfrm>
            <a:off x="16788384" y="8833104"/>
            <a:ext cx="164592" cy="164592"/>
            <a:chOff x="0" y="0"/>
            <a:chExt cx="219456" cy="219456"/>
          </a:xfrm>
        </p:grpSpPr>
        <p:sp>
          <p:nvSpPr>
            <p:cNvPr id="31" name="Freeform 31"/>
            <p:cNvSpPr/>
            <p:nvPr/>
          </p:nvSpPr>
          <p:spPr>
            <a:xfrm>
              <a:off x="0" y="0"/>
              <a:ext cx="219456" cy="219456"/>
            </a:xfrm>
            <a:custGeom>
              <a:avLst/>
              <a:gdLst/>
              <a:ahLst/>
              <a:cxnLst/>
              <a:rect l="l" t="t" r="r" b="b"/>
              <a:pathLst>
                <a:path w="219456" h="219456">
                  <a:moveTo>
                    <a:pt x="0" y="0"/>
                  </a:moveTo>
                  <a:lnTo>
                    <a:pt x="219456" y="0"/>
                  </a:lnTo>
                  <a:lnTo>
                    <a:pt x="219456" y="219456"/>
                  </a:lnTo>
                  <a:lnTo>
                    <a:pt x="0" y="219456"/>
                  </a:lnTo>
                  <a:close/>
                </a:path>
              </a:pathLst>
            </a:custGeom>
            <a:solidFill>
              <a:srgbClr val="FFB903"/>
            </a:solidFill>
          </p:spPr>
        </p:sp>
      </p:grpSp>
      <p:grpSp>
        <p:nvGrpSpPr>
          <p:cNvPr id="32" name="Group 32"/>
          <p:cNvGrpSpPr/>
          <p:nvPr/>
        </p:nvGrpSpPr>
        <p:grpSpPr>
          <a:xfrm>
            <a:off x="12604432" y="945832"/>
            <a:ext cx="1537335" cy="1263015"/>
            <a:chOff x="0" y="0"/>
            <a:chExt cx="2049780" cy="1684020"/>
          </a:xfrm>
        </p:grpSpPr>
        <p:sp>
          <p:nvSpPr>
            <p:cNvPr id="33" name="Freeform 33"/>
            <p:cNvSpPr/>
            <p:nvPr/>
          </p:nvSpPr>
          <p:spPr>
            <a:xfrm>
              <a:off x="1024890" y="0"/>
              <a:ext cx="1024890" cy="842010"/>
            </a:xfrm>
            <a:custGeom>
              <a:avLst/>
              <a:gdLst/>
              <a:ahLst/>
              <a:cxnLst/>
              <a:rect l="l" t="t" r="r" b="b"/>
              <a:pathLst>
                <a:path w="1024890" h="842010">
                  <a:moveTo>
                    <a:pt x="0" y="0"/>
                  </a:moveTo>
                  <a:cubicBezTo>
                    <a:pt x="566039" y="0"/>
                    <a:pt x="1024890" y="376936"/>
                    <a:pt x="1024890" y="842010"/>
                  </a:cubicBezTo>
                  <a:lnTo>
                    <a:pt x="0" y="842010"/>
                  </a:lnTo>
                  <a:close/>
                </a:path>
              </a:pathLst>
            </a:custGeom>
            <a:blipFill>
              <a:blip r:embed="rId2">
                <a:alphaModFix amt="0"/>
              </a:blip>
              <a:stretch>
                <a:fillRect l="-210818" r="-110818" b="-99999"/>
              </a:stretch>
            </a:blipFill>
            <a:ln w="28575" cap="sq">
              <a:solidFill>
                <a:srgbClr val="079ED2"/>
              </a:solidFill>
              <a:prstDash val="solid"/>
              <a:miter/>
            </a:ln>
          </p:spPr>
        </p:sp>
        <p:sp>
          <p:nvSpPr>
            <p:cNvPr id="34" name="Freeform 34"/>
            <p:cNvSpPr/>
            <p:nvPr/>
          </p:nvSpPr>
          <p:spPr>
            <a:xfrm>
              <a:off x="1024890" y="0"/>
              <a:ext cx="1024890" cy="842010"/>
            </a:xfrm>
            <a:custGeom>
              <a:avLst/>
              <a:gdLst/>
              <a:ahLst/>
              <a:cxnLst/>
              <a:rect l="l" t="t" r="r" b="b"/>
              <a:pathLst>
                <a:path w="1024890" h="842010">
                  <a:moveTo>
                    <a:pt x="0" y="0"/>
                  </a:moveTo>
                  <a:cubicBezTo>
                    <a:pt x="566039" y="0"/>
                    <a:pt x="1024890" y="376936"/>
                    <a:pt x="1024890" y="842010"/>
                  </a:cubicBezTo>
                </a:path>
              </a:pathLst>
            </a:custGeom>
            <a:blipFill>
              <a:blip r:embed="rId2">
                <a:alphaModFix amt="0"/>
              </a:blip>
              <a:stretch>
                <a:fillRect l="-210818" r="-110818" b="-99999"/>
              </a:stretch>
            </a:blipFill>
            <a:ln w="28575" cap="sq">
              <a:solidFill>
                <a:srgbClr val="079ED2"/>
              </a:solidFill>
              <a:prstDash val="solid"/>
              <a:miter/>
            </a:ln>
          </p:spPr>
        </p:sp>
      </p:grpSp>
      <p:grpSp>
        <p:nvGrpSpPr>
          <p:cNvPr id="35" name="Group 35"/>
          <p:cNvGrpSpPr/>
          <p:nvPr/>
        </p:nvGrpSpPr>
        <p:grpSpPr>
          <a:xfrm>
            <a:off x="12543663" y="1502283"/>
            <a:ext cx="150114" cy="150114"/>
            <a:chOff x="0" y="0"/>
            <a:chExt cx="200152" cy="200152"/>
          </a:xfrm>
        </p:grpSpPr>
        <p:sp>
          <p:nvSpPr>
            <p:cNvPr id="36" name="Freeform 36"/>
            <p:cNvSpPr/>
            <p:nvPr/>
          </p:nvSpPr>
          <p:spPr>
            <a:xfrm>
              <a:off x="0" y="0"/>
              <a:ext cx="200152" cy="200152"/>
            </a:xfrm>
            <a:custGeom>
              <a:avLst/>
              <a:gdLst/>
              <a:ahLst/>
              <a:cxnLst/>
              <a:rect l="l" t="t" r="r" b="b"/>
              <a:pathLst>
                <a:path w="200152" h="200152">
                  <a:moveTo>
                    <a:pt x="0" y="0"/>
                  </a:moveTo>
                  <a:lnTo>
                    <a:pt x="200152" y="0"/>
                  </a:lnTo>
                  <a:lnTo>
                    <a:pt x="200152" y="200152"/>
                  </a:lnTo>
                  <a:lnTo>
                    <a:pt x="0" y="200152"/>
                  </a:lnTo>
                  <a:close/>
                </a:path>
              </a:pathLst>
            </a:custGeom>
            <a:solidFill>
              <a:srgbClr val="FFFFFF"/>
            </a:solidFill>
            <a:ln w="26670" cap="sq">
              <a:solidFill>
                <a:srgbClr val="FD1485"/>
              </a:solidFill>
              <a:prstDash val="solid"/>
              <a:miter/>
            </a:ln>
          </p:spPr>
        </p:sp>
      </p:grpSp>
      <p:grpSp>
        <p:nvGrpSpPr>
          <p:cNvPr id="37" name="Group 37"/>
          <p:cNvGrpSpPr/>
          <p:nvPr/>
        </p:nvGrpSpPr>
        <p:grpSpPr>
          <a:xfrm>
            <a:off x="14052423" y="885063"/>
            <a:ext cx="150114" cy="150114"/>
            <a:chOff x="0" y="0"/>
            <a:chExt cx="200152" cy="200152"/>
          </a:xfrm>
        </p:grpSpPr>
        <p:sp>
          <p:nvSpPr>
            <p:cNvPr id="38" name="Freeform 38"/>
            <p:cNvSpPr/>
            <p:nvPr/>
          </p:nvSpPr>
          <p:spPr>
            <a:xfrm>
              <a:off x="0" y="0"/>
              <a:ext cx="200152" cy="200152"/>
            </a:xfrm>
            <a:custGeom>
              <a:avLst/>
              <a:gdLst/>
              <a:ahLst/>
              <a:cxnLst/>
              <a:rect l="l" t="t" r="r" b="b"/>
              <a:pathLst>
                <a:path w="200152" h="200152">
                  <a:moveTo>
                    <a:pt x="0" y="0"/>
                  </a:moveTo>
                  <a:lnTo>
                    <a:pt x="200152" y="0"/>
                  </a:lnTo>
                  <a:lnTo>
                    <a:pt x="200152" y="200152"/>
                  </a:lnTo>
                  <a:lnTo>
                    <a:pt x="0" y="200152"/>
                  </a:lnTo>
                  <a:close/>
                </a:path>
              </a:pathLst>
            </a:custGeom>
            <a:solidFill>
              <a:srgbClr val="FFFFFF"/>
            </a:solidFill>
            <a:ln w="26670" cap="sq">
              <a:solidFill>
                <a:srgbClr val="FD1485"/>
              </a:solidFill>
              <a:prstDash val="solid"/>
              <a:miter/>
            </a:ln>
          </p:spPr>
        </p:sp>
      </p:grpSp>
      <p:sp>
        <p:nvSpPr>
          <p:cNvPr id="39" name="TextBox 39"/>
          <p:cNvSpPr txBox="1"/>
          <p:nvPr/>
        </p:nvSpPr>
        <p:spPr>
          <a:xfrm>
            <a:off x="2468880" y="566547"/>
            <a:ext cx="12344400" cy="421005"/>
          </a:xfrm>
          <a:prstGeom prst="rect">
            <a:avLst/>
          </a:prstGeom>
        </p:spPr>
        <p:txBody>
          <a:bodyPr lIns="0" tIns="0" rIns="0" bIns="0" rtlCol="0" anchor="t">
            <a:spAutoFit/>
          </a:bodyPr>
          <a:lstStyle/>
          <a:p>
            <a:pPr algn="l">
              <a:lnSpc>
                <a:spcPts val="1889"/>
              </a:lnSpc>
            </a:pPr>
            <a:r>
              <a:rPr lang="en-US" sz="1575" b="1">
                <a:solidFill>
                  <a:srgbClr val="353334"/>
                </a:solidFill>
                <a:latin typeface="Arimo Bold"/>
                <a:ea typeface="Arimo Bold"/>
                <a:cs typeface="Arimo Bold"/>
                <a:sym typeface="Arimo Bold"/>
              </a:rPr>
              <a:t>DATAQUEST 3.0  ·  ROUND 1</a:t>
            </a:r>
          </a:p>
        </p:txBody>
      </p:sp>
      <p:sp>
        <p:nvSpPr>
          <p:cNvPr id="40" name="TextBox 40"/>
          <p:cNvSpPr txBox="1"/>
          <p:nvPr/>
        </p:nvSpPr>
        <p:spPr>
          <a:xfrm>
            <a:off x="2468880" y="913638"/>
            <a:ext cx="13716000" cy="1184910"/>
          </a:xfrm>
          <a:prstGeom prst="rect">
            <a:avLst/>
          </a:prstGeom>
        </p:spPr>
        <p:txBody>
          <a:bodyPr lIns="0" tIns="0" rIns="0" bIns="0" rtlCol="0" anchor="t">
            <a:spAutoFit/>
          </a:bodyPr>
          <a:lstStyle/>
          <a:p>
            <a:pPr algn="l">
              <a:lnSpc>
                <a:spcPts val="5759"/>
              </a:lnSpc>
            </a:pPr>
            <a:r>
              <a:rPr lang="en-US" sz="4800" b="1">
                <a:solidFill>
                  <a:srgbClr val="FD1485"/>
                </a:solidFill>
                <a:latin typeface="Arimo Bold"/>
                <a:ea typeface="Arimo Bold"/>
                <a:cs typeface="Arimo Bold"/>
                <a:sym typeface="Arimo Bold"/>
              </a:rPr>
              <a:t>05  </a:t>
            </a:r>
            <a:r>
              <a:rPr lang="en-US" sz="4800" b="1">
                <a:solidFill>
                  <a:srgbClr val="353334"/>
                </a:solidFill>
                <a:latin typeface="Arimo Bold"/>
                <a:ea typeface="Arimo Bold"/>
                <a:cs typeface="Arimo Bold"/>
                <a:sym typeface="Arimo Bold"/>
              </a:rPr>
              <a:t>Feasibility &amp; Scope</a:t>
            </a:r>
          </a:p>
        </p:txBody>
      </p:sp>
      <p:grpSp>
        <p:nvGrpSpPr>
          <p:cNvPr id="41" name="Group 41"/>
          <p:cNvGrpSpPr/>
          <p:nvPr/>
        </p:nvGrpSpPr>
        <p:grpSpPr>
          <a:xfrm>
            <a:off x="2468880" y="2167128"/>
            <a:ext cx="14127480" cy="28575"/>
            <a:chOff x="0" y="0"/>
            <a:chExt cx="18836640" cy="38100"/>
          </a:xfrm>
        </p:grpSpPr>
        <p:sp>
          <p:nvSpPr>
            <p:cNvPr id="42" name="Freeform 42"/>
            <p:cNvSpPr/>
            <p:nvPr/>
          </p:nvSpPr>
          <p:spPr>
            <a:xfrm>
              <a:off x="0" y="0"/>
              <a:ext cx="18836639" cy="38100"/>
            </a:xfrm>
            <a:custGeom>
              <a:avLst/>
              <a:gdLst/>
              <a:ahLst/>
              <a:cxnLst/>
              <a:rect l="l" t="t" r="r" b="b"/>
              <a:pathLst>
                <a:path w="18836639" h="38100">
                  <a:moveTo>
                    <a:pt x="0" y="0"/>
                  </a:moveTo>
                  <a:lnTo>
                    <a:pt x="18836639" y="0"/>
                  </a:lnTo>
                  <a:lnTo>
                    <a:pt x="18836639" y="38100"/>
                  </a:lnTo>
                  <a:lnTo>
                    <a:pt x="0" y="38100"/>
                  </a:lnTo>
                  <a:close/>
                </a:path>
              </a:pathLst>
            </a:custGeom>
            <a:solidFill>
              <a:srgbClr val="353334"/>
            </a:solidFill>
          </p:spPr>
        </p:sp>
      </p:grpSp>
      <p:sp>
        <p:nvSpPr>
          <p:cNvPr id="43" name="TextBox 43"/>
          <p:cNvSpPr txBox="1"/>
          <p:nvPr/>
        </p:nvSpPr>
        <p:spPr>
          <a:xfrm>
            <a:off x="2468880" y="2257806"/>
            <a:ext cx="14127480" cy="499110"/>
          </a:xfrm>
          <a:prstGeom prst="rect">
            <a:avLst/>
          </a:prstGeom>
        </p:spPr>
        <p:txBody>
          <a:bodyPr lIns="0" tIns="0" rIns="0" bIns="0" rtlCol="0" anchor="t">
            <a:spAutoFit/>
          </a:bodyPr>
          <a:lstStyle/>
          <a:p>
            <a:pPr algn="l">
              <a:lnSpc>
                <a:spcPts val="1980"/>
              </a:lnSpc>
            </a:pPr>
            <a:r>
              <a:rPr lang="en-US" sz="1650">
                <a:solidFill>
                  <a:srgbClr val="6E6E73"/>
                </a:solidFill>
                <a:latin typeface="Arimo"/>
                <a:ea typeface="Arimo"/>
                <a:cs typeface="Arimo"/>
                <a:sym typeface="Arimo"/>
              </a:rPr>
              <a:t>Concrete boundaries · Operational run rate · Risk mitigation · Post-hackathon plans</a:t>
            </a:r>
          </a:p>
        </p:txBody>
      </p:sp>
      <p:grpSp>
        <p:nvGrpSpPr>
          <p:cNvPr id="44" name="Group 44"/>
          <p:cNvGrpSpPr/>
          <p:nvPr/>
        </p:nvGrpSpPr>
        <p:grpSpPr>
          <a:xfrm>
            <a:off x="2454592" y="3071812"/>
            <a:ext cx="6886575" cy="3251835"/>
            <a:chOff x="0" y="0"/>
            <a:chExt cx="9182100" cy="4335780"/>
          </a:xfrm>
        </p:grpSpPr>
        <p:sp>
          <p:nvSpPr>
            <p:cNvPr id="45" name="Freeform 45"/>
            <p:cNvSpPr/>
            <p:nvPr/>
          </p:nvSpPr>
          <p:spPr>
            <a:xfrm>
              <a:off x="0" y="0"/>
              <a:ext cx="9182100" cy="4335780"/>
            </a:xfrm>
            <a:custGeom>
              <a:avLst/>
              <a:gdLst/>
              <a:ahLst/>
              <a:cxnLst/>
              <a:rect l="l" t="t" r="r" b="b"/>
              <a:pathLst>
                <a:path w="9182100" h="4335780">
                  <a:moveTo>
                    <a:pt x="0" y="151765"/>
                  </a:moveTo>
                  <a:cubicBezTo>
                    <a:pt x="0" y="67945"/>
                    <a:pt x="67945" y="0"/>
                    <a:pt x="151765" y="0"/>
                  </a:cubicBezTo>
                  <a:lnTo>
                    <a:pt x="9030335" y="0"/>
                  </a:lnTo>
                  <a:cubicBezTo>
                    <a:pt x="9114155" y="0"/>
                    <a:pt x="9182100" y="67945"/>
                    <a:pt x="9182100" y="151765"/>
                  </a:cubicBezTo>
                  <a:lnTo>
                    <a:pt x="9182100" y="4184015"/>
                  </a:lnTo>
                  <a:cubicBezTo>
                    <a:pt x="9182100" y="4267835"/>
                    <a:pt x="9114155" y="4335780"/>
                    <a:pt x="9030335" y="4335780"/>
                  </a:cubicBezTo>
                  <a:lnTo>
                    <a:pt x="151765" y="4335780"/>
                  </a:lnTo>
                  <a:cubicBezTo>
                    <a:pt x="67945" y="4335780"/>
                    <a:pt x="0" y="4267835"/>
                    <a:pt x="0" y="4184015"/>
                  </a:cubicBezTo>
                  <a:close/>
                </a:path>
              </a:pathLst>
            </a:custGeom>
            <a:solidFill>
              <a:srgbClr val="FFFFFF"/>
            </a:solidFill>
            <a:ln w="28575" cap="sq">
              <a:solidFill>
                <a:srgbClr val="353334"/>
              </a:solidFill>
              <a:prstDash val="solid"/>
              <a:miter/>
            </a:ln>
          </p:spPr>
        </p:sp>
      </p:grpSp>
      <p:grpSp>
        <p:nvGrpSpPr>
          <p:cNvPr id="46" name="Group 46"/>
          <p:cNvGrpSpPr/>
          <p:nvPr/>
        </p:nvGrpSpPr>
        <p:grpSpPr>
          <a:xfrm>
            <a:off x="2937510" y="2882646"/>
            <a:ext cx="2423160" cy="406908"/>
            <a:chOff x="0" y="0"/>
            <a:chExt cx="3230880" cy="542544"/>
          </a:xfrm>
        </p:grpSpPr>
        <p:sp>
          <p:nvSpPr>
            <p:cNvPr id="47" name="Freeform 47"/>
            <p:cNvSpPr/>
            <p:nvPr/>
          </p:nvSpPr>
          <p:spPr>
            <a:xfrm>
              <a:off x="0" y="0"/>
              <a:ext cx="3230880" cy="542544"/>
            </a:xfrm>
            <a:custGeom>
              <a:avLst/>
              <a:gdLst/>
              <a:ahLst/>
              <a:cxnLst/>
              <a:rect l="l" t="t" r="r" b="b"/>
              <a:pathLst>
                <a:path w="3230880" h="542544">
                  <a:moveTo>
                    <a:pt x="0" y="271272"/>
                  </a:moveTo>
                  <a:cubicBezTo>
                    <a:pt x="0" y="121412"/>
                    <a:pt x="121412" y="0"/>
                    <a:pt x="271272" y="0"/>
                  </a:cubicBezTo>
                  <a:lnTo>
                    <a:pt x="2959608" y="0"/>
                  </a:lnTo>
                  <a:cubicBezTo>
                    <a:pt x="3109468" y="0"/>
                    <a:pt x="3230880" y="121412"/>
                    <a:pt x="3230880" y="271272"/>
                  </a:cubicBezTo>
                  <a:cubicBezTo>
                    <a:pt x="3230880" y="421132"/>
                    <a:pt x="3109468" y="542544"/>
                    <a:pt x="2959608" y="542544"/>
                  </a:cubicBezTo>
                  <a:lnTo>
                    <a:pt x="271272" y="542544"/>
                  </a:lnTo>
                  <a:cubicBezTo>
                    <a:pt x="121412" y="542544"/>
                    <a:pt x="0" y="421132"/>
                    <a:pt x="0" y="271272"/>
                  </a:cubicBezTo>
                  <a:close/>
                </a:path>
              </a:pathLst>
            </a:custGeom>
            <a:solidFill>
              <a:srgbClr val="079ED2"/>
            </a:solidFill>
            <a:ln w="22860" cap="sq">
              <a:solidFill>
                <a:srgbClr val="353334"/>
              </a:solidFill>
              <a:prstDash val="solid"/>
              <a:miter/>
            </a:ln>
          </p:spPr>
        </p:sp>
        <p:sp>
          <p:nvSpPr>
            <p:cNvPr id="48" name="TextBox 48"/>
            <p:cNvSpPr txBox="1"/>
            <p:nvPr/>
          </p:nvSpPr>
          <p:spPr>
            <a:xfrm>
              <a:off x="0" y="-19050"/>
              <a:ext cx="3230880" cy="561594"/>
            </a:xfrm>
            <a:prstGeom prst="rect">
              <a:avLst/>
            </a:prstGeom>
          </p:spPr>
          <p:txBody>
            <a:bodyPr lIns="50800" tIns="50800" rIns="50800" bIns="50800" rtlCol="0" anchor="ctr"/>
            <a:lstStyle/>
            <a:p>
              <a:pPr algn="ctr">
                <a:lnSpc>
                  <a:spcPts val="1530"/>
                </a:lnSpc>
              </a:pPr>
              <a:r>
                <a:rPr lang="en-US" sz="1275" b="1">
                  <a:solidFill>
                    <a:srgbClr val="FFFFFF"/>
                  </a:solidFill>
                  <a:latin typeface="Arimo Bold"/>
                  <a:ea typeface="Arimo Bold"/>
                  <a:cs typeface="Arimo Bold"/>
                  <a:sym typeface="Arimo Bold"/>
                </a:rPr>
                <a:t>01 · BOUNDARIES</a:t>
              </a:r>
            </a:p>
          </p:txBody>
        </p:sp>
      </p:grpSp>
      <p:sp>
        <p:nvSpPr>
          <p:cNvPr id="49" name="TextBox 49"/>
          <p:cNvSpPr txBox="1"/>
          <p:nvPr/>
        </p:nvSpPr>
        <p:spPr>
          <a:xfrm>
            <a:off x="2788920" y="3356229"/>
            <a:ext cx="5030625" cy="1987724"/>
          </a:xfrm>
          <a:prstGeom prst="rect">
            <a:avLst/>
          </a:prstGeom>
        </p:spPr>
        <p:txBody>
          <a:bodyPr lIns="0" tIns="0" rIns="0" bIns="0" rtlCol="0" anchor="t">
            <a:spAutoFit/>
          </a:bodyPr>
          <a:lstStyle/>
          <a:p>
            <a:pPr algn="l">
              <a:lnSpc>
                <a:spcPts val="2011"/>
              </a:lnSpc>
            </a:pPr>
            <a:r>
              <a:rPr lang="en-US" sz="1676" b="1" dirty="0">
                <a:solidFill>
                  <a:srgbClr val="353334"/>
                </a:solidFill>
                <a:latin typeface="Arimo Bold"/>
                <a:ea typeface="Arimo Bold"/>
                <a:cs typeface="Arimo Bold"/>
                <a:sym typeface="Arimo Bold"/>
              </a:rPr>
              <a:t>1. SCOPE</a:t>
            </a:r>
          </a:p>
          <a:p>
            <a:pPr algn="l">
              <a:lnSpc>
                <a:spcPts val="1547"/>
              </a:lnSpc>
            </a:pPr>
            <a:endParaRPr lang="en-US" sz="1289" dirty="0">
              <a:solidFill>
                <a:srgbClr val="3C3C41"/>
              </a:solidFill>
              <a:latin typeface="Arimo"/>
              <a:ea typeface="Arimo"/>
              <a:cs typeface="Arimo"/>
              <a:sym typeface="Arimo"/>
            </a:endParaRPr>
          </a:p>
          <a:p>
            <a:pPr marL="278388" lvl="1" indent="-139194" algn="l">
              <a:lnSpc>
                <a:spcPts val="1547"/>
              </a:lnSpc>
              <a:buFont typeface="Arial"/>
              <a:buChar char="•"/>
            </a:pPr>
            <a:r>
              <a:rPr lang="en-US" sz="1289" dirty="0">
                <a:solidFill>
                  <a:srgbClr val="3C3C41"/>
                </a:solidFill>
                <a:latin typeface="Arimo"/>
                <a:ea typeface="Arimo"/>
                <a:cs typeface="Arimo"/>
                <a:sym typeface="Arimo"/>
              </a:rPr>
              <a:t>Digital &amp; scanned PDF ingestion</a:t>
            </a:r>
          </a:p>
          <a:p>
            <a:pPr marL="278388" lvl="1" indent="-139194">
              <a:lnSpc>
                <a:spcPts val="1547"/>
              </a:lnSpc>
              <a:buFont typeface="Arial"/>
              <a:buChar char="•"/>
            </a:pPr>
            <a:r>
              <a:rPr lang="en-US" sz="1289" dirty="0">
                <a:solidFill>
                  <a:srgbClr val="3C3C41"/>
                </a:solidFill>
                <a:latin typeface="Arimo"/>
                <a:ea typeface="Arimo"/>
                <a:cs typeface="Arimo"/>
                <a:sym typeface="Arimo"/>
              </a:rPr>
              <a:t>DOCX / PPTX / XLSX / standalone image parsing</a:t>
            </a:r>
          </a:p>
          <a:p>
            <a:pPr marL="278388" lvl="1" indent="-139194" algn="l">
              <a:lnSpc>
                <a:spcPts val="1547"/>
              </a:lnSpc>
              <a:buFont typeface="Arial"/>
              <a:buChar char="•"/>
            </a:pPr>
            <a:r>
              <a:rPr lang="en-US" sz="1289" dirty="0">
                <a:solidFill>
                  <a:srgbClr val="3C3C41"/>
                </a:solidFill>
                <a:latin typeface="Arimo"/>
                <a:ea typeface="Arimo"/>
                <a:cs typeface="Arimo"/>
                <a:sym typeface="Arimo"/>
              </a:rPr>
              <a:t>OCR, reading-order &amp; layout detection</a:t>
            </a:r>
          </a:p>
          <a:p>
            <a:pPr marL="278388" lvl="1" indent="-139194" algn="l">
              <a:lnSpc>
                <a:spcPts val="1547"/>
              </a:lnSpc>
              <a:buFont typeface="Arial"/>
              <a:buChar char="•"/>
            </a:pPr>
            <a:r>
              <a:rPr lang="en-US" sz="1289" dirty="0">
                <a:solidFill>
                  <a:srgbClr val="3C3C41"/>
                </a:solidFill>
                <a:latin typeface="Arimo"/>
                <a:ea typeface="Arimo"/>
                <a:cs typeface="Arimo"/>
                <a:sym typeface="Arimo"/>
              </a:rPr>
              <a:t>Table extraction + cross-page table merging</a:t>
            </a:r>
          </a:p>
          <a:p>
            <a:pPr marL="278388" lvl="1" indent="-139194" algn="l">
              <a:lnSpc>
                <a:spcPts val="1547"/>
              </a:lnSpc>
              <a:buFont typeface="Arial"/>
              <a:buChar char="•"/>
            </a:pPr>
            <a:r>
              <a:rPr lang="en-US" sz="1289" dirty="0">
                <a:solidFill>
                  <a:srgbClr val="3C3C41"/>
                </a:solidFill>
                <a:latin typeface="Arimo"/>
                <a:ea typeface="Arimo"/>
                <a:cs typeface="Arimo"/>
                <a:sym typeface="Arimo"/>
              </a:rPr>
              <a:t>Figure/chart detection &amp; preservation</a:t>
            </a:r>
          </a:p>
          <a:p>
            <a:pPr marL="278388" lvl="1" indent="-139194" algn="l">
              <a:lnSpc>
                <a:spcPts val="1547"/>
              </a:lnSpc>
              <a:buFont typeface="Arial"/>
              <a:buChar char="•"/>
            </a:pPr>
            <a:r>
              <a:rPr lang="en-US" sz="1289" dirty="0">
                <a:solidFill>
                  <a:srgbClr val="3C3C41"/>
                </a:solidFill>
                <a:latin typeface="Arimo"/>
                <a:ea typeface="Arimo"/>
                <a:cs typeface="Arimo"/>
                <a:sym typeface="Arimo"/>
              </a:rPr>
              <a:t>Bounding boxes, provenance &amp; confidence scores</a:t>
            </a:r>
          </a:p>
          <a:p>
            <a:pPr marL="278388" lvl="1" indent="-139194" algn="l">
              <a:lnSpc>
                <a:spcPts val="1547"/>
              </a:lnSpc>
              <a:buFont typeface="Arial"/>
              <a:buChar char="•"/>
            </a:pPr>
            <a:r>
              <a:rPr lang="en-US" sz="1289" dirty="0">
                <a:solidFill>
                  <a:srgbClr val="3C3C41"/>
                </a:solidFill>
                <a:latin typeface="Arimo"/>
                <a:ea typeface="Arimo"/>
                <a:cs typeface="Arimo"/>
                <a:sym typeface="Arimo"/>
              </a:rPr>
              <a:t>Markdown + JSON output</a:t>
            </a:r>
          </a:p>
          <a:p>
            <a:pPr marL="278388" lvl="1" indent="-139194" algn="l">
              <a:lnSpc>
                <a:spcPts val="1547"/>
              </a:lnSpc>
              <a:buFont typeface="Arial"/>
              <a:buChar char="•"/>
            </a:pPr>
            <a:r>
              <a:rPr lang="en-US" sz="1289" dirty="0">
                <a:solidFill>
                  <a:srgbClr val="3C3C41"/>
                </a:solidFill>
                <a:latin typeface="Arimo"/>
                <a:ea typeface="Arimo"/>
                <a:cs typeface="Arimo"/>
                <a:sym typeface="Arimo"/>
              </a:rPr>
              <a:t>Web-based upload, processing &amp; download</a:t>
            </a:r>
          </a:p>
        </p:txBody>
      </p:sp>
      <p:grpSp>
        <p:nvGrpSpPr>
          <p:cNvPr id="50" name="Group 50"/>
          <p:cNvGrpSpPr/>
          <p:nvPr/>
        </p:nvGrpSpPr>
        <p:grpSpPr>
          <a:xfrm>
            <a:off x="9724072" y="3071812"/>
            <a:ext cx="6886575" cy="3251835"/>
            <a:chOff x="0" y="0"/>
            <a:chExt cx="9182100" cy="4335780"/>
          </a:xfrm>
        </p:grpSpPr>
        <p:sp>
          <p:nvSpPr>
            <p:cNvPr id="51" name="Freeform 51"/>
            <p:cNvSpPr/>
            <p:nvPr/>
          </p:nvSpPr>
          <p:spPr>
            <a:xfrm>
              <a:off x="0" y="0"/>
              <a:ext cx="9182100" cy="4335780"/>
            </a:xfrm>
            <a:custGeom>
              <a:avLst/>
              <a:gdLst/>
              <a:ahLst/>
              <a:cxnLst/>
              <a:rect l="l" t="t" r="r" b="b"/>
              <a:pathLst>
                <a:path w="9182100" h="4335780">
                  <a:moveTo>
                    <a:pt x="0" y="151765"/>
                  </a:moveTo>
                  <a:cubicBezTo>
                    <a:pt x="0" y="67945"/>
                    <a:pt x="67945" y="0"/>
                    <a:pt x="151765" y="0"/>
                  </a:cubicBezTo>
                  <a:lnTo>
                    <a:pt x="9030335" y="0"/>
                  </a:lnTo>
                  <a:cubicBezTo>
                    <a:pt x="9114155" y="0"/>
                    <a:pt x="9182100" y="67945"/>
                    <a:pt x="9182100" y="151765"/>
                  </a:cubicBezTo>
                  <a:lnTo>
                    <a:pt x="9182100" y="4184015"/>
                  </a:lnTo>
                  <a:cubicBezTo>
                    <a:pt x="9182100" y="4267835"/>
                    <a:pt x="9114155" y="4335780"/>
                    <a:pt x="9030335" y="4335780"/>
                  </a:cubicBezTo>
                  <a:lnTo>
                    <a:pt x="151765" y="4335780"/>
                  </a:lnTo>
                  <a:cubicBezTo>
                    <a:pt x="67945" y="4335780"/>
                    <a:pt x="0" y="4267835"/>
                    <a:pt x="0" y="4184015"/>
                  </a:cubicBezTo>
                  <a:close/>
                </a:path>
              </a:pathLst>
            </a:custGeom>
            <a:solidFill>
              <a:srgbClr val="FFFFFF"/>
            </a:solidFill>
            <a:ln w="28575" cap="sq">
              <a:solidFill>
                <a:srgbClr val="353334"/>
              </a:solidFill>
              <a:prstDash val="solid"/>
              <a:miter/>
            </a:ln>
          </p:spPr>
        </p:sp>
      </p:grpSp>
      <p:grpSp>
        <p:nvGrpSpPr>
          <p:cNvPr id="52" name="Group 52"/>
          <p:cNvGrpSpPr/>
          <p:nvPr/>
        </p:nvGrpSpPr>
        <p:grpSpPr>
          <a:xfrm>
            <a:off x="10206990" y="2882646"/>
            <a:ext cx="2423160" cy="406908"/>
            <a:chOff x="0" y="0"/>
            <a:chExt cx="3230880" cy="542544"/>
          </a:xfrm>
        </p:grpSpPr>
        <p:sp>
          <p:nvSpPr>
            <p:cNvPr id="53" name="Freeform 53"/>
            <p:cNvSpPr/>
            <p:nvPr/>
          </p:nvSpPr>
          <p:spPr>
            <a:xfrm>
              <a:off x="0" y="0"/>
              <a:ext cx="3230880" cy="542544"/>
            </a:xfrm>
            <a:custGeom>
              <a:avLst/>
              <a:gdLst/>
              <a:ahLst/>
              <a:cxnLst/>
              <a:rect l="l" t="t" r="r" b="b"/>
              <a:pathLst>
                <a:path w="3230880" h="542544">
                  <a:moveTo>
                    <a:pt x="0" y="271272"/>
                  </a:moveTo>
                  <a:cubicBezTo>
                    <a:pt x="0" y="121412"/>
                    <a:pt x="121412" y="0"/>
                    <a:pt x="271272" y="0"/>
                  </a:cubicBezTo>
                  <a:lnTo>
                    <a:pt x="2959608" y="0"/>
                  </a:lnTo>
                  <a:cubicBezTo>
                    <a:pt x="3109468" y="0"/>
                    <a:pt x="3230880" y="121412"/>
                    <a:pt x="3230880" y="271272"/>
                  </a:cubicBezTo>
                  <a:cubicBezTo>
                    <a:pt x="3230880" y="421132"/>
                    <a:pt x="3109468" y="542544"/>
                    <a:pt x="2959608" y="542544"/>
                  </a:cubicBezTo>
                  <a:lnTo>
                    <a:pt x="271272" y="542544"/>
                  </a:lnTo>
                  <a:cubicBezTo>
                    <a:pt x="121412" y="542544"/>
                    <a:pt x="0" y="421132"/>
                    <a:pt x="0" y="271272"/>
                  </a:cubicBezTo>
                  <a:close/>
                </a:path>
              </a:pathLst>
            </a:custGeom>
            <a:solidFill>
              <a:srgbClr val="FFB903"/>
            </a:solidFill>
            <a:ln w="22860" cap="sq">
              <a:solidFill>
                <a:srgbClr val="353334"/>
              </a:solidFill>
              <a:prstDash val="solid"/>
              <a:miter/>
            </a:ln>
          </p:spPr>
        </p:sp>
        <p:sp>
          <p:nvSpPr>
            <p:cNvPr id="54" name="TextBox 54"/>
            <p:cNvSpPr txBox="1"/>
            <p:nvPr/>
          </p:nvSpPr>
          <p:spPr>
            <a:xfrm>
              <a:off x="0" y="-19050"/>
              <a:ext cx="3230880" cy="561594"/>
            </a:xfrm>
            <a:prstGeom prst="rect">
              <a:avLst/>
            </a:prstGeom>
          </p:spPr>
          <p:txBody>
            <a:bodyPr lIns="50800" tIns="50800" rIns="50800" bIns="50800" rtlCol="0" anchor="ctr"/>
            <a:lstStyle/>
            <a:p>
              <a:pPr algn="ctr">
                <a:lnSpc>
                  <a:spcPts val="1530"/>
                </a:lnSpc>
              </a:pPr>
              <a:r>
                <a:rPr lang="en-US" sz="1275" b="1">
                  <a:solidFill>
                    <a:srgbClr val="353334"/>
                  </a:solidFill>
                  <a:latin typeface="Arimo Bold"/>
                  <a:ea typeface="Arimo Bold"/>
                  <a:cs typeface="Arimo Bold"/>
                  <a:sym typeface="Arimo Bold"/>
                </a:rPr>
                <a:t>02 · ECONOMICS</a:t>
              </a:r>
            </a:p>
          </p:txBody>
        </p:sp>
      </p:grpSp>
      <p:sp>
        <p:nvSpPr>
          <p:cNvPr id="55" name="TextBox 55"/>
          <p:cNvSpPr txBox="1"/>
          <p:nvPr/>
        </p:nvSpPr>
        <p:spPr>
          <a:xfrm>
            <a:off x="10241280" y="3496818"/>
            <a:ext cx="5852160" cy="2209800"/>
          </a:xfrm>
          <a:prstGeom prst="rect">
            <a:avLst/>
          </a:prstGeom>
        </p:spPr>
        <p:txBody>
          <a:bodyPr lIns="0" tIns="0" rIns="0" bIns="0" rtlCol="0" anchor="t">
            <a:spAutoFit/>
          </a:bodyPr>
          <a:lstStyle/>
          <a:p>
            <a:pPr algn="l">
              <a:lnSpc>
                <a:spcPts val="2340"/>
              </a:lnSpc>
            </a:pPr>
            <a:r>
              <a:rPr lang="en-US" sz="1950" b="1">
                <a:solidFill>
                  <a:srgbClr val="353334"/>
                </a:solidFill>
                <a:latin typeface="Arimo Bold"/>
                <a:ea typeface="Arimo Bold"/>
                <a:cs typeface="Arimo Bold"/>
                <a:sym typeface="Arimo Bold"/>
              </a:rPr>
              <a:t>2. RUNNING COST</a:t>
            </a:r>
          </a:p>
          <a:p>
            <a:pPr algn="l">
              <a:lnSpc>
                <a:spcPts val="2340"/>
              </a:lnSpc>
            </a:pPr>
            <a:endParaRPr lang="en-US" sz="1950" b="1">
              <a:solidFill>
                <a:srgbClr val="353334"/>
              </a:solidFill>
              <a:latin typeface="Arimo Bold"/>
              <a:ea typeface="Arimo Bold"/>
              <a:cs typeface="Arimo Bold"/>
              <a:sym typeface="Arimo Bold"/>
            </a:endParaRPr>
          </a:p>
          <a:p>
            <a:pPr marL="323850" lvl="1" indent="-161925" algn="l">
              <a:lnSpc>
                <a:spcPts val="1800"/>
              </a:lnSpc>
              <a:buFont typeface="Arial"/>
              <a:buChar char="•"/>
            </a:pPr>
            <a:r>
              <a:rPr lang="en-US" sz="1500">
                <a:solidFill>
                  <a:srgbClr val="3C3C41"/>
                </a:solidFill>
                <a:latin typeface="Arimo"/>
                <a:ea typeface="Arimo"/>
                <a:cs typeface="Arimo"/>
                <a:sym typeface="Arimo"/>
              </a:rPr>
              <a:t>Self-hosted / open-source prototype</a:t>
            </a:r>
          </a:p>
          <a:p>
            <a:pPr marL="323850" lvl="1" indent="-161925" algn="l">
              <a:lnSpc>
                <a:spcPts val="1800"/>
              </a:lnSpc>
              <a:buFont typeface="Arial"/>
              <a:buChar char="•"/>
            </a:pPr>
            <a:r>
              <a:rPr lang="en-US" sz="1500">
                <a:solidFill>
                  <a:srgbClr val="3C3C41"/>
                </a:solidFill>
                <a:latin typeface="Arimo"/>
                <a:ea typeface="Arimo"/>
                <a:cs typeface="Arimo"/>
                <a:sym typeface="Arimo"/>
              </a:rPr>
              <a:t>PyMuPDF + OpenCV + Tesseract/PaddleOCR</a:t>
            </a:r>
          </a:p>
          <a:p>
            <a:pPr marL="323850" lvl="1" indent="-161925" algn="l">
              <a:lnSpc>
                <a:spcPts val="1800"/>
              </a:lnSpc>
              <a:buFont typeface="Arial"/>
              <a:buChar char="•"/>
            </a:pPr>
            <a:r>
              <a:rPr lang="en-US" sz="1500">
                <a:solidFill>
                  <a:srgbClr val="3C3C41"/>
                </a:solidFill>
                <a:latin typeface="Arimo"/>
                <a:ea typeface="Arimo"/>
                <a:cs typeface="Arimo"/>
                <a:sym typeface="Arimo"/>
              </a:rPr>
              <a:t>No mandatory per-page API cost</a:t>
            </a:r>
          </a:p>
          <a:p>
            <a:pPr marL="323850" lvl="1" indent="-161925" algn="l">
              <a:lnSpc>
                <a:spcPts val="1800"/>
              </a:lnSpc>
              <a:buFont typeface="Arial"/>
              <a:buChar char="•"/>
            </a:pPr>
            <a:r>
              <a:rPr lang="en-US" sz="1500">
                <a:solidFill>
                  <a:srgbClr val="3C3C41"/>
                </a:solidFill>
                <a:latin typeface="Arimo"/>
                <a:ea typeface="Arimo"/>
                <a:cs typeface="Arimo"/>
                <a:sym typeface="Arimo"/>
              </a:rPr>
              <a:t>Compute cost depends on document volume and OCR workload</a:t>
            </a:r>
          </a:p>
          <a:p>
            <a:pPr marL="323850" lvl="1" indent="-161925" algn="l">
              <a:lnSpc>
                <a:spcPts val="1800"/>
              </a:lnSpc>
              <a:buFont typeface="Arial"/>
              <a:buChar char="•"/>
            </a:pPr>
            <a:r>
              <a:rPr lang="en-US" sz="1500">
                <a:solidFill>
                  <a:srgbClr val="3C3C41"/>
                </a:solidFill>
                <a:latin typeface="Arimo"/>
                <a:ea typeface="Arimo"/>
                <a:cs typeface="Arimo"/>
                <a:sym typeface="Arimo"/>
              </a:rPr>
              <a:t>Production deployment can use scalable cloud compute as usage grows</a:t>
            </a:r>
          </a:p>
          <a:p>
            <a:pPr algn="l">
              <a:lnSpc>
                <a:spcPts val="1800"/>
              </a:lnSpc>
            </a:pPr>
            <a:endParaRPr lang="en-US" sz="1500">
              <a:solidFill>
                <a:srgbClr val="3C3C41"/>
              </a:solidFill>
              <a:latin typeface="Arimo"/>
              <a:ea typeface="Arimo"/>
              <a:cs typeface="Arimo"/>
              <a:sym typeface="Arimo"/>
            </a:endParaRPr>
          </a:p>
        </p:txBody>
      </p:sp>
      <p:grpSp>
        <p:nvGrpSpPr>
          <p:cNvPr id="56" name="Group 56"/>
          <p:cNvGrpSpPr/>
          <p:nvPr/>
        </p:nvGrpSpPr>
        <p:grpSpPr>
          <a:xfrm>
            <a:off x="2454592" y="6569393"/>
            <a:ext cx="6886575" cy="3251835"/>
            <a:chOff x="0" y="0"/>
            <a:chExt cx="9182100" cy="4335780"/>
          </a:xfrm>
        </p:grpSpPr>
        <p:sp>
          <p:nvSpPr>
            <p:cNvPr id="57" name="Freeform 57"/>
            <p:cNvSpPr/>
            <p:nvPr/>
          </p:nvSpPr>
          <p:spPr>
            <a:xfrm>
              <a:off x="0" y="0"/>
              <a:ext cx="9182100" cy="4335780"/>
            </a:xfrm>
            <a:custGeom>
              <a:avLst/>
              <a:gdLst/>
              <a:ahLst/>
              <a:cxnLst/>
              <a:rect l="l" t="t" r="r" b="b"/>
              <a:pathLst>
                <a:path w="9182100" h="4335780">
                  <a:moveTo>
                    <a:pt x="0" y="151765"/>
                  </a:moveTo>
                  <a:cubicBezTo>
                    <a:pt x="0" y="67945"/>
                    <a:pt x="67945" y="0"/>
                    <a:pt x="151765" y="0"/>
                  </a:cubicBezTo>
                  <a:lnTo>
                    <a:pt x="9030335" y="0"/>
                  </a:lnTo>
                  <a:cubicBezTo>
                    <a:pt x="9114155" y="0"/>
                    <a:pt x="9182100" y="67945"/>
                    <a:pt x="9182100" y="151765"/>
                  </a:cubicBezTo>
                  <a:lnTo>
                    <a:pt x="9182100" y="4184015"/>
                  </a:lnTo>
                  <a:cubicBezTo>
                    <a:pt x="9182100" y="4267835"/>
                    <a:pt x="9114155" y="4335780"/>
                    <a:pt x="9030335" y="4335780"/>
                  </a:cubicBezTo>
                  <a:lnTo>
                    <a:pt x="151765" y="4335780"/>
                  </a:lnTo>
                  <a:cubicBezTo>
                    <a:pt x="67945" y="4335780"/>
                    <a:pt x="0" y="4267835"/>
                    <a:pt x="0" y="4184015"/>
                  </a:cubicBezTo>
                  <a:close/>
                </a:path>
              </a:pathLst>
            </a:custGeom>
            <a:solidFill>
              <a:srgbClr val="FFFFFF"/>
            </a:solidFill>
            <a:ln w="28575" cap="sq">
              <a:solidFill>
                <a:srgbClr val="353334"/>
              </a:solidFill>
              <a:prstDash val="solid"/>
              <a:miter/>
            </a:ln>
          </p:spPr>
        </p:sp>
      </p:grpSp>
      <p:grpSp>
        <p:nvGrpSpPr>
          <p:cNvPr id="58" name="Group 58"/>
          <p:cNvGrpSpPr/>
          <p:nvPr/>
        </p:nvGrpSpPr>
        <p:grpSpPr>
          <a:xfrm>
            <a:off x="2937510" y="6380226"/>
            <a:ext cx="2423160" cy="406908"/>
            <a:chOff x="0" y="0"/>
            <a:chExt cx="3230880" cy="542544"/>
          </a:xfrm>
        </p:grpSpPr>
        <p:sp>
          <p:nvSpPr>
            <p:cNvPr id="59" name="Freeform 59"/>
            <p:cNvSpPr/>
            <p:nvPr/>
          </p:nvSpPr>
          <p:spPr>
            <a:xfrm>
              <a:off x="0" y="0"/>
              <a:ext cx="3230880" cy="542544"/>
            </a:xfrm>
            <a:custGeom>
              <a:avLst/>
              <a:gdLst/>
              <a:ahLst/>
              <a:cxnLst/>
              <a:rect l="l" t="t" r="r" b="b"/>
              <a:pathLst>
                <a:path w="3230880" h="542544">
                  <a:moveTo>
                    <a:pt x="0" y="271272"/>
                  </a:moveTo>
                  <a:cubicBezTo>
                    <a:pt x="0" y="121412"/>
                    <a:pt x="121412" y="0"/>
                    <a:pt x="271272" y="0"/>
                  </a:cubicBezTo>
                  <a:lnTo>
                    <a:pt x="2959608" y="0"/>
                  </a:lnTo>
                  <a:cubicBezTo>
                    <a:pt x="3109468" y="0"/>
                    <a:pt x="3230880" y="121412"/>
                    <a:pt x="3230880" y="271272"/>
                  </a:cubicBezTo>
                  <a:cubicBezTo>
                    <a:pt x="3230880" y="421132"/>
                    <a:pt x="3109468" y="542544"/>
                    <a:pt x="2959608" y="542544"/>
                  </a:cubicBezTo>
                  <a:lnTo>
                    <a:pt x="271272" y="542544"/>
                  </a:lnTo>
                  <a:cubicBezTo>
                    <a:pt x="121412" y="542544"/>
                    <a:pt x="0" y="421132"/>
                    <a:pt x="0" y="271272"/>
                  </a:cubicBezTo>
                  <a:close/>
                </a:path>
              </a:pathLst>
            </a:custGeom>
            <a:solidFill>
              <a:srgbClr val="FD1485"/>
            </a:solidFill>
            <a:ln w="22860" cap="sq">
              <a:solidFill>
                <a:srgbClr val="353334"/>
              </a:solidFill>
              <a:prstDash val="solid"/>
              <a:miter/>
            </a:ln>
          </p:spPr>
        </p:sp>
        <p:sp>
          <p:nvSpPr>
            <p:cNvPr id="60" name="TextBox 60"/>
            <p:cNvSpPr txBox="1"/>
            <p:nvPr/>
          </p:nvSpPr>
          <p:spPr>
            <a:xfrm>
              <a:off x="0" y="-19050"/>
              <a:ext cx="3230880" cy="561594"/>
            </a:xfrm>
            <a:prstGeom prst="rect">
              <a:avLst/>
            </a:prstGeom>
          </p:spPr>
          <p:txBody>
            <a:bodyPr lIns="50800" tIns="50800" rIns="50800" bIns="50800" rtlCol="0" anchor="ctr"/>
            <a:lstStyle/>
            <a:p>
              <a:pPr algn="ctr">
                <a:lnSpc>
                  <a:spcPts val="1530"/>
                </a:lnSpc>
              </a:pPr>
              <a:r>
                <a:rPr lang="en-US" sz="1275" b="1">
                  <a:solidFill>
                    <a:srgbClr val="FFFFFF"/>
                  </a:solidFill>
                  <a:latin typeface="Arimo Bold"/>
                  <a:ea typeface="Arimo Bold"/>
                  <a:cs typeface="Arimo Bold"/>
                  <a:sym typeface="Arimo Bold"/>
                </a:rPr>
                <a:t>03 · CONTINGENCY</a:t>
              </a:r>
            </a:p>
          </p:txBody>
        </p:sp>
      </p:grpSp>
      <p:sp>
        <p:nvSpPr>
          <p:cNvPr id="61" name="TextBox 61"/>
          <p:cNvSpPr txBox="1"/>
          <p:nvPr/>
        </p:nvSpPr>
        <p:spPr>
          <a:xfrm>
            <a:off x="2971800" y="6994398"/>
            <a:ext cx="5852160" cy="2209800"/>
          </a:xfrm>
          <a:prstGeom prst="rect">
            <a:avLst/>
          </a:prstGeom>
        </p:spPr>
        <p:txBody>
          <a:bodyPr lIns="0" tIns="0" rIns="0" bIns="0" rtlCol="0" anchor="t">
            <a:spAutoFit/>
          </a:bodyPr>
          <a:lstStyle/>
          <a:p>
            <a:pPr algn="l">
              <a:lnSpc>
                <a:spcPts val="2340"/>
              </a:lnSpc>
            </a:pPr>
            <a:r>
              <a:rPr lang="en-US" sz="1950" b="1">
                <a:solidFill>
                  <a:srgbClr val="353334"/>
                </a:solidFill>
                <a:latin typeface="Arimo Bold"/>
                <a:ea typeface="Arimo Bold"/>
                <a:cs typeface="Arimo Bold"/>
                <a:sym typeface="Arimo Bold"/>
              </a:rPr>
              <a:t>3. RISKS &amp; FALLBACK</a:t>
            </a:r>
          </a:p>
          <a:p>
            <a:pPr algn="l">
              <a:lnSpc>
                <a:spcPts val="2340"/>
              </a:lnSpc>
            </a:pPr>
            <a:endParaRPr lang="en-US" sz="1950" b="1">
              <a:solidFill>
                <a:srgbClr val="353334"/>
              </a:solidFill>
              <a:latin typeface="Arimo Bold"/>
              <a:ea typeface="Arimo Bold"/>
              <a:cs typeface="Arimo Bold"/>
              <a:sym typeface="Arimo Bold"/>
            </a:endParaRPr>
          </a:p>
          <a:p>
            <a:pPr marL="323850" lvl="1" indent="-161925" algn="l">
              <a:lnSpc>
                <a:spcPts val="1800"/>
              </a:lnSpc>
              <a:buFont typeface="Arial"/>
              <a:buChar char="•"/>
            </a:pPr>
            <a:r>
              <a:rPr lang="en-US" sz="1500">
                <a:solidFill>
                  <a:srgbClr val="3C3C41"/>
                </a:solidFill>
                <a:latin typeface="Arimo"/>
                <a:ea typeface="Arimo"/>
                <a:cs typeface="Arimo"/>
                <a:sym typeface="Arimo"/>
              </a:rPr>
              <a:t>OCR failure → alternate OCR engine / preserve source region</a:t>
            </a:r>
          </a:p>
          <a:p>
            <a:pPr marL="323850" lvl="1" indent="-161925" algn="l">
              <a:lnSpc>
                <a:spcPts val="1800"/>
              </a:lnSpc>
              <a:buFont typeface="Arial"/>
              <a:buChar char="•"/>
            </a:pPr>
            <a:r>
              <a:rPr lang="en-US" sz="1500">
                <a:solidFill>
                  <a:srgbClr val="3C3C41"/>
                </a:solidFill>
                <a:latin typeface="Arimo"/>
                <a:ea typeface="Arimo"/>
                <a:cs typeface="Arimo"/>
                <a:sym typeface="Arimo"/>
              </a:rPr>
              <a:t>Low-confidence extraction → flag as REVIEW_REQUIRED</a:t>
            </a:r>
          </a:p>
          <a:p>
            <a:pPr marL="323850" lvl="1" indent="-161925" algn="l">
              <a:lnSpc>
                <a:spcPts val="1800"/>
              </a:lnSpc>
              <a:buFont typeface="Arial"/>
              <a:buChar char="•"/>
            </a:pPr>
            <a:r>
              <a:rPr lang="en-US" sz="1500">
                <a:solidFill>
                  <a:srgbClr val="3C3C41"/>
                </a:solidFill>
                <a:latin typeface="Arimo"/>
                <a:ea typeface="Arimo"/>
                <a:cs typeface="Arimo"/>
                <a:sym typeface="Arimo"/>
              </a:rPr>
              <a:t>Table extraction failure → preserve table as image + continue parsing</a:t>
            </a:r>
          </a:p>
          <a:p>
            <a:pPr marL="323850" lvl="1" indent="-161925" algn="l">
              <a:lnSpc>
                <a:spcPts val="1800"/>
              </a:lnSpc>
              <a:buFont typeface="Arial"/>
              <a:buChar char="•"/>
            </a:pPr>
            <a:r>
              <a:rPr lang="en-US" sz="1500">
                <a:solidFill>
                  <a:srgbClr val="3C3C41"/>
                </a:solidFill>
                <a:latin typeface="Arimo"/>
                <a:ea typeface="Arimo"/>
                <a:cs typeface="Arimo"/>
                <a:sym typeface="Arimo"/>
              </a:rPr>
              <a:t>Ambiguous reading order → lower confidence + flag ambiguity</a:t>
            </a:r>
          </a:p>
          <a:p>
            <a:pPr marL="323850" lvl="1" indent="-161925" algn="l">
              <a:lnSpc>
                <a:spcPts val="1800"/>
              </a:lnSpc>
              <a:buFont typeface="Arial"/>
              <a:buChar char="•"/>
            </a:pPr>
            <a:r>
              <a:rPr lang="en-US" sz="1500">
                <a:solidFill>
                  <a:srgbClr val="3C3C41"/>
                </a:solidFill>
                <a:latin typeface="Arimo"/>
                <a:ea typeface="Arimo"/>
                <a:cs typeface="Arimo"/>
                <a:sym typeface="Arimo"/>
              </a:rPr>
              <a:t>Unsupported/corrupt files → structured error response</a:t>
            </a:r>
          </a:p>
          <a:p>
            <a:pPr algn="l">
              <a:lnSpc>
                <a:spcPts val="1800"/>
              </a:lnSpc>
            </a:pPr>
            <a:endParaRPr lang="en-US" sz="1500">
              <a:solidFill>
                <a:srgbClr val="3C3C41"/>
              </a:solidFill>
              <a:latin typeface="Arimo"/>
              <a:ea typeface="Arimo"/>
              <a:cs typeface="Arimo"/>
              <a:sym typeface="Arimo"/>
            </a:endParaRPr>
          </a:p>
        </p:txBody>
      </p:sp>
      <p:grpSp>
        <p:nvGrpSpPr>
          <p:cNvPr id="62" name="Group 62"/>
          <p:cNvGrpSpPr/>
          <p:nvPr/>
        </p:nvGrpSpPr>
        <p:grpSpPr>
          <a:xfrm>
            <a:off x="9724072" y="6569393"/>
            <a:ext cx="6886575" cy="3251835"/>
            <a:chOff x="0" y="0"/>
            <a:chExt cx="9182100" cy="4335780"/>
          </a:xfrm>
        </p:grpSpPr>
        <p:sp>
          <p:nvSpPr>
            <p:cNvPr id="63" name="Freeform 63"/>
            <p:cNvSpPr/>
            <p:nvPr/>
          </p:nvSpPr>
          <p:spPr>
            <a:xfrm>
              <a:off x="0" y="0"/>
              <a:ext cx="9182100" cy="4335780"/>
            </a:xfrm>
            <a:custGeom>
              <a:avLst/>
              <a:gdLst/>
              <a:ahLst/>
              <a:cxnLst/>
              <a:rect l="l" t="t" r="r" b="b"/>
              <a:pathLst>
                <a:path w="9182100" h="4335780">
                  <a:moveTo>
                    <a:pt x="0" y="151765"/>
                  </a:moveTo>
                  <a:cubicBezTo>
                    <a:pt x="0" y="67945"/>
                    <a:pt x="67945" y="0"/>
                    <a:pt x="151765" y="0"/>
                  </a:cubicBezTo>
                  <a:lnTo>
                    <a:pt x="9030335" y="0"/>
                  </a:lnTo>
                  <a:cubicBezTo>
                    <a:pt x="9114155" y="0"/>
                    <a:pt x="9182100" y="67945"/>
                    <a:pt x="9182100" y="151765"/>
                  </a:cubicBezTo>
                  <a:lnTo>
                    <a:pt x="9182100" y="4184015"/>
                  </a:lnTo>
                  <a:cubicBezTo>
                    <a:pt x="9182100" y="4267835"/>
                    <a:pt x="9114155" y="4335780"/>
                    <a:pt x="9030335" y="4335780"/>
                  </a:cubicBezTo>
                  <a:lnTo>
                    <a:pt x="151765" y="4335780"/>
                  </a:lnTo>
                  <a:cubicBezTo>
                    <a:pt x="67945" y="4335780"/>
                    <a:pt x="0" y="4267835"/>
                    <a:pt x="0" y="4184015"/>
                  </a:cubicBezTo>
                  <a:close/>
                </a:path>
              </a:pathLst>
            </a:custGeom>
            <a:solidFill>
              <a:srgbClr val="FFFFFF"/>
            </a:solidFill>
            <a:ln w="28575" cap="sq">
              <a:solidFill>
                <a:srgbClr val="353334"/>
              </a:solidFill>
              <a:prstDash val="solid"/>
              <a:miter/>
            </a:ln>
          </p:spPr>
        </p:sp>
      </p:grpSp>
      <p:grpSp>
        <p:nvGrpSpPr>
          <p:cNvPr id="64" name="Group 64"/>
          <p:cNvGrpSpPr/>
          <p:nvPr/>
        </p:nvGrpSpPr>
        <p:grpSpPr>
          <a:xfrm>
            <a:off x="10206990" y="6380226"/>
            <a:ext cx="2423160" cy="406908"/>
            <a:chOff x="0" y="0"/>
            <a:chExt cx="3230880" cy="542544"/>
          </a:xfrm>
        </p:grpSpPr>
        <p:sp>
          <p:nvSpPr>
            <p:cNvPr id="65" name="Freeform 65"/>
            <p:cNvSpPr/>
            <p:nvPr/>
          </p:nvSpPr>
          <p:spPr>
            <a:xfrm>
              <a:off x="0" y="0"/>
              <a:ext cx="3230880" cy="542544"/>
            </a:xfrm>
            <a:custGeom>
              <a:avLst/>
              <a:gdLst/>
              <a:ahLst/>
              <a:cxnLst/>
              <a:rect l="l" t="t" r="r" b="b"/>
              <a:pathLst>
                <a:path w="3230880" h="542544">
                  <a:moveTo>
                    <a:pt x="0" y="271272"/>
                  </a:moveTo>
                  <a:cubicBezTo>
                    <a:pt x="0" y="121412"/>
                    <a:pt x="121412" y="0"/>
                    <a:pt x="271272" y="0"/>
                  </a:cubicBezTo>
                  <a:lnTo>
                    <a:pt x="2959608" y="0"/>
                  </a:lnTo>
                  <a:cubicBezTo>
                    <a:pt x="3109468" y="0"/>
                    <a:pt x="3230880" y="121412"/>
                    <a:pt x="3230880" y="271272"/>
                  </a:cubicBezTo>
                  <a:cubicBezTo>
                    <a:pt x="3230880" y="421132"/>
                    <a:pt x="3109468" y="542544"/>
                    <a:pt x="2959608" y="542544"/>
                  </a:cubicBezTo>
                  <a:lnTo>
                    <a:pt x="271272" y="542544"/>
                  </a:lnTo>
                  <a:cubicBezTo>
                    <a:pt x="121412" y="542544"/>
                    <a:pt x="0" y="421132"/>
                    <a:pt x="0" y="271272"/>
                  </a:cubicBezTo>
                  <a:close/>
                </a:path>
              </a:pathLst>
            </a:custGeom>
            <a:solidFill>
              <a:srgbClr val="353334"/>
            </a:solidFill>
            <a:ln w="22860" cap="sq">
              <a:solidFill>
                <a:srgbClr val="353334"/>
              </a:solidFill>
              <a:prstDash val="solid"/>
              <a:miter/>
            </a:ln>
          </p:spPr>
        </p:sp>
        <p:sp>
          <p:nvSpPr>
            <p:cNvPr id="66" name="TextBox 66"/>
            <p:cNvSpPr txBox="1"/>
            <p:nvPr/>
          </p:nvSpPr>
          <p:spPr>
            <a:xfrm>
              <a:off x="0" y="-19050"/>
              <a:ext cx="3230880" cy="561594"/>
            </a:xfrm>
            <a:prstGeom prst="rect">
              <a:avLst/>
            </a:prstGeom>
          </p:spPr>
          <p:txBody>
            <a:bodyPr lIns="50800" tIns="50800" rIns="50800" bIns="50800" rtlCol="0" anchor="ctr"/>
            <a:lstStyle/>
            <a:p>
              <a:pPr algn="ctr">
                <a:lnSpc>
                  <a:spcPts val="1530"/>
                </a:lnSpc>
              </a:pPr>
              <a:r>
                <a:rPr lang="en-US" sz="1275" b="1">
                  <a:solidFill>
                    <a:srgbClr val="FFFFFF"/>
                  </a:solidFill>
                  <a:latin typeface="Arimo Bold"/>
                  <a:ea typeface="Arimo Bold"/>
                  <a:cs typeface="Arimo Bold"/>
                  <a:sym typeface="Arimo Bold"/>
                </a:rPr>
                <a:t>04 · HORIZON</a:t>
              </a:r>
            </a:p>
          </p:txBody>
        </p:sp>
      </p:grpSp>
      <p:sp>
        <p:nvSpPr>
          <p:cNvPr id="67" name="TextBox 67"/>
          <p:cNvSpPr txBox="1"/>
          <p:nvPr/>
        </p:nvSpPr>
        <p:spPr>
          <a:xfrm>
            <a:off x="10241280" y="6994398"/>
            <a:ext cx="5852160" cy="1914525"/>
          </a:xfrm>
          <a:prstGeom prst="rect">
            <a:avLst/>
          </a:prstGeom>
        </p:spPr>
        <p:txBody>
          <a:bodyPr lIns="0" tIns="0" rIns="0" bIns="0" rtlCol="0" anchor="t">
            <a:spAutoFit/>
          </a:bodyPr>
          <a:lstStyle/>
          <a:p>
            <a:pPr algn="l">
              <a:lnSpc>
                <a:spcPts val="2340"/>
              </a:lnSpc>
            </a:pPr>
            <a:r>
              <a:rPr lang="en-US" sz="1950" b="1">
                <a:solidFill>
                  <a:srgbClr val="353334"/>
                </a:solidFill>
                <a:latin typeface="Arimo Bold"/>
                <a:ea typeface="Arimo Bold"/>
                <a:cs typeface="Arimo Bold"/>
                <a:sym typeface="Arimo Bold"/>
              </a:rPr>
              <a:t>4. AFTER THE HACKATHON</a:t>
            </a:r>
          </a:p>
          <a:p>
            <a:pPr algn="l">
              <a:lnSpc>
                <a:spcPts val="1800"/>
              </a:lnSpc>
            </a:pPr>
            <a:endParaRPr lang="en-US" sz="1950" b="1">
              <a:solidFill>
                <a:srgbClr val="353334"/>
              </a:solidFill>
              <a:latin typeface="Arimo Bold"/>
              <a:ea typeface="Arimo Bold"/>
              <a:cs typeface="Arimo Bold"/>
              <a:sym typeface="Arimo Bold"/>
            </a:endParaRPr>
          </a:p>
          <a:p>
            <a:pPr algn="l">
              <a:lnSpc>
                <a:spcPts val="1800"/>
              </a:lnSpc>
            </a:pPr>
            <a:r>
              <a:rPr lang="en-US" sz="1500">
                <a:solidFill>
                  <a:srgbClr val="3C3C41"/>
                </a:solidFill>
                <a:latin typeface="Arimo"/>
                <a:ea typeface="Arimo"/>
                <a:cs typeface="Arimo"/>
                <a:sym typeface="Arimo"/>
              </a:rPr>
              <a:t>Production hardening: scalable workers, persistent queues, monitoring &amp; cost optimization</a:t>
            </a:r>
          </a:p>
          <a:p>
            <a:pPr algn="l">
              <a:lnSpc>
                <a:spcPts val="1800"/>
              </a:lnSpc>
            </a:pPr>
            <a:r>
              <a:rPr lang="en-US" sz="1500">
                <a:solidFill>
                  <a:srgbClr val="3C3C41"/>
                </a:solidFill>
                <a:latin typeface="Arimo"/>
                <a:ea typeface="Arimo"/>
                <a:cs typeface="Arimo"/>
                <a:sym typeface="Arimo"/>
              </a:rPr>
              <a:t>Enterprise deployment: secure API/SDK integration for finance, legal &amp; regulated workflows</a:t>
            </a:r>
          </a:p>
          <a:p>
            <a:pPr algn="l">
              <a:lnSpc>
                <a:spcPts val="1800"/>
              </a:lnSpc>
            </a:pPr>
            <a:r>
              <a:rPr lang="en-US" sz="1500">
                <a:solidFill>
                  <a:srgbClr val="3C3C41"/>
                </a:solidFill>
                <a:latin typeface="Arimo"/>
                <a:ea typeface="Arimo"/>
                <a:cs typeface="Arimo"/>
                <a:sym typeface="Arimo"/>
              </a:rPr>
              <a:t>Continuous improvement: benchmark-driven accuracy, multimodal understanding &amp; model optimization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7543" cy="10287000"/>
            <a:chOff x="0" y="0"/>
            <a:chExt cx="24383390" cy="13716000"/>
          </a:xfrm>
        </p:grpSpPr>
        <p:sp>
          <p:nvSpPr>
            <p:cNvPr id="3" name="Freeform 3"/>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close/>
                </a:path>
              </a:pathLst>
            </a:custGeom>
            <a:solidFill>
              <a:srgbClr val="FFFFF1"/>
            </a:solidFill>
          </p:spPr>
        </p:sp>
      </p:grpSp>
      <p:grpSp>
        <p:nvGrpSpPr>
          <p:cNvPr id="4" name="Group 4"/>
          <p:cNvGrpSpPr/>
          <p:nvPr/>
        </p:nvGrpSpPr>
        <p:grpSpPr>
          <a:xfrm>
            <a:off x="-274320" y="1577340"/>
            <a:ext cx="1577340" cy="493776"/>
            <a:chOff x="0" y="0"/>
            <a:chExt cx="2103120" cy="658368"/>
          </a:xfrm>
        </p:grpSpPr>
        <p:sp>
          <p:nvSpPr>
            <p:cNvPr id="5" name="Freeform 5"/>
            <p:cNvSpPr/>
            <p:nvPr/>
          </p:nvSpPr>
          <p:spPr>
            <a:xfrm>
              <a:off x="0" y="0"/>
              <a:ext cx="2103120" cy="658368"/>
            </a:xfrm>
            <a:custGeom>
              <a:avLst/>
              <a:gdLst/>
              <a:ahLst/>
              <a:cxnLst/>
              <a:rect l="l" t="t" r="r" b="b"/>
              <a:pathLst>
                <a:path w="2103120" h="658368">
                  <a:moveTo>
                    <a:pt x="0" y="329184"/>
                  </a:moveTo>
                  <a:cubicBezTo>
                    <a:pt x="0" y="147320"/>
                    <a:pt x="147320" y="0"/>
                    <a:pt x="329184" y="0"/>
                  </a:cubicBezTo>
                  <a:lnTo>
                    <a:pt x="1773936" y="0"/>
                  </a:lnTo>
                  <a:cubicBezTo>
                    <a:pt x="1955800" y="0"/>
                    <a:pt x="2103120" y="147320"/>
                    <a:pt x="2103120" y="329184"/>
                  </a:cubicBezTo>
                  <a:cubicBezTo>
                    <a:pt x="2103120" y="511048"/>
                    <a:pt x="1955800" y="658368"/>
                    <a:pt x="1773936" y="658368"/>
                  </a:cubicBezTo>
                  <a:lnTo>
                    <a:pt x="329184" y="658368"/>
                  </a:lnTo>
                  <a:cubicBezTo>
                    <a:pt x="147320" y="658368"/>
                    <a:pt x="0" y="511048"/>
                    <a:pt x="0" y="329184"/>
                  </a:cubicBezTo>
                  <a:close/>
                </a:path>
              </a:pathLst>
            </a:custGeom>
            <a:solidFill>
              <a:srgbClr val="FFB903"/>
            </a:solidFill>
          </p:spPr>
        </p:sp>
      </p:grpSp>
      <p:grpSp>
        <p:nvGrpSpPr>
          <p:cNvPr id="6" name="Group 6"/>
          <p:cNvGrpSpPr/>
          <p:nvPr/>
        </p:nvGrpSpPr>
        <p:grpSpPr>
          <a:xfrm>
            <a:off x="-274320" y="2180844"/>
            <a:ext cx="2194560" cy="493776"/>
            <a:chOff x="0" y="0"/>
            <a:chExt cx="2926080" cy="658368"/>
          </a:xfrm>
        </p:grpSpPr>
        <p:sp>
          <p:nvSpPr>
            <p:cNvPr id="7" name="Freeform 7"/>
            <p:cNvSpPr/>
            <p:nvPr/>
          </p:nvSpPr>
          <p:spPr>
            <a:xfrm>
              <a:off x="0" y="0"/>
              <a:ext cx="2926080" cy="658368"/>
            </a:xfrm>
            <a:custGeom>
              <a:avLst/>
              <a:gdLst/>
              <a:ahLst/>
              <a:cxnLst/>
              <a:rect l="l" t="t" r="r" b="b"/>
              <a:pathLst>
                <a:path w="2926080" h="658368">
                  <a:moveTo>
                    <a:pt x="0" y="329184"/>
                  </a:moveTo>
                  <a:cubicBezTo>
                    <a:pt x="0" y="147320"/>
                    <a:pt x="147320" y="0"/>
                    <a:pt x="329184" y="0"/>
                  </a:cubicBezTo>
                  <a:lnTo>
                    <a:pt x="2596896" y="0"/>
                  </a:lnTo>
                  <a:cubicBezTo>
                    <a:pt x="2778760" y="0"/>
                    <a:pt x="2926080" y="147320"/>
                    <a:pt x="2926080" y="329184"/>
                  </a:cubicBezTo>
                  <a:cubicBezTo>
                    <a:pt x="2926080" y="511048"/>
                    <a:pt x="2778760" y="658368"/>
                    <a:pt x="2596896" y="658368"/>
                  </a:cubicBezTo>
                  <a:lnTo>
                    <a:pt x="329184" y="658368"/>
                  </a:lnTo>
                  <a:cubicBezTo>
                    <a:pt x="147320" y="658368"/>
                    <a:pt x="0" y="511048"/>
                    <a:pt x="0" y="329184"/>
                  </a:cubicBezTo>
                  <a:close/>
                </a:path>
              </a:pathLst>
            </a:custGeom>
            <a:solidFill>
              <a:srgbClr val="079ED2"/>
            </a:solidFill>
          </p:spPr>
        </p:sp>
      </p:grpSp>
      <p:grpSp>
        <p:nvGrpSpPr>
          <p:cNvPr id="8" name="Group 8"/>
          <p:cNvGrpSpPr/>
          <p:nvPr/>
        </p:nvGrpSpPr>
        <p:grpSpPr>
          <a:xfrm>
            <a:off x="-274320" y="2784348"/>
            <a:ext cx="1577340" cy="493776"/>
            <a:chOff x="0" y="0"/>
            <a:chExt cx="2103120" cy="658368"/>
          </a:xfrm>
        </p:grpSpPr>
        <p:sp>
          <p:nvSpPr>
            <p:cNvPr id="9" name="Freeform 9"/>
            <p:cNvSpPr/>
            <p:nvPr/>
          </p:nvSpPr>
          <p:spPr>
            <a:xfrm>
              <a:off x="0" y="0"/>
              <a:ext cx="2103120" cy="658368"/>
            </a:xfrm>
            <a:custGeom>
              <a:avLst/>
              <a:gdLst/>
              <a:ahLst/>
              <a:cxnLst/>
              <a:rect l="l" t="t" r="r" b="b"/>
              <a:pathLst>
                <a:path w="2103120" h="658368">
                  <a:moveTo>
                    <a:pt x="0" y="329184"/>
                  </a:moveTo>
                  <a:cubicBezTo>
                    <a:pt x="0" y="147320"/>
                    <a:pt x="147320" y="0"/>
                    <a:pt x="329184" y="0"/>
                  </a:cubicBezTo>
                  <a:lnTo>
                    <a:pt x="1773936" y="0"/>
                  </a:lnTo>
                  <a:cubicBezTo>
                    <a:pt x="1955800" y="0"/>
                    <a:pt x="2103120" y="147320"/>
                    <a:pt x="2103120" y="329184"/>
                  </a:cubicBezTo>
                  <a:cubicBezTo>
                    <a:pt x="2103120" y="511048"/>
                    <a:pt x="1955800" y="658368"/>
                    <a:pt x="1773936" y="658368"/>
                  </a:cubicBezTo>
                  <a:lnTo>
                    <a:pt x="329184" y="658368"/>
                  </a:lnTo>
                  <a:cubicBezTo>
                    <a:pt x="147320" y="658368"/>
                    <a:pt x="0" y="511048"/>
                    <a:pt x="0" y="329184"/>
                  </a:cubicBezTo>
                  <a:close/>
                </a:path>
              </a:pathLst>
            </a:custGeom>
            <a:solidFill>
              <a:srgbClr val="FD1485"/>
            </a:solidFill>
          </p:spPr>
        </p:sp>
      </p:grpSp>
      <p:grpSp>
        <p:nvGrpSpPr>
          <p:cNvPr id="10" name="Group 10"/>
          <p:cNvGrpSpPr/>
          <p:nvPr/>
        </p:nvGrpSpPr>
        <p:grpSpPr>
          <a:xfrm>
            <a:off x="17282160" y="822960"/>
            <a:ext cx="329184" cy="246888"/>
            <a:chOff x="0" y="0"/>
            <a:chExt cx="438912" cy="329184"/>
          </a:xfrm>
        </p:grpSpPr>
        <p:sp>
          <p:nvSpPr>
            <p:cNvPr id="11" name="Freeform 11"/>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353334"/>
            </a:solidFill>
          </p:spPr>
        </p:sp>
      </p:grpSp>
      <p:grpSp>
        <p:nvGrpSpPr>
          <p:cNvPr id="12" name="Group 12"/>
          <p:cNvGrpSpPr/>
          <p:nvPr/>
        </p:nvGrpSpPr>
        <p:grpSpPr>
          <a:xfrm>
            <a:off x="17282160" y="1069848"/>
            <a:ext cx="329184" cy="246888"/>
            <a:chOff x="0" y="0"/>
            <a:chExt cx="438912" cy="329184"/>
          </a:xfrm>
        </p:grpSpPr>
        <p:sp>
          <p:nvSpPr>
            <p:cNvPr id="13" name="Freeform 13"/>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FFB903"/>
            </a:solidFill>
          </p:spPr>
        </p:sp>
      </p:grpSp>
      <p:grpSp>
        <p:nvGrpSpPr>
          <p:cNvPr id="14" name="Group 14"/>
          <p:cNvGrpSpPr/>
          <p:nvPr/>
        </p:nvGrpSpPr>
        <p:grpSpPr>
          <a:xfrm>
            <a:off x="17282160" y="1316736"/>
            <a:ext cx="329184" cy="246888"/>
            <a:chOff x="0" y="0"/>
            <a:chExt cx="438912" cy="329184"/>
          </a:xfrm>
        </p:grpSpPr>
        <p:sp>
          <p:nvSpPr>
            <p:cNvPr id="15" name="Freeform 15"/>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FD1485"/>
            </a:solidFill>
          </p:spPr>
        </p:sp>
      </p:grpSp>
      <p:grpSp>
        <p:nvGrpSpPr>
          <p:cNvPr id="16" name="Group 16"/>
          <p:cNvGrpSpPr/>
          <p:nvPr/>
        </p:nvGrpSpPr>
        <p:grpSpPr>
          <a:xfrm>
            <a:off x="17282160" y="1563624"/>
            <a:ext cx="329184" cy="246888"/>
            <a:chOff x="0" y="0"/>
            <a:chExt cx="438912" cy="329184"/>
          </a:xfrm>
        </p:grpSpPr>
        <p:sp>
          <p:nvSpPr>
            <p:cNvPr id="17" name="Freeform 17"/>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079ED2"/>
            </a:solidFill>
          </p:spPr>
        </p:sp>
      </p:grpSp>
      <p:grpSp>
        <p:nvGrpSpPr>
          <p:cNvPr id="18" name="Group 18"/>
          <p:cNvGrpSpPr/>
          <p:nvPr/>
        </p:nvGrpSpPr>
        <p:grpSpPr>
          <a:xfrm>
            <a:off x="822960" y="8366760"/>
            <a:ext cx="329184" cy="246888"/>
            <a:chOff x="0" y="0"/>
            <a:chExt cx="438912" cy="329184"/>
          </a:xfrm>
        </p:grpSpPr>
        <p:sp>
          <p:nvSpPr>
            <p:cNvPr id="19" name="Freeform 19"/>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353334"/>
            </a:solidFill>
          </p:spPr>
        </p:sp>
      </p:grpSp>
      <p:grpSp>
        <p:nvGrpSpPr>
          <p:cNvPr id="20" name="Group 20"/>
          <p:cNvGrpSpPr/>
          <p:nvPr/>
        </p:nvGrpSpPr>
        <p:grpSpPr>
          <a:xfrm>
            <a:off x="822960" y="8613648"/>
            <a:ext cx="329184" cy="246888"/>
            <a:chOff x="0" y="0"/>
            <a:chExt cx="438912" cy="329184"/>
          </a:xfrm>
        </p:grpSpPr>
        <p:sp>
          <p:nvSpPr>
            <p:cNvPr id="21" name="Freeform 21"/>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FFB903"/>
            </a:solidFill>
          </p:spPr>
        </p:sp>
      </p:grpSp>
      <p:grpSp>
        <p:nvGrpSpPr>
          <p:cNvPr id="22" name="Group 22"/>
          <p:cNvGrpSpPr/>
          <p:nvPr/>
        </p:nvGrpSpPr>
        <p:grpSpPr>
          <a:xfrm>
            <a:off x="822960" y="8860536"/>
            <a:ext cx="329184" cy="246888"/>
            <a:chOff x="0" y="0"/>
            <a:chExt cx="438912" cy="329184"/>
          </a:xfrm>
        </p:grpSpPr>
        <p:sp>
          <p:nvSpPr>
            <p:cNvPr id="23" name="Freeform 23"/>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FD1485"/>
            </a:solidFill>
          </p:spPr>
        </p:sp>
      </p:grpSp>
      <p:grpSp>
        <p:nvGrpSpPr>
          <p:cNvPr id="24" name="Group 24"/>
          <p:cNvGrpSpPr/>
          <p:nvPr/>
        </p:nvGrpSpPr>
        <p:grpSpPr>
          <a:xfrm>
            <a:off x="822960" y="9107424"/>
            <a:ext cx="329184" cy="246888"/>
            <a:chOff x="0" y="0"/>
            <a:chExt cx="438912" cy="329184"/>
          </a:xfrm>
        </p:grpSpPr>
        <p:sp>
          <p:nvSpPr>
            <p:cNvPr id="25" name="Freeform 25"/>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079ED2"/>
            </a:solidFill>
          </p:spPr>
        </p:sp>
      </p:grpSp>
      <p:grpSp>
        <p:nvGrpSpPr>
          <p:cNvPr id="26" name="Group 26"/>
          <p:cNvGrpSpPr/>
          <p:nvPr/>
        </p:nvGrpSpPr>
        <p:grpSpPr>
          <a:xfrm>
            <a:off x="16630650" y="8901112"/>
            <a:ext cx="480060" cy="28575"/>
            <a:chOff x="0" y="0"/>
            <a:chExt cx="640080" cy="38100"/>
          </a:xfrm>
        </p:grpSpPr>
        <p:sp>
          <p:nvSpPr>
            <p:cNvPr id="27" name="Freeform 27"/>
            <p:cNvSpPr/>
            <p:nvPr/>
          </p:nvSpPr>
          <p:spPr>
            <a:xfrm>
              <a:off x="0" y="0"/>
              <a:ext cx="640080" cy="38100"/>
            </a:xfrm>
            <a:custGeom>
              <a:avLst/>
              <a:gdLst/>
              <a:ahLst/>
              <a:cxnLst/>
              <a:rect l="l" t="t" r="r" b="b"/>
              <a:pathLst>
                <a:path w="640080" h="38100">
                  <a:moveTo>
                    <a:pt x="0" y="0"/>
                  </a:moveTo>
                  <a:lnTo>
                    <a:pt x="640080" y="0"/>
                  </a:lnTo>
                  <a:lnTo>
                    <a:pt x="640080" y="38100"/>
                  </a:lnTo>
                  <a:lnTo>
                    <a:pt x="0" y="38100"/>
                  </a:lnTo>
                  <a:close/>
                </a:path>
              </a:pathLst>
            </a:custGeom>
            <a:solidFill>
              <a:srgbClr val="353334"/>
            </a:solidFill>
          </p:spPr>
        </p:sp>
      </p:grpSp>
      <p:grpSp>
        <p:nvGrpSpPr>
          <p:cNvPr id="28" name="Group 28"/>
          <p:cNvGrpSpPr/>
          <p:nvPr/>
        </p:nvGrpSpPr>
        <p:grpSpPr>
          <a:xfrm>
            <a:off x="16856392" y="8675370"/>
            <a:ext cx="28575" cy="480060"/>
            <a:chOff x="0" y="0"/>
            <a:chExt cx="38100" cy="640080"/>
          </a:xfrm>
        </p:grpSpPr>
        <p:sp>
          <p:nvSpPr>
            <p:cNvPr id="29" name="Freeform 29"/>
            <p:cNvSpPr/>
            <p:nvPr/>
          </p:nvSpPr>
          <p:spPr>
            <a:xfrm>
              <a:off x="0" y="0"/>
              <a:ext cx="38100" cy="640080"/>
            </a:xfrm>
            <a:custGeom>
              <a:avLst/>
              <a:gdLst/>
              <a:ahLst/>
              <a:cxnLst/>
              <a:rect l="l" t="t" r="r" b="b"/>
              <a:pathLst>
                <a:path w="38100" h="640080">
                  <a:moveTo>
                    <a:pt x="0" y="0"/>
                  </a:moveTo>
                  <a:lnTo>
                    <a:pt x="38100" y="0"/>
                  </a:lnTo>
                  <a:lnTo>
                    <a:pt x="38100" y="640080"/>
                  </a:lnTo>
                  <a:lnTo>
                    <a:pt x="0" y="640080"/>
                  </a:lnTo>
                  <a:close/>
                </a:path>
              </a:pathLst>
            </a:custGeom>
            <a:solidFill>
              <a:srgbClr val="353334"/>
            </a:solidFill>
          </p:spPr>
        </p:sp>
      </p:grpSp>
      <p:grpSp>
        <p:nvGrpSpPr>
          <p:cNvPr id="30" name="Group 30"/>
          <p:cNvGrpSpPr/>
          <p:nvPr/>
        </p:nvGrpSpPr>
        <p:grpSpPr>
          <a:xfrm>
            <a:off x="16788384" y="8833104"/>
            <a:ext cx="164592" cy="164592"/>
            <a:chOff x="0" y="0"/>
            <a:chExt cx="219456" cy="219456"/>
          </a:xfrm>
        </p:grpSpPr>
        <p:sp>
          <p:nvSpPr>
            <p:cNvPr id="31" name="Freeform 31"/>
            <p:cNvSpPr/>
            <p:nvPr/>
          </p:nvSpPr>
          <p:spPr>
            <a:xfrm>
              <a:off x="0" y="0"/>
              <a:ext cx="219456" cy="219456"/>
            </a:xfrm>
            <a:custGeom>
              <a:avLst/>
              <a:gdLst/>
              <a:ahLst/>
              <a:cxnLst/>
              <a:rect l="l" t="t" r="r" b="b"/>
              <a:pathLst>
                <a:path w="219456" h="219456">
                  <a:moveTo>
                    <a:pt x="0" y="0"/>
                  </a:moveTo>
                  <a:lnTo>
                    <a:pt x="219456" y="0"/>
                  </a:lnTo>
                  <a:lnTo>
                    <a:pt x="219456" y="219456"/>
                  </a:lnTo>
                  <a:lnTo>
                    <a:pt x="0" y="219456"/>
                  </a:lnTo>
                  <a:close/>
                </a:path>
              </a:pathLst>
            </a:custGeom>
            <a:solidFill>
              <a:srgbClr val="FFB903"/>
            </a:solidFill>
          </p:spPr>
        </p:sp>
      </p:grpSp>
      <p:grpSp>
        <p:nvGrpSpPr>
          <p:cNvPr id="32" name="Group 32"/>
          <p:cNvGrpSpPr/>
          <p:nvPr/>
        </p:nvGrpSpPr>
        <p:grpSpPr>
          <a:xfrm>
            <a:off x="12604432" y="945832"/>
            <a:ext cx="1537335" cy="1263015"/>
            <a:chOff x="0" y="0"/>
            <a:chExt cx="2049780" cy="1684020"/>
          </a:xfrm>
        </p:grpSpPr>
        <p:sp>
          <p:nvSpPr>
            <p:cNvPr id="33" name="Freeform 33"/>
            <p:cNvSpPr/>
            <p:nvPr/>
          </p:nvSpPr>
          <p:spPr>
            <a:xfrm>
              <a:off x="1024890" y="0"/>
              <a:ext cx="1024890" cy="842010"/>
            </a:xfrm>
            <a:custGeom>
              <a:avLst/>
              <a:gdLst/>
              <a:ahLst/>
              <a:cxnLst/>
              <a:rect l="l" t="t" r="r" b="b"/>
              <a:pathLst>
                <a:path w="1024890" h="842010">
                  <a:moveTo>
                    <a:pt x="0" y="0"/>
                  </a:moveTo>
                  <a:cubicBezTo>
                    <a:pt x="566039" y="0"/>
                    <a:pt x="1024890" y="376936"/>
                    <a:pt x="1024890" y="842010"/>
                  </a:cubicBezTo>
                  <a:lnTo>
                    <a:pt x="0" y="842010"/>
                  </a:lnTo>
                  <a:close/>
                </a:path>
              </a:pathLst>
            </a:custGeom>
            <a:blipFill>
              <a:blip r:embed="rId2">
                <a:alphaModFix amt="0"/>
              </a:blip>
              <a:stretch>
                <a:fillRect l="-210818" r="-110818" b="-99999"/>
              </a:stretch>
            </a:blipFill>
            <a:ln w="28575" cap="sq">
              <a:solidFill>
                <a:srgbClr val="079ED2"/>
              </a:solidFill>
              <a:prstDash val="solid"/>
              <a:miter/>
            </a:ln>
          </p:spPr>
        </p:sp>
        <p:sp>
          <p:nvSpPr>
            <p:cNvPr id="34" name="Freeform 34"/>
            <p:cNvSpPr/>
            <p:nvPr/>
          </p:nvSpPr>
          <p:spPr>
            <a:xfrm>
              <a:off x="1024890" y="0"/>
              <a:ext cx="1024890" cy="842010"/>
            </a:xfrm>
            <a:custGeom>
              <a:avLst/>
              <a:gdLst/>
              <a:ahLst/>
              <a:cxnLst/>
              <a:rect l="l" t="t" r="r" b="b"/>
              <a:pathLst>
                <a:path w="1024890" h="842010">
                  <a:moveTo>
                    <a:pt x="0" y="0"/>
                  </a:moveTo>
                  <a:cubicBezTo>
                    <a:pt x="566039" y="0"/>
                    <a:pt x="1024890" y="376936"/>
                    <a:pt x="1024890" y="842010"/>
                  </a:cubicBezTo>
                </a:path>
              </a:pathLst>
            </a:custGeom>
            <a:blipFill>
              <a:blip r:embed="rId2">
                <a:alphaModFix amt="0"/>
              </a:blip>
              <a:stretch>
                <a:fillRect l="-210818" r="-110818" b="-99999"/>
              </a:stretch>
            </a:blipFill>
            <a:ln w="28575" cap="sq">
              <a:solidFill>
                <a:srgbClr val="079ED2"/>
              </a:solidFill>
              <a:prstDash val="solid"/>
              <a:miter/>
            </a:ln>
          </p:spPr>
        </p:sp>
      </p:grpSp>
      <p:grpSp>
        <p:nvGrpSpPr>
          <p:cNvPr id="35" name="Group 35"/>
          <p:cNvGrpSpPr/>
          <p:nvPr/>
        </p:nvGrpSpPr>
        <p:grpSpPr>
          <a:xfrm>
            <a:off x="12543663" y="1502283"/>
            <a:ext cx="150114" cy="150114"/>
            <a:chOff x="0" y="0"/>
            <a:chExt cx="200152" cy="200152"/>
          </a:xfrm>
        </p:grpSpPr>
        <p:sp>
          <p:nvSpPr>
            <p:cNvPr id="36" name="Freeform 36"/>
            <p:cNvSpPr/>
            <p:nvPr/>
          </p:nvSpPr>
          <p:spPr>
            <a:xfrm>
              <a:off x="0" y="0"/>
              <a:ext cx="200152" cy="200152"/>
            </a:xfrm>
            <a:custGeom>
              <a:avLst/>
              <a:gdLst/>
              <a:ahLst/>
              <a:cxnLst/>
              <a:rect l="l" t="t" r="r" b="b"/>
              <a:pathLst>
                <a:path w="200152" h="200152">
                  <a:moveTo>
                    <a:pt x="0" y="0"/>
                  </a:moveTo>
                  <a:lnTo>
                    <a:pt x="200152" y="0"/>
                  </a:lnTo>
                  <a:lnTo>
                    <a:pt x="200152" y="200152"/>
                  </a:lnTo>
                  <a:lnTo>
                    <a:pt x="0" y="200152"/>
                  </a:lnTo>
                  <a:close/>
                </a:path>
              </a:pathLst>
            </a:custGeom>
            <a:solidFill>
              <a:srgbClr val="FFFFFF"/>
            </a:solidFill>
            <a:ln w="26670" cap="sq">
              <a:solidFill>
                <a:srgbClr val="FD1485"/>
              </a:solidFill>
              <a:prstDash val="solid"/>
              <a:miter/>
            </a:ln>
          </p:spPr>
        </p:sp>
      </p:grpSp>
      <p:grpSp>
        <p:nvGrpSpPr>
          <p:cNvPr id="37" name="Group 37"/>
          <p:cNvGrpSpPr/>
          <p:nvPr/>
        </p:nvGrpSpPr>
        <p:grpSpPr>
          <a:xfrm>
            <a:off x="14052423" y="885063"/>
            <a:ext cx="150114" cy="150114"/>
            <a:chOff x="0" y="0"/>
            <a:chExt cx="200152" cy="200152"/>
          </a:xfrm>
        </p:grpSpPr>
        <p:sp>
          <p:nvSpPr>
            <p:cNvPr id="38" name="Freeform 38"/>
            <p:cNvSpPr/>
            <p:nvPr/>
          </p:nvSpPr>
          <p:spPr>
            <a:xfrm>
              <a:off x="0" y="0"/>
              <a:ext cx="200152" cy="200152"/>
            </a:xfrm>
            <a:custGeom>
              <a:avLst/>
              <a:gdLst/>
              <a:ahLst/>
              <a:cxnLst/>
              <a:rect l="l" t="t" r="r" b="b"/>
              <a:pathLst>
                <a:path w="200152" h="200152">
                  <a:moveTo>
                    <a:pt x="0" y="0"/>
                  </a:moveTo>
                  <a:lnTo>
                    <a:pt x="200152" y="0"/>
                  </a:lnTo>
                  <a:lnTo>
                    <a:pt x="200152" y="200152"/>
                  </a:lnTo>
                  <a:lnTo>
                    <a:pt x="0" y="200152"/>
                  </a:lnTo>
                  <a:close/>
                </a:path>
              </a:pathLst>
            </a:custGeom>
            <a:solidFill>
              <a:srgbClr val="FFFFFF"/>
            </a:solidFill>
            <a:ln w="26670" cap="sq">
              <a:solidFill>
                <a:srgbClr val="FD1485"/>
              </a:solidFill>
              <a:prstDash val="solid"/>
              <a:miter/>
            </a:ln>
          </p:spPr>
        </p:sp>
      </p:grpSp>
      <p:sp>
        <p:nvSpPr>
          <p:cNvPr id="39" name="TextBox 39"/>
          <p:cNvSpPr txBox="1"/>
          <p:nvPr/>
        </p:nvSpPr>
        <p:spPr>
          <a:xfrm>
            <a:off x="2468880" y="566547"/>
            <a:ext cx="12344400" cy="421005"/>
          </a:xfrm>
          <a:prstGeom prst="rect">
            <a:avLst/>
          </a:prstGeom>
        </p:spPr>
        <p:txBody>
          <a:bodyPr lIns="0" tIns="0" rIns="0" bIns="0" rtlCol="0" anchor="t">
            <a:spAutoFit/>
          </a:bodyPr>
          <a:lstStyle/>
          <a:p>
            <a:pPr algn="l">
              <a:lnSpc>
                <a:spcPts val="1889"/>
              </a:lnSpc>
            </a:pPr>
            <a:r>
              <a:rPr lang="en-US" sz="1575" b="1">
                <a:solidFill>
                  <a:srgbClr val="353334"/>
                </a:solidFill>
                <a:latin typeface="Arimo Bold"/>
                <a:ea typeface="Arimo Bold"/>
                <a:cs typeface="Arimo Bold"/>
                <a:sym typeface="Arimo Bold"/>
              </a:rPr>
              <a:t>DATAQUEST 3.0  ·  ROUND 1</a:t>
            </a:r>
          </a:p>
        </p:txBody>
      </p:sp>
      <p:sp>
        <p:nvSpPr>
          <p:cNvPr id="40" name="TextBox 40"/>
          <p:cNvSpPr txBox="1"/>
          <p:nvPr/>
        </p:nvSpPr>
        <p:spPr>
          <a:xfrm>
            <a:off x="2468880" y="913638"/>
            <a:ext cx="13716000" cy="1184910"/>
          </a:xfrm>
          <a:prstGeom prst="rect">
            <a:avLst/>
          </a:prstGeom>
        </p:spPr>
        <p:txBody>
          <a:bodyPr lIns="0" tIns="0" rIns="0" bIns="0" rtlCol="0" anchor="t">
            <a:spAutoFit/>
          </a:bodyPr>
          <a:lstStyle/>
          <a:p>
            <a:pPr algn="l">
              <a:lnSpc>
                <a:spcPts val="5759"/>
              </a:lnSpc>
            </a:pPr>
            <a:r>
              <a:rPr lang="en-US" sz="4800" b="1">
                <a:solidFill>
                  <a:srgbClr val="FD1485"/>
                </a:solidFill>
                <a:latin typeface="Arimo Bold"/>
                <a:ea typeface="Arimo Bold"/>
                <a:cs typeface="Arimo Bold"/>
                <a:sym typeface="Arimo Bold"/>
              </a:rPr>
              <a:t>06  </a:t>
            </a:r>
            <a:r>
              <a:rPr lang="en-US" sz="4800" b="1">
                <a:solidFill>
                  <a:srgbClr val="353334"/>
                </a:solidFill>
                <a:latin typeface="Arimo Bold"/>
                <a:ea typeface="Arimo Bold"/>
                <a:cs typeface="Arimo Bold"/>
                <a:sym typeface="Arimo Bold"/>
              </a:rPr>
              <a:t>Impact &amp; Metrics</a:t>
            </a:r>
          </a:p>
        </p:txBody>
      </p:sp>
      <p:grpSp>
        <p:nvGrpSpPr>
          <p:cNvPr id="41" name="Group 41"/>
          <p:cNvGrpSpPr/>
          <p:nvPr/>
        </p:nvGrpSpPr>
        <p:grpSpPr>
          <a:xfrm>
            <a:off x="2468880" y="2167128"/>
            <a:ext cx="14127480" cy="28575"/>
            <a:chOff x="0" y="0"/>
            <a:chExt cx="18836640" cy="38100"/>
          </a:xfrm>
        </p:grpSpPr>
        <p:sp>
          <p:nvSpPr>
            <p:cNvPr id="42" name="Freeform 42"/>
            <p:cNvSpPr/>
            <p:nvPr/>
          </p:nvSpPr>
          <p:spPr>
            <a:xfrm>
              <a:off x="0" y="0"/>
              <a:ext cx="18836639" cy="38100"/>
            </a:xfrm>
            <a:custGeom>
              <a:avLst/>
              <a:gdLst/>
              <a:ahLst/>
              <a:cxnLst/>
              <a:rect l="l" t="t" r="r" b="b"/>
              <a:pathLst>
                <a:path w="18836639" h="38100">
                  <a:moveTo>
                    <a:pt x="0" y="0"/>
                  </a:moveTo>
                  <a:lnTo>
                    <a:pt x="18836639" y="0"/>
                  </a:lnTo>
                  <a:lnTo>
                    <a:pt x="18836639" y="38100"/>
                  </a:lnTo>
                  <a:lnTo>
                    <a:pt x="0" y="38100"/>
                  </a:lnTo>
                  <a:close/>
                </a:path>
              </a:pathLst>
            </a:custGeom>
            <a:solidFill>
              <a:srgbClr val="353334"/>
            </a:solidFill>
          </p:spPr>
        </p:sp>
      </p:grpSp>
      <p:sp>
        <p:nvSpPr>
          <p:cNvPr id="43" name="TextBox 43"/>
          <p:cNvSpPr txBox="1"/>
          <p:nvPr/>
        </p:nvSpPr>
        <p:spPr>
          <a:xfrm>
            <a:off x="2468880" y="2257806"/>
            <a:ext cx="14127480" cy="499110"/>
          </a:xfrm>
          <a:prstGeom prst="rect">
            <a:avLst/>
          </a:prstGeom>
        </p:spPr>
        <p:txBody>
          <a:bodyPr lIns="0" tIns="0" rIns="0" bIns="0" rtlCol="0" anchor="t">
            <a:spAutoFit/>
          </a:bodyPr>
          <a:lstStyle/>
          <a:p>
            <a:pPr algn="l">
              <a:lnSpc>
                <a:spcPts val="1980"/>
              </a:lnSpc>
            </a:pPr>
            <a:r>
              <a:rPr lang="en-US" sz="1650">
                <a:solidFill>
                  <a:srgbClr val="6E6E73"/>
                </a:solidFill>
                <a:latin typeface="Arimo"/>
                <a:ea typeface="Arimo"/>
                <a:cs typeface="Arimo"/>
                <a:sym typeface="Arimo"/>
              </a:rPr>
              <a:t>Primary measurable impact · Transparent calculation · Stakeholder advantages</a:t>
            </a:r>
          </a:p>
        </p:txBody>
      </p:sp>
      <p:grpSp>
        <p:nvGrpSpPr>
          <p:cNvPr id="44" name="Group 44"/>
          <p:cNvGrpSpPr/>
          <p:nvPr/>
        </p:nvGrpSpPr>
        <p:grpSpPr>
          <a:xfrm>
            <a:off x="2454592" y="3003233"/>
            <a:ext cx="14156055" cy="2771775"/>
            <a:chOff x="0" y="0"/>
            <a:chExt cx="18874740" cy="3695700"/>
          </a:xfrm>
        </p:grpSpPr>
        <p:sp>
          <p:nvSpPr>
            <p:cNvPr id="45" name="Freeform 45"/>
            <p:cNvSpPr/>
            <p:nvPr/>
          </p:nvSpPr>
          <p:spPr>
            <a:xfrm>
              <a:off x="0" y="0"/>
              <a:ext cx="18874614" cy="3695700"/>
            </a:xfrm>
            <a:custGeom>
              <a:avLst/>
              <a:gdLst/>
              <a:ahLst/>
              <a:cxnLst/>
              <a:rect l="l" t="t" r="r" b="b"/>
              <a:pathLst>
                <a:path w="18874614" h="3695700">
                  <a:moveTo>
                    <a:pt x="0" y="129286"/>
                  </a:moveTo>
                  <a:cubicBezTo>
                    <a:pt x="0" y="57912"/>
                    <a:pt x="57912" y="0"/>
                    <a:pt x="129286" y="0"/>
                  </a:cubicBezTo>
                  <a:lnTo>
                    <a:pt x="18745327" y="0"/>
                  </a:lnTo>
                  <a:cubicBezTo>
                    <a:pt x="18816828" y="0"/>
                    <a:pt x="18874614" y="57912"/>
                    <a:pt x="18874614" y="129286"/>
                  </a:cubicBezTo>
                  <a:lnTo>
                    <a:pt x="18874614" y="3566287"/>
                  </a:lnTo>
                  <a:cubicBezTo>
                    <a:pt x="18874614" y="3637788"/>
                    <a:pt x="18816701" y="3695700"/>
                    <a:pt x="18745327" y="3695700"/>
                  </a:cubicBezTo>
                  <a:lnTo>
                    <a:pt x="129286" y="3695700"/>
                  </a:lnTo>
                  <a:cubicBezTo>
                    <a:pt x="57912" y="3695700"/>
                    <a:pt x="0" y="3637788"/>
                    <a:pt x="0" y="3566287"/>
                  </a:cubicBezTo>
                  <a:close/>
                </a:path>
              </a:pathLst>
            </a:custGeom>
            <a:solidFill>
              <a:srgbClr val="FFFFFF"/>
            </a:solidFill>
            <a:ln w="28575" cap="sq">
              <a:solidFill>
                <a:srgbClr val="353334"/>
              </a:solidFill>
              <a:prstDash val="solid"/>
              <a:miter/>
            </a:ln>
          </p:spPr>
        </p:sp>
      </p:grpSp>
      <p:grpSp>
        <p:nvGrpSpPr>
          <p:cNvPr id="46" name="Group 46"/>
          <p:cNvGrpSpPr/>
          <p:nvPr/>
        </p:nvGrpSpPr>
        <p:grpSpPr>
          <a:xfrm>
            <a:off x="2937510" y="2814066"/>
            <a:ext cx="2423160" cy="406908"/>
            <a:chOff x="0" y="0"/>
            <a:chExt cx="3230880" cy="542544"/>
          </a:xfrm>
        </p:grpSpPr>
        <p:sp>
          <p:nvSpPr>
            <p:cNvPr id="47" name="Freeform 47"/>
            <p:cNvSpPr/>
            <p:nvPr/>
          </p:nvSpPr>
          <p:spPr>
            <a:xfrm>
              <a:off x="0" y="0"/>
              <a:ext cx="3230880" cy="542544"/>
            </a:xfrm>
            <a:custGeom>
              <a:avLst/>
              <a:gdLst/>
              <a:ahLst/>
              <a:cxnLst/>
              <a:rect l="l" t="t" r="r" b="b"/>
              <a:pathLst>
                <a:path w="3230880" h="542544">
                  <a:moveTo>
                    <a:pt x="0" y="271272"/>
                  </a:moveTo>
                  <a:cubicBezTo>
                    <a:pt x="0" y="121412"/>
                    <a:pt x="121412" y="0"/>
                    <a:pt x="271272" y="0"/>
                  </a:cubicBezTo>
                  <a:lnTo>
                    <a:pt x="2959608" y="0"/>
                  </a:lnTo>
                  <a:cubicBezTo>
                    <a:pt x="3109468" y="0"/>
                    <a:pt x="3230880" y="121412"/>
                    <a:pt x="3230880" y="271272"/>
                  </a:cubicBezTo>
                  <a:cubicBezTo>
                    <a:pt x="3230880" y="421132"/>
                    <a:pt x="3109468" y="542544"/>
                    <a:pt x="2959608" y="542544"/>
                  </a:cubicBezTo>
                  <a:lnTo>
                    <a:pt x="271272" y="542544"/>
                  </a:lnTo>
                  <a:cubicBezTo>
                    <a:pt x="121412" y="542544"/>
                    <a:pt x="0" y="421132"/>
                    <a:pt x="0" y="271272"/>
                  </a:cubicBezTo>
                  <a:close/>
                </a:path>
              </a:pathLst>
            </a:custGeom>
            <a:solidFill>
              <a:srgbClr val="FD1485"/>
            </a:solidFill>
            <a:ln w="22860" cap="sq">
              <a:solidFill>
                <a:srgbClr val="353334"/>
              </a:solidFill>
              <a:prstDash val="solid"/>
              <a:miter/>
            </a:ln>
          </p:spPr>
        </p:sp>
        <p:sp>
          <p:nvSpPr>
            <p:cNvPr id="48" name="TextBox 48"/>
            <p:cNvSpPr txBox="1"/>
            <p:nvPr/>
          </p:nvSpPr>
          <p:spPr>
            <a:xfrm>
              <a:off x="0" y="-19050"/>
              <a:ext cx="3230880" cy="561594"/>
            </a:xfrm>
            <a:prstGeom prst="rect">
              <a:avLst/>
            </a:prstGeom>
          </p:spPr>
          <p:txBody>
            <a:bodyPr lIns="50800" tIns="50800" rIns="50800" bIns="50800" rtlCol="0" anchor="ctr"/>
            <a:lstStyle/>
            <a:p>
              <a:pPr algn="ctr">
                <a:lnSpc>
                  <a:spcPts val="1530"/>
                </a:lnSpc>
              </a:pPr>
              <a:r>
                <a:rPr lang="en-US" sz="1275" b="1">
                  <a:solidFill>
                    <a:srgbClr val="FFFFFF"/>
                  </a:solidFill>
                  <a:latin typeface="Arimo Bold"/>
                  <a:ea typeface="Arimo Bold"/>
                  <a:cs typeface="Arimo Bold"/>
                  <a:sym typeface="Arimo Bold"/>
                </a:rPr>
                <a:t>PRIMARY METRIC</a:t>
              </a:r>
            </a:p>
          </p:txBody>
        </p:sp>
      </p:grpSp>
      <p:sp>
        <p:nvSpPr>
          <p:cNvPr id="49" name="TextBox 49"/>
          <p:cNvSpPr txBox="1"/>
          <p:nvPr/>
        </p:nvSpPr>
        <p:spPr>
          <a:xfrm>
            <a:off x="2971800" y="3308985"/>
            <a:ext cx="5989320" cy="1343025"/>
          </a:xfrm>
          <a:prstGeom prst="rect">
            <a:avLst/>
          </a:prstGeom>
        </p:spPr>
        <p:txBody>
          <a:bodyPr lIns="0" tIns="0" rIns="0" bIns="0" rtlCol="0" anchor="t">
            <a:spAutoFit/>
          </a:bodyPr>
          <a:lstStyle/>
          <a:p>
            <a:pPr algn="l">
              <a:lnSpc>
                <a:spcPts val="8280"/>
              </a:lnSpc>
            </a:pPr>
            <a:r>
              <a:rPr lang="en-US" sz="6900" b="1">
                <a:solidFill>
                  <a:srgbClr val="FD1485"/>
                </a:solidFill>
                <a:latin typeface="Arimo Bold"/>
                <a:ea typeface="Arimo Bold"/>
                <a:cs typeface="Arimo Bold"/>
                <a:sym typeface="Arimo Bold"/>
              </a:rPr>
              <a:t>[ 90% ]</a:t>
            </a:r>
          </a:p>
          <a:p>
            <a:pPr algn="l">
              <a:lnSpc>
                <a:spcPts val="2160"/>
              </a:lnSpc>
            </a:pPr>
            <a:r>
              <a:rPr lang="en-US" sz="1800" b="1">
                <a:solidFill>
                  <a:srgbClr val="353334"/>
                </a:solidFill>
                <a:latin typeface="Arimo Bold"/>
                <a:ea typeface="Arimo Bold"/>
                <a:cs typeface="Arimo Bold"/>
                <a:sym typeface="Arimo Bold"/>
              </a:rPr>
              <a:t>High-Fidelity Extraction Accuracy</a:t>
            </a:r>
          </a:p>
        </p:txBody>
      </p:sp>
      <p:sp>
        <p:nvSpPr>
          <p:cNvPr id="50" name="TextBox 50"/>
          <p:cNvSpPr txBox="1"/>
          <p:nvPr/>
        </p:nvSpPr>
        <p:spPr>
          <a:xfrm>
            <a:off x="9418320" y="3455670"/>
            <a:ext cx="6675120" cy="742950"/>
          </a:xfrm>
          <a:prstGeom prst="rect">
            <a:avLst/>
          </a:prstGeom>
        </p:spPr>
        <p:txBody>
          <a:bodyPr lIns="0" tIns="0" rIns="0" bIns="0" rtlCol="0" anchor="t">
            <a:spAutoFit/>
          </a:bodyPr>
          <a:lstStyle/>
          <a:p>
            <a:pPr algn="l">
              <a:lnSpc>
                <a:spcPts val="2160"/>
              </a:lnSpc>
            </a:pPr>
            <a:r>
              <a:rPr lang="en-US" sz="1800" b="1">
                <a:solidFill>
                  <a:srgbClr val="353334"/>
                </a:solidFill>
                <a:latin typeface="Arimo Bold"/>
                <a:ea typeface="Arimo Bold"/>
                <a:cs typeface="Arimo Bold"/>
                <a:sym typeface="Arimo Bold"/>
              </a:rPr>
              <a:t>HOW IT WAS MEASURED</a:t>
            </a:r>
          </a:p>
          <a:p>
            <a:pPr algn="l">
              <a:lnSpc>
                <a:spcPts val="1800"/>
              </a:lnSpc>
            </a:pPr>
            <a:r>
              <a:rPr lang="en-US" sz="1500">
                <a:solidFill>
                  <a:srgbClr val="3C3C41"/>
                </a:solidFill>
                <a:latin typeface="Arimo"/>
                <a:ea typeface="Arimo"/>
                <a:cs typeface="Arimo"/>
                <a:sym typeface="Arimo"/>
              </a:rPr>
              <a:t>Correctly extracted elements / Total ground-truth elements × 100</a:t>
            </a:r>
          </a:p>
          <a:p>
            <a:pPr algn="l">
              <a:lnSpc>
                <a:spcPts val="1800"/>
              </a:lnSpc>
            </a:pPr>
            <a:endParaRPr lang="en-US" sz="1500">
              <a:solidFill>
                <a:srgbClr val="3C3C41"/>
              </a:solidFill>
              <a:latin typeface="Arimo"/>
              <a:ea typeface="Arimo"/>
              <a:cs typeface="Arimo"/>
              <a:sym typeface="Arimo"/>
            </a:endParaRPr>
          </a:p>
        </p:txBody>
      </p:sp>
      <p:grpSp>
        <p:nvGrpSpPr>
          <p:cNvPr id="51" name="Group 51"/>
          <p:cNvGrpSpPr/>
          <p:nvPr/>
        </p:nvGrpSpPr>
        <p:grpSpPr>
          <a:xfrm>
            <a:off x="2454592" y="6157912"/>
            <a:ext cx="4486275" cy="3663315"/>
            <a:chOff x="0" y="0"/>
            <a:chExt cx="5981700" cy="4884420"/>
          </a:xfrm>
        </p:grpSpPr>
        <p:sp>
          <p:nvSpPr>
            <p:cNvPr id="52" name="Freeform 52"/>
            <p:cNvSpPr/>
            <p:nvPr/>
          </p:nvSpPr>
          <p:spPr>
            <a:xfrm>
              <a:off x="0" y="0"/>
              <a:ext cx="5981700" cy="4884420"/>
            </a:xfrm>
            <a:custGeom>
              <a:avLst/>
              <a:gdLst/>
              <a:ahLst/>
              <a:cxnLst/>
              <a:rect l="l" t="t" r="r" b="b"/>
              <a:pathLst>
                <a:path w="5981700" h="4884420">
                  <a:moveTo>
                    <a:pt x="0" y="170942"/>
                  </a:moveTo>
                  <a:cubicBezTo>
                    <a:pt x="0" y="76581"/>
                    <a:pt x="76581" y="0"/>
                    <a:pt x="170942" y="0"/>
                  </a:cubicBezTo>
                  <a:lnTo>
                    <a:pt x="5810758" y="0"/>
                  </a:lnTo>
                  <a:cubicBezTo>
                    <a:pt x="5905119" y="0"/>
                    <a:pt x="5981700" y="76581"/>
                    <a:pt x="5981700" y="170942"/>
                  </a:cubicBezTo>
                  <a:lnTo>
                    <a:pt x="5981700" y="4713478"/>
                  </a:lnTo>
                  <a:cubicBezTo>
                    <a:pt x="5981700" y="4807839"/>
                    <a:pt x="5905119" y="4884420"/>
                    <a:pt x="5810758" y="4884420"/>
                  </a:cubicBezTo>
                  <a:lnTo>
                    <a:pt x="170942" y="4884420"/>
                  </a:lnTo>
                  <a:cubicBezTo>
                    <a:pt x="76581" y="4884420"/>
                    <a:pt x="0" y="4807839"/>
                    <a:pt x="0" y="4713478"/>
                  </a:cubicBezTo>
                  <a:close/>
                </a:path>
              </a:pathLst>
            </a:custGeom>
            <a:solidFill>
              <a:srgbClr val="FFFFFF"/>
            </a:solidFill>
            <a:ln w="28575" cap="sq">
              <a:solidFill>
                <a:srgbClr val="353334"/>
              </a:solidFill>
              <a:prstDash val="solid"/>
              <a:miter/>
            </a:ln>
          </p:spPr>
        </p:sp>
      </p:grpSp>
      <p:grpSp>
        <p:nvGrpSpPr>
          <p:cNvPr id="53" name="Group 53"/>
          <p:cNvGrpSpPr/>
          <p:nvPr/>
        </p:nvGrpSpPr>
        <p:grpSpPr>
          <a:xfrm>
            <a:off x="2937510" y="5968746"/>
            <a:ext cx="2423160" cy="406908"/>
            <a:chOff x="0" y="0"/>
            <a:chExt cx="3230880" cy="542544"/>
          </a:xfrm>
        </p:grpSpPr>
        <p:sp>
          <p:nvSpPr>
            <p:cNvPr id="54" name="Freeform 54"/>
            <p:cNvSpPr/>
            <p:nvPr/>
          </p:nvSpPr>
          <p:spPr>
            <a:xfrm>
              <a:off x="0" y="0"/>
              <a:ext cx="3230880" cy="542544"/>
            </a:xfrm>
            <a:custGeom>
              <a:avLst/>
              <a:gdLst/>
              <a:ahLst/>
              <a:cxnLst/>
              <a:rect l="l" t="t" r="r" b="b"/>
              <a:pathLst>
                <a:path w="3230880" h="542544">
                  <a:moveTo>
                    <a:pt x="0" y="271272"/>
                  </a:moveTo>
                  <a:cubicBezTo>
                    <a:pt x="0" y="121412"/>
                    <a:pt x="121412" y="0"/>
                    <a:pt x="271272" y="0"/>
                  </a:cubicBezTo>
                  <a:lnTo>
                    <a:pt x="2959608" y="0"/>
                  </a:lnTo>
                  <a:cubicBezTo>
                    <a:pt x="3109468" y="0"/>
                    <a:pt x="3230880" y="121412"/>
                    <a:pt x="3230880" y="271272"/>
                  </a:cubicBezTo>
                  <a:cubicBezTo>
                    <a:pt x="3230880" y="421132"/>
                    <a:pt x="3109468" y="542544"/>
                    <a:pt x="2959608" y="542544"/>
                  </a:cubicBezTo>
                  <a:lnTo>
                    <a:pt x="271272" y="542544"/>
                  </a:lnTo>
                  <a:cubicBezTo>
                    <a:pt x="121412" y="542544"/>
                    <a:pt x="0" y="421132"/>
                    <a:pt x="0" y="271272"/>
                  </a:cubicBezTo>
                  <a:close/>
                </a:path>
              </a:pathLst>
            </a:custGeom>
            <a:solidFill>
              <a:srgbClr val="079ED2"/>
            </a:solidFill>
            <a:ln w="22860" cap="sq">
              <a:solidFill>
                <a:srgbClr val="353334"/>
              </a:solidFill>
              <a:prstDash val="solid"/>
              <a:miter/>
            </a:ln>
          </p:spPr>
        </p:sp>
        <p:sp>
          <p:nvSpPr>
            <p:cNvPr id="55" name="TextBox 55"/>
            <p:cNvSpPr txBox="1"/>
            <p:nvPr/>
          </p:nvSpPr>
          <p:spPr>
            <a:xfrm>
              <a:off x="0" y="-19050"/>
              <a:ext cx="3230880" cy="561594"/>
            </a:xfrm>
            <a:prstGeom prst="rect">
              <a:avLst/>
            </a:prstGeom>
          </p:spPr>
          <p:txBody>
            <a:bodyPr lIns="50800" tIns="50800" rIns="50800" bIns="50800" rtlCol="0" anchor="ctr"/>
            <a:lstStyle/>
            <a:p>
              <a:pPr algn="ctr">
                <a:lnSpc>
                  <a:spcPts val="1530"/>
                </a:lnSpc>
              </a:pPr>
              <a:r>
                <a:rPr lang="en-US" sz="1275" b="1">
                  <a:solidFill>
                    <a:srgbClr val="FFFFFF"/>
                  </a:solidFill>
                  <a:latin typeface="Arimo Bold"/>
                  <a:ea typeface="Arimo Bold"/>
                  <a:cs typeface="Arimo Bold"/>
                  <a:sym typeface="Arimo Bold"/>
                </a:rPr>
                <a:t>IMPACT 01</a:t>
              </a:r>
            </a:p>
          </p:txBody>
        </p:sp>
      </p:grpSp>
      <p:sp>
        <p:nvSpPr>
          <p:cNvPr id="56" name="TextBox 56"/>
          <p:cNvSpPr txBox="1"/>
          <p:nvPr/>
        </p:nvSpPr>
        <p:spPr>
          <a:xfrm>
            <a:off x="2834640" y="6541770"/>
            <a:ext cx="3726180" cy="1733550"/>
          </a:xfrm>
          <a:prstGeom prst="rect">
            <a:avLst/>
          </a:prstGeom>
        </p:spPr>
        <p:txBody>
          <a:bodyPr lIns="0" tIns="0" rIns="0" bIns="0" rtlCol="0" anchor="t">
            <a:spAutoFit/>
          </a:bodyPr>
          <a:lstStyle/>
          <a:p>
            <a:pPr algn="l">
              <a:lnSpc>
                <a:spcPts val="1980"/>
              </a:lnSpc>
            </a:pPr>
            <a:r>
              <a:rPr lang="en-US" sz="1650" b="1">
                <a:solidFill>
                  <a:srgbClr val="353334"/>
                </a:solidFill>
                <a:latin typeface="Arimo Bold"/>
                <a:ea typeface="Arimo Bold"/>
                <a:cs typeface="Arimo Bold"/>
                <a:sym typeface="Arimo Bold"/>
              </a:rPr>
              <a:t>WHAT IMPROVES</a:t>
            </a:r>
          </a:p>
          <a:p>
            <a:pPr algn="l">
              <a:lnSpc>
                <a:spcPts val="1709"/>
              </a:lnSpc>
            </a:pPr>
            <a:r>
              <a:rPr lang="en-US" sz="1425">
                <a:solidFill>
                  <a:srgbClr val="3C3C41"/>
                </a:solidFill>
                <a:latin typeface="Arimo"/>
                <a:ea typeface="Arimo"/>
                <a:cs typeface="Arimo"/>
                <a:sym typeface="Arimo"/>
              </a:rPr>
              <a:t>Higher-fidelity document extraction</a:t>
            </a:r>
          </a:p>
          <a:p>
            <a:pPr marL="307658" lvl="1" indent="-153829" algn="l">
              <a:lnSpc>
                <a:spcPts val="1709"/>
              </a:lnSpc>
              <a:buFont typeface="Arial"/>
              <a:buChar char="•"/>
            </a:pPr>
            <a:r>
              <a:rPr lang="en-US" sz="1425">
                <a:solidFill>
                  <a:srgbClr val="3C3C41"/>
                </a:solidFill>
                <a:latin typeface="Arimo"/>
                <a:ea typeface="Arimo"/>
                <a:cs typeface="Arimo"/>
                <a:sym typeface="Arimo"/>
              </a:rPr>
              <a:t>Reduces missing and misread content</a:t>
            </a:r>
          </a:p>
          <a:p>
            <a:pPr marL="307658" lvl="1" indent="-153829" algn="l">
              <a:lnSpc>
                <a:spcPts val="1709"/>
              </a:lnSpc>
              <a:buFont typeface="Arial"/>
              <a:buChar char="•"/>
            </a:pPr>
            <a:r>
              <a:rPr lang="en-US" sz="1425">
                <a:solidFill>
                  <a:srgbClr val="3C3C41"/>
                </a:solidFill>
                <a:latin typeface="Arimo"/>
                <a:ea typeface="Arimo"/>
                <a:cs typeface="Arimo"/>
                <a:sym typeface="Arimo"/>
              </a:rPr>
              <a:t>Preserves correct reading order and document structure</a:t>
            </a:r>
          </a:p>
          <a:p>
            <a:pPr algn="l">
              <a:lnSpc>
                <a:spcPts val="1709"/>
              </a:lnSpc>
            </a:pPr>
            <a:r>
              <a:rPr lang="en-US" sz="1425">
                <a:solidFill>
                  <a:srgbClr val="3C3C41"/>
                </a:solidFill>
                <a:latin typeface="Arimo"/>
                <a:ea typeface="Arimo"/>
                <a:cs typeface="Arimo"/>
                <a:sym typeface="Arimo"/>
              </a:rPr>
              <a:t>~20–25% higher extraction accuracy vs. baseline</a:t>
            </a:r>
          </a:p>
          <a:p>
            <a:pPr algn="l">
              <a:lnSpc>
                <a:spcPts val="1709"/>
              </a:lnSpc>
            </a:pPr>
            <a:endParaRPr lang="en-US" sz="1425">
              <a:solidFill>
                <a:srgbClr val="3C3C41"/>
              </a:solidFill>
              <a:latin typeface="Arimo"/>
              <a:ea typeface="Arimo"/>
              <a:cs typeface="Arimo"/>
              <a:sym typeface="Arimo"/>
            </a:endParaRPr>
          </a:p>
        </p:txBody>
      </p:sp>
      <p:grpSp>
        <p:nvGrpSpPr>
          <p:cNvPr id="57" name="Group 57"/>
          <p:cNvGrpSpPr/>
          <p:nvPr/>
        </p:nvGrpSpPr>
        <p:grpSpPr>
          <a:xfrm>
            <a:off x="7282625" y="6157912"/>
            <a:ext cx="4486275" cy="3663315"/>
            <a:chOff x="0" y="0"/>
            <a:chExt cx="5981700" cy="4884420"/>
          </a:xfrm>
        </p:grpSpPr>
        <p:sp>
          <p:nvSpPr>
            <p:cNvPr id="58" name="Freeform 58"/>
            <p:cNvSpPr/>
            <p:nvPr/>
          </p:nvSpPr>
          <p:spPr>
            <a:xfrm>
              <a:off x="0" y="0"/>
              <a:ext cx="5981700" cy="4884420"/>
            </a:xfrm>
            <a:custGeom>
              <a:avLst/>
              <a:gdLst/>
              <a:ahLst/>
              <a:cxnLst/>
              <a:rect l="l" t="t" r="r" b="b"/>
              <a:pathLst>
                <a:path w="5981700" h="4884420">
                  <a:moveTo>
                    <a:pt x="0" y="170942"/>
                  </a:moveTo>
                  <a:cubicBezTo>
                    <a:pt x="0" y="76581"/>
                    <a:pt x="76581" y="0"/>
                    <a:pt x="170942" y="0"/>
                  </a:cubicBezTo>
                  <a:lnTo>
                    <a:pt x="5810758" y="0"/>
                  </a:lnTo>
                  <a:cubicBezTo>
                    <a:pt x="5905119" y="0"/>
                    <a:pt x="5981700" y="76581"/>
                    <a:pt x="5981700" y="170942"/>
                  </a:cubicBezTo>
                  <a:lnTo>
                    <a:pt x="5981700" y="4713478"/>
                  </a:lnTo>
                  <a:cubicBezTo>
                    <a:pt x="5981700" y="4807839"/>
                    <a:pt x="5905119" y="4884420"/>
                    <a:pt x="5810758" y="4884420"/>
                  </a:cubicBezTo>
                  <a:lnTo>
                    <a:pt x="170942" y="4884420"/>
                  </a:lnTo>
                  <a:cubicBezTo>
                    <a:pt x="76581" y="4884420"/>
                    <a:pt x="0" y="4807839"/>
                    <a:pt x="0" y="4713478"/>
                  </a:cubicBezTo>
                  <a:close/>
                </a:path>
              </a:pathLst>
            </a:custGeom>
            <a:solidFill>
              <a:srgbClr val="FFFFFF"/>
            </a:solidFill>
            <a:ln w="28575" cap="sq">
              <a:solidFill>
                <a:srgbClr val="353334"/>
              </a:solidFill>
              <a:prstDash val="solid"/>
              <a:miter/>
            </a:ln>
          </p:spPr>
        </p:sp>
      </p:grpSp>
      <p:grpSp>
        <p:nvGrpSpPr>
          <p:cNvPr id="59" name="Group 59"/>
          <p:cNvGrpSpPr/>
          <p:nvPr/>
        </p:nvGrpSpPr>
        <p:grpSpPr>
          <a:xfrm>
            <a:off x="7765542" y="5968746"/>
            <a:ext cx="2423160" cy="406908"/>
            <a:chOff x="0" y="0"/>
            <a:chExt cx="3230880" cy="542544"/>
          </a:xfrm>
        </p:grpSpPr>
        <p:sp>
          <p:nvSpPr>
            <p:cNvPr id="60" name="Freeform 60"/>
            <p:cNvSpPr/>
            <p:nvPr/>
          </p:nvSpPr>
          <p:spPr>
            <a:xfrm>
              <a:off x="0" y="0"/>
              <a:ext cx="3230880" cy="542544"/>
            </a:xfrm>
            <a:custGeom>
              <a:avLst/>
              <a:gdLst/>
              <a:ahLst/>
              <a:cxnLst/>
              <a:rect l="l" t="t" r="r" b="b"/>
              <a:pathLst>
                <a:path w="3230880" h="542544">
                  <a:moveTo>
                    <a:pt x="0" y="271272"/>
                  </a:moveTo>
                  <a:cubicBezTo>
                    <a:pt x="0" y="121412"/>
                    <a:pt x="121412" y="0"/>
                    <a:pt x="271272" y="0"/>
                  </a:cubicBezTo>
                  <a:lnTo>
                    <a:pt x="2959608" y="0"/>
                  </a:lnTo>
                  <a:cubicBezTo>
                    <a:pt x="3109468" y="0"/>
                    <a:pt x="3230880" y="121412"/>
                    <a:pt x="3230880" y="271272"/>
                  </a:cubicBezTo>
                  <a:cubicBezTo>
                    <a:pt x="3230880" y="421132"/>
                    <a:pt x="3109468" y="542544"/>
                    <a:pt x="2959608" y="542544"/>
                  </a:cubicBezTo>
                  <a:lnTo>
                    <a:pt x="271272" y="542544"/>
                  </a:lnTo>
                  <a:cubicBezTo>
                    <a:pt x="121412" y="542544"/>
                    <a:pt x="0" y="421132"/>
                    <a:pt x="0" y="271272"/>
                  </a:cubicBezTo>
                  <a:close/>
                </a:path>
              </a:pathLst>
            </a:custGeom>
            <a:solidFill>
              <a:srgbClr val="FFB903"/>
            </a:solidFill>
            <a:ln w="22860" cap="sq">
              <a:solidFill>
                <a:srgbClr val="353334"/>
              </a:solidFill>
              <a:prstDash val="solid"/>
              <a:miter/>
            </a:ln>
          </p:spPr>
        </p:sp>
        <p:sp>
          <p:nvSpPr>
            <p:cNvPr id="61" name="TextBox 61"/>
            <p:cNvSpPr txBox="1"/>
            <p:nvPr/>
          </p:nvSpPr>
          <p:spPr>
            <a:xfrm>
              <a:off x="0" y="-19050"/>
              <a:ext cx="3230880" cy="561594"/>
            </a:xfrm>
            <a:prstGeom prst="rect">
              <a:avLst/>
            </a:prstGeom>
          </p:spPr>
          <p:txBody>
            <a:bodyPr lIns="50800" tIns="50800" rIns="50800" bIns="50800" rtlCol="0" anchor="ctr"/>
            <a:lstStyle/>
            <a:p>
              <a:pPr algn="ctr">
                <a:lnSpc>
                  <a:spcPts val="1530"/>
                </a:lnSpc>
              </a:pPr>
              <a:r>
                <a:rPr lang="en-US" sz="1275" b="1">
                  <a:solidFill>
                    <a:srgbClr val="353334"/>
                  </a:solidFill>
                  <a:latin typeface="Arimo Bold"/>
                  <a:ea typeface="Arimo Bold"/>
                  <a:cs typeface="Arimo Bold"/>
                  <a:sym typeface="Arimo Bold"/>
                </a:rPr>
                <a:t>IMPACT 02</a:t>
              </a:r>
            </a:p>
          </p:txBody>
        </p:sp>
      </p:grpSp>
      <p:sp>
        <p:nvSpPr>
          <p:cNvPr id="62" name="TextBox 62"/>
          <p:cNvSpPr txBox="1"/>
          <p:nvPr/>
        </p:nvSpPr>
        <p:spPr>
          <a:xfrm>
            <a:off x="7662672" y="6722745"/>
            <a:ext cx="3726180" cy="2428875"/>
          </a:xfrm>
          <a:prstGeom prst="rect">
            <a:avLst/>
          </a:prstGeom>
        </p:spPr>
        <p:txBody>
          <a:bodyPr lIns="0" tIns="0" rIns="0" bIns="0" rtlCol="0" anchor="t">
            <a:spAutoFit/>
          </a:bodyPr>
          <a:lstStyle/>
          <a:p>
            <a:pPr algn="l">
              <a:lnSpc>
                <a:spcPts val="2219"/>
              </a:lnSpc>
            </a:pPr>
            <a:r>
              <a:rPr lang="en-US" sz="1849" b="1">
                <a:solidFill>
                  <a:srgbClr val="353334"/>
                </a:solidFill>
                <a:latin typeface="Arimo Bold"/>
                <a:ea typeface="Arimo Bold"/>
                <a:cs typeface="Arimo Bold"/>
                <a:sym typeface="Arimo Bold"/>
              </a:rPr>
              <a:t>WHO ELSE BENEFITS</a:t>
            </a:r>
          </a:p>
          <a:p>
            <a:pPr algn="l">
              <a:lnSpc>
                <a:spcPts val="2219"/>
              </a:lnSpc>
            </a:pPr>
            <a:endParaRPr lang="en-US" sz="1849" b="1">
              <a:solidFill>
                <a:srgbClr val="353334"/>
              </a:solidFill>
              <a:latin typeface="Arimo Bold"/>
              <a:ea typeface="Arimo Bold"/>
              <a:cs typeface="Arimo Bold"/>
              <a:sym typeface="Arimo Bold"/>
            </a:endParaRPr>
          </a:p>
          <a:p>
            <a:pPr algn="l">
              <a:lnSpc>
                <a:spcPts val="1949"/>
              </a:lnSpc>
            </a:pPr>
            <a:r>
              <a:rPr lang="en-US" sz="1624">
                <a:solidFill>
                  <a:srgbClr val="3C3C41"/>
                </a:solidFill>
                <a:latin typeface="Arimo"/>
                <a:ea typeface="Arimo"/>
                <a:cs typeface="Arimo"/>
                <a:sym typeface="Arimo"/>
              </a:rPr>
              <a:t>Beyond the End User</a:t>
            </a:r>
          </a:p>
          <a:p>
            <a:pPr algn="l">
              <a:lnSpc>
                <a:spcPts val="1949"/>
              </a:lnSpc>
            </a:pPr>
            <a:r>
              <a:rPr lang="en-US" sz="1624">
                <a:solidFill>
                  <a:srgbClr val="3C3C41"/>
                </a:solidFill>
                <a:latin typeface="Arimo"/>
                <a:ea typeface="Arimo"/>
                <a:cs typeface="Arimo"/>
                <a:sym typeface="Arimo"/>
              </a:rPr>
              <a:t>Primary beneficiaries include:</a:t>
            </a:r>
          </a:p>
          <a:p>
            <a:pPr algn="l">
              <a:lnSpc>
                <a:spcPts val="1949"/>
              </a:lnSpc>
            </a:pPr>
            <a:r>
              <a:rPr lang="en-US" sz="1624">
                <a:solidFill>
                  <a:srgbClr val="3C3C41"/>
                </a:solidFill>
                <a:latin typeface="Arimo"/>
                <a:ea typeface="Arimo"/>
                <a:cs typeface="Arimo"/>
                <a:sym typeface="Arimo"/>
              </a:rPr>
              <a:t>Finance &amp; Investment Teams</a:t>
            </a:r>
          </a:p>
          <a:p>
            <a:pPr algn="l">
              <a:lnSpc>
                <a:spcPts val="1949"/>
              </a:lnSpc>
            </a:pPr>
            <a:r>
              <a:rPr lang="en-US" sz="1624">
                <a:solidFill>
                  <a:srgbClr val="3C3C41"/>
                </a:solidFill>
                <a:latin typeface="Arimo"/>
                <a:ea typeface="Arimo"/>
                <a:cs typeface="Arimo"/>
                <a:sym typeface="Arimo"/>
              </a:rPr>
              <a:t>Legal &amp; Compliance Teams</a:t>
            </a:r>
          </a:p>
          <a:p>
            <a:pPr algn="l">
              <a:lnSpc>
                <a:spcPts val="1949"/>
              </a:lnSpc>
            </a:pPr>
            <a:r>
              <a:rPr lang="en-US" sz="1624">
                <a:solidFill>
                  <a:srgbClr val="3C3C41"/>
                </a:solidFill>
                <a:latin typeface="Arimo"/>
                <a:ea typeface="Arimo"/>
                <a:cs typeface="Arimo"/>
                <a:sym typeface="Arimo"/>
              </a:rPr>
              <a:t>Data / AI Teams</a:t>
            </a:r>
          </a:p>
          <a:p>
            <a:pPr algn="l">
              <a:lnSpc>
                <a:spcPts val="1949"/>
              </a:lnSpc>
            </a:pPr>
            <a:r>
              <a:rPr lang="en-US" sz="1624">
                <a:solidFill>
                  <a:srgbClr val="3C3C41"/>
                </a:solidFill>
                <a:latin typeface="Arimo"/>
                <a:ea typeface="Arimo"/>
                <a:cs typeface="Arimo"/>
                <a:sym typeface="Arimo"/>
              </a:rPr>
              <a:t>Auditors / Reviewers</a:t>
            </a:r>
          </a:p>
          <a:p>
            <a:pPr algn="l">
              <a:lnSpc>
                <a:spcPts val="1709"/>
              </a:lnSpc>
            </a:pPr>
            <a:endParaRPr lang="en-US" sz="1624">
              <a:solidFill>
                <a:srgbClr val="3C3C41"/>
              </a:solidFill>
              <a:latin typeface="Arimo"/>
              <a:ea typeface="Arimo"/>
              <a:cs typeface="Arimo"/>
              <a:sym typeface="Arimo"/>
            </a:endParaRPr>
          </a:p>
          <a:p>
            <a:pPr algn="l">
              <a:lnSpc>
                <a:spcPts val="1709"/>
              </a:lnSpc>
            </a:pPr>
            <a:endParaRPr lang="en-US" sz="1624">
              <a:solidFill>
                <a:srgbClr val="3C3C41"/>
              </a:solidFill>
              <a:latin typeface="Arimo"/>
              <a:ea typeface="Arimo"/>
              <a:cs typeface="Arimo"/>
              <a:sym typeface="Arimo"/>
            </a:endParaRPr>
          </a:p>
        </p:txBody>
      </p:sp>
      <p:grpSp>
        <p:nvGrpSpPr>
          <p:cNvPr id="63" name="Group 63"/>
          <p:cNvGrpSpPr/>
          <p:nvPr/>
        </p:nvGrpSpPr>
        <p:grpSpPr>
          <a:xfrm>
            <a:off x="12110656" y="6157912"/>
            <a:ext cx="4486275" cy="3663315"/>
            <a:chOff x="0" y="0"/>
            <a:chExt cx="5981700" cy="4884420"/>
          </a:xfrm>
        </p:grpSpPr>
        <p:sp>
          <p:nvSpPr>
            <p:cNvPr id="64" name="Freeform 64"/>
            <p:cNvSpPr/>
            <p:nvPr/>
          </p:nvSpPr>
          <p:spPr>
            <a:xfrm>
              <a:off x="0" y="0"/>
              <a:ext cx="5981700" cy="4884420"/>
            </a:xfrm>
            <a:custGeom>
              <a:avLst/>
              <a:gdLst/>
              <a:ahLst/>
              <a:cxnLst/>
              <a:rect l="l" t="t" r="r" b="b"/>
              <a:pathLst>
                <a:path w="5981700" h="4884420">
                  <a:moveTo>
                    <a:pt x="0" y="170942"/>
                  </a:moveTo>
                  <a:cubicBezTo>
                    <a:pt x="0" y="76581"/>
                    <a:pt x="76581" y="0"/>
                    <a:pt x="170942" y="0"/>
                  </a:cubicBezTo>
                  <a:lnTo>
                    <a:pt x="5810758" y="0"/>
                  </a:lnTo>
                  <a:cubicBezTo>
                    <a:pt x="5905119" y="0"/>
                    <a:pt x="5981700" y="76581"/>
                    <a:pt x="5981700" y="170942"/>
                  </a:cubicBezTo>
                  <a:lnTo>
                    <a:pt x="5981700" y="4713478"/>
                  </a:lnTo>
                  <a:cubicBezTo>
                    <a:pt x="5981700" y="4807839"/>
                    <a:pt x="5905119" y="4884420"/>
                    <a:pt x="5810758" y="4884420"/>
                  </a:cubicBezTo>
                  <a:lnTo>
                    <a:pt x="170942" y="4884420"/>
                  </a:lnTo>
                  <a:cubicBezTo>
                    <a:pt x="76581" y="4884420"/>
                    <a:pt x="0" y="4807839"/>
                    <a:pt x="0" y="4713478"/>
                  </a:cubicBezTo>
                  <a:close/>
                </a:path>
              </a:pathLst>
            </a:custGeom>
            <a:solidFill>
              <a:srgbClr val="FFFFFF"/>
            </a:solidFill>
            <a:ln w="28575" cap="sq">
              <a:solidFill>
                <a:srgbClr val="353334"/>
              </a:solidFill>
              <a:prstDash val="solid"/>
              <a:miter/>
            </a:ln>
          </p:spPr>
        </p:sp>
      </p:grpSp>
      <p:grpSp>
        <p:nvGrpSpPr>
          <p:cNvPr id="65" name="Group 65"/>
          <p:cNvGrpSpPr/>
          <p:nvPr/>
        </p:nvGrpSpPr>
        <p:grpSpPr>
          <a:xfrm>
            <a:off x="12593574" y="5968746"/>
            <a:ext cx="2423160" cy="406908"/>
            <a:chOff x="0" y="0"/>
            <a:chExt cx="3230880" cy="542544"/>
          </a:xfrm>
        </p:grpSpPr>
        <p:sp>
          <p:nvSpPr>
            <p:cNvPr id="66" name="Freeform 66"/>
            <p:cNvSpPr/>
            <p:nvPr/>
          </p:nvSpPr>
          <p:spPr>
            <a:xfrm>
              <a:off x="0" y="0"/>
              <a:ext cx="3230880" cy="542544"/>
            </a:xfrm>
            <a:custGeom>
              <a:avLst/>
              <a:gdLst/>
              <a:ahLst/>
              <a:cxnLst/>
              <a:rect l="l" t="t" r="r" b="b"/>
              <a:pathLst>
                <a:path w="3230880" h="542544">
                  <a:moveTo>
                    <a:pt x="0" y="271272"/>
                  </a:moveTo>
                  <a:cubicBezTo>
                    <a:pt x="0" y="121412"/>
                    <a:pt x="121412" y="0"/>
                    <a:pt x="271272" y="0"/>
                  </a:cubicBezTo>
                  <a:lnTo>
                    <a:pt x="2959608" y="0"/>
                  </a:lnTo>
                  <a:cubicBezTo>
                    <a:pt x="3109468" y="0"/>
                    <a:pt x="3230880" y="121412"/>
                    <a:pt x="3230880" y="271272"/>
                  </a:cubicBezTo>
                  <a:cubicBezTo>
                    <a:pt x="3230880" y="421132"/>
                    <a:pt x="3109468" y="542544"/>
                    <a:pt x="2959608" y="542544"/>
                  </a:cubicBezTo>
                  <a:lnTo>
                    <a:pt x="271272" y="542544"/>
                  </a:lnTo>
                  <a:cubicBezTo>
                    <a:pt x="121412" y="542544"/>
                    <a:pt x="0" y="421132"/>
                    <a:pt x="0" y="271272"/>
                  </a:cubicBezTo>
                  <a:close/>
                </a:path>
              </a:pathLst>
            </a:custGeom>
            <a:solidFill>
              <a:srgbClr val="353334"/>
            </a:solidFill>
            <a:ln w="22860" cap="sq">
              <a:solidFill>
                <a:srgbClr val="353334"/>
              </a:solidFill>
              <a:prstDash val="solid"/>
              <a:miter/>
            </a:ln>
          </p:spPr>
        </p:sp>
        <p:sp>
          <p:nvSpPr>
            <p:cNvPr id="67" name="TextBox 67"/>
            <p:cNvSpPr txBox="1"/>
            <p:nvPr/>
          </p:nvSpPr>
          <p:spPr>
            <a:xfrm>
              <a:off x="0" y="-19050"/>
              <a:ext cx="3230880" cy="561594"/>
            </a:xfrm>
            <a:prstGeom prst="rect">
              <a:avLst/>
            </a:prstGeom>
          </p:spPr>
          <p:txBody>
            <a:bodyPr lIns="50800" tIns="50800" rIns="50800" bIns="50800" rtlCol="0" anchor="ctr"/>
            <a:lstStyle/>
            <a:p>
              <a:pPr algn="ctr">
                <a:lnSpc>
                  <a:spcPts val="1530"/>
                </a:lnSpc>
              </a:pPr>
              <a:r>
                <a:rPr lang="en-US" sz="1275" b="1">
                  <a:solidFill>
                    <a:srgbClr val="FFFFFF"/>
                  </a:solidFill>
                  <a:latin typeface="Arimo Bold"/>
                  <a:ea typeface="Arimo Bold"/>
                  <a:cs typeface="Arimo Bold"/>
                  <a:sym typeface="Arimo Bold"/>
                </a:rPr>
                <a:t>IMPACT 03</a:t>
              </a:r>
            </a:p>
          </p:txBody>
        </p:sp>
      </p:grpSp>
      <p:sp>
        <p:nvSpPr>
          <p:cNvPr id="68" name="TextBox 68"/>
          <p:cNvSpPr txBox="1"/>
          <p:nvPr/>
        </p:nvSpPr>
        <p:spPr>
          <a:xfrm>
            <a:off x="12490704" y="6541770"/>
            <a:ext cx="3726180" cy="2609850"/>
          </a:xfrm>
          <a:prstGeom prst="rect">
            <a:avLst/>
          </a:prstGeom>
        </p:spPr>
        <p:txBody>
          <a:bodyPr lIns="0" tIns="0" rIns="0" bIns="0" rtlCol="0" anchor="t">
            <a:spAutoFit/>
          </a:bodyPr>
          <a:lstStyle/>
          <a:p>
            <a:pPr algn="l">
              <a:lnSpc>
                <a:spcPts val="1980"/>
              </a:lnSpc>
            </a:pPr>
            <a:r>
              <a:rPr lang="en-US" sz="1650" b="1">
                <a:solidFill>
                  <a:srgbClr val="353334"/>
                </a:solidFill>
                <a:latin typeface="Arimo Bold"/>
                <a:ea typeface="Arimo Bold"/>
                <a:cs typeface="Arimo Bold"/>
                <a:sym typeface="Arimo Bold"/>
              </a:rPr>
              <a:t>RISKS / MISUSE</a:t>
            </a:r>
          </a:p>
          <a:p>
            <a:pPr algn="l">
              <a:lnSpc>
                <a:spcPts val="1980"/>
              </a:lnSpc>
            </a:pPr>
            <a:endParaRPr lang="en-US" sz="1650" b="1">
              <a:solidFill>
                <a:srgbClr val="353334"/>
              </a:solidFill>
              <a:latin typeface="Arimo Bold"/>
              <a:ea typeface="Arimo Bold"/>
              <a:cs typeface="Arimo Bold"/>
              <a:sym typeface="Arimo Bold"/>
            </a:endParaRPr>
          </a:p>
          <a:p>
            <a:pPr algn="l">
              <a:lnSpc>
                <a:spcPts val="1709"/>
              </a:lnSpc>
            </a:pPr>
            <a:r>
              <a:rPr lang="en-US" sz="1425">
                <a:solidFill>
                  <a:srgbClr val="3C3C41"/>
                </a:solidFill>
                <a:latin typeface="Arimo"/>
                <a:ea typeface="Arimo"/>
                <a:cs typeface="Arimo"/>
                <a:sym typeface="Arimo"/>
              </a:rPr>
              <a:t>Risk: Incorrect extraction may be trusted as fact.</a:t>
            </a:r>
          </a:p>
          <a:p>
            <a:pPr algn="l">
              <a:lnSpc>
                <a:spcPts val="1709"/>
              </a:lnSpc>
            </a:pPr>
            <a:r>
              <a:rPr lang="en-US" sz="1425">
                <a:solidFill>
                  <a:srgbClr val="3C3C41"/>
                </a:solidFill>
                <a:latin typeface="Arimo"/>
                <a:ea typeface="Arimo"/>
                <a:cs typeface="Arimo"/>
                <a:sym typeface="Arimo"/>
              </a:rPr>
              <a:t>Mitigation:</a:t>
            </a:r>
          </a:p>
          <a:p>
            <a:pPr marL="307658" lvl="1" indent="-153829" algn="l">
              <a:lnSpc>
                <a:spcPts val="1709"/>
              </a:lnSpc>
              <a:buFont typeface="Arial"/>
              <a:buChar char="•"/>
            </a:pPr>
            <a:r>
              <a:rPr lang="en-US" sz="1425">
                <a:solidFill>
                  <a:srgbClr val="3C3C41"/>
                </a:solidFill>
                <a:latin typeface="Arimo"/>
                <a:ea typeface="Arimo"/>
                <a:cs typeface="Arimo"/>
                <a:sym typeface="Arimo"/>
              </a:rPr>
              <a:t>Block-level confidence</a:t>
            </a:r>
          </a:p>
          <a:p>
            <a:pPr marL="307658" lvl="1" indent="-153829" algn="l">
              <a:lnSpc>
                <a:spcPts val="1709"/>
              </a:lnSpc>
              <a:buFont typeface="Arial"/>
              <a:buChar char="•"/>
            </a:pPr>
            <a:r>
              <a:rPr lang="en-US" sz="1425">
                <a:solidFill>
                  <a:srgbClr val="3C3C41"/>
                </a:solidFill>
                <a:latin typeface="Arimo"/>
                <a:ea typeface="Arimo"/>
                <a:cs typeface="Arimo"/>
                <a:sym typeface="Arimo"/>
              </a:rPr>
              <a:t>Page + bounding-box provenance</a:t>
            </a:r>
          </a:p>
          <a:p>
            <a:pPr marL="307658" lvl="1" indent="-153829" algn="l">
              <a:lnSpc>
                <a:spcPts val="1709"/>
              </a:lnSpc>
              <a:buFont typeface="Arial"/>
              <a:buChar char="•"/>
            </a:pPr>
            <a:r>
              <a:rPr lang="en-US" sz="1425">
                <a:solidFill>
                  <a:srgbClr val="3C3C41"/>
                </a:solidFill>
                <a:latin typeface="Arimo"/>
                <a:ea typeface="Arimo"/>
                <a:cs typeface="Arimo"/>
                <a:sym typeface="Arimo"/>
              </a:rPr>
              <a:t>Fail-safe extraction</a:t>
            </a:r>
          </a:p>
          <a:p>
            <a:pPr marL="307658" lvl="1" indent="-153829" algn="l">
              <a:lnSpc>
                <a:spcPts val="1709"/>
              </a:lnSpc>
              <a:buFont typeface="Arial"/>
              <a:buChar char="•"/>
            </a:pPr>
            <a:r>
              <a:rPr lang="en-US" sz="1425">
                <a:solidFill>
                  <a:srgbClr val="3C3C41"/>
                </a:solidFill>
                <a:latin typeface="Arimo"/>
                <a:ea typeface="Arimo"/>
                <a:cs typeface="Arimo"/>
                <a:sym typeface="Arimo"/>
              </a:rPr>
              <a:t>Structured error reporting</a:t>
            </a:r>
          </a:p>
          <a:p>
            <a:pPr marL="307658" lvl="1" indent="-153829" algn="l">
              <a:lnSpc>
                <a:spcPts val="1709"/>
              </a:lnSpc>
              <a:buFont typeface="Arial"/>
              <a:buChar char="•"/>
            </a:pPr>
            <a:r>
              <a:rPr lang="en-US" sz="1425">
                <a:solidFill>
                  <a:srgbClr val="3C3C41"/>
                </a:solidFill>
                <a:latin typeface="Arimo"/>
                <a:ea typeface="Arimo"/>
                <a:cs typeface="Arimo"/>
                <a:sym typeface="Arimo"/>
              </a:rPr>
              <a:t>Human review of low-confidence content</a:t>
            </a:r>
          </a:p>
          <a:p>
            <a:pPr algn="l">
              <a:lnSpc>
                <a:spcPts val="1709"/>
              </a:lnSpc>
            </a:pPr>
            <a:r>
              <a:rPr lang="en-US" sz="1425">
                <a:solidFill>
                  <a:srgbClr val="3C3C41"/>
                </a:solidFill>
                <a:latin typeface="Arimo"/>
                <a:ea typeface="Arimo"/>
                <a:cs typeface="Arimo"/>
                <a:sym typeface="Arimo"/>
              </a:rPr>
              <a:t>When ParseAnything isn't sure, it tells you.</a:t>
            </a:r>
          </a:p>
          <a:p>
            <a:pPr algn="l">
              <a:lnSpc>
                <a:spcPts val="1709"/>
              </a:lnSpc>
            </a:pPr>
            <a:endParaRPr lang="en-US" sz="1425">
              <a:solidFill>
                <a:srgbClr val="3C3C41"/>
              </a:solidFill>
              <a:latin typeface="Arimo"/>
              <a:ea typeface="Arimo"/>
              <a:cs typeface="Arimo"/>
              <a:sym typeface="Arim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7543" cy="10287000"/>
            <a:chOff x="0" y="0"/>
            <a:chExt cx="24383390" cy="13716000"/>
          </a:xfrm>
        </p:grpSpPr>
        <p:sp>
          <p:nvSpPr>
            <p:cNvPr id="3" name="Freeform 3"/>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close/>
                </a:path>
              </a:pathLst>
            </a:custGeom>
            <a:solidFill>
              <a:srgbClr val="FFFFF1"/>
            </a:solidFill>
          </p:spPr>
        </p:sp>
      </p:grpSp>
      <p:grpSp>
        <p:nvGrpSpPr>
          <p:cNvPr id="4" name="Group 4"/>
          <p:cNvGrpSpPr/>
          <p:nvPr/>
        </p:nvGrpSpPr>
        <p:grpSpPr>
          <a:xfrm>
            <a:off x="-274320" y="1577340"/>
            <a:ext cx="1577340" cy="493776"/>
            <a:chOff x="0" y="0"/>
            <a:chExt cx="2103120" cy="658368"/>
          </a:xfrm>
        </p:grpSpPr>
        <p:sp>
          <p:nvSpPr>
            <p:cNvPr id="5" name="Freeform 5"/>
            <p:cNvSpPr/>
            <p:nvPr/>
          </p:nvSpPr>
          <p:spPr>
            <a:xfrm>
              <a:off x="0" y="0"/>
              <a:ext cx="2103120" cy="658368"/>
            </a:xfrm>
            <a:custGeom>
              <a:avLst/>
              <a:gdLst/>
              <a:ahLst/>
              <a:cxnLst/>
              <a:rect l="l" t="t" r="r" b="b"/>
              <a:pathLst>
                <a:path w="2103120" h="658368">
                  <a:moveTo>
                    <a:pt x="0" y="329184"/>
                  </a:moveTo>
                  <a:cubicBezTo>
                    <a:pt x="0" y="147320"/>
                    <a:pt x="147320" y="0"/>
                    <a:pt x="329184" y="0"/>
                  </a:cubicBezTo>
                  <a:lnTo>
                    <a:pt x="1773936" y="0"/>
                  </a:lnTo>
                  <a:cubicBezTo>
                    <a:pt x="1955800" y="0"/>
                    <a:pt x="2103120" y="147320"/>
                    <a:pt x="2103120" y="329184"/>
                  </a:cubicBezTo>
                  <a:cubicBezTo>
                    <a:pt x="2103120" y="511048"/>
                    <a:pt x="1955800" y="658368"/>
                    <a:pt x="1773936" y="658368"/>
                  </a:cubicBezTo>
                  <a:lnTo>
                    <a:pt x="329184" y="658368"/>
                  </a:lnTo>
                  <a:cubicBezTo>
                    <a:pt x="147320" y="658368"/>
                    <a:pt x="0" y="511048"/>
                    <a:pt x="0" y="329184"/>
                  </a:cubicBezTo>
                  <a:close/>
                </a:path>
              </a:pathLst>
            </a:custGeom>
            <a:solidFill>
              <a:srgbClr val="FFB903"/>
            </a:solidFill>
          </p:spPr>
        </p:sp>
      </p:grpSp>
      <p:grpSp>
        <p:nvGrpSpPr>
          <p:cNvPr id="6" name="Group 6"/>
          <p:cNvGrpSpPr/>
          <p:nvPr/>
        </p:nvGrpSpPr>
        <p:grpSpPr>
          <a:xfrm>
            <a:off x="-274320" y="2180844"/>
            <a:ext cx="2194560" cy="493776"/>
            <a:chOff x="0" y="0"/>
            <a:chExt cx="2926080" cy="658368"/>
          </a:xfrm>
        </p:grpSpPr>
        <p:sp>
          <p:nvSpPr>
            <p:cNvPr id="7" name="Freeform 7"/>
            <p:cNvSpPr/>
            <p:nvPr/>
          </p:nvSpPr>
          <p:spPr>
            <a:xfrm>
              <a:off x="0" y="0"/>
              <a:ext cx="2926080" cy="658368"/>
            </a:xfrm>
            <a:custGeom>
              <a:avLst/>
              <a:gdLst/>
              <a:ahLst/>
              <a:cxnLst/>
              <a:rect l="l" t="t" r="r" b="b"/>
              <a:pathLst>
                <a:path w="2926080" h="658368">
                  <a:moveTo>
                    <a:pt x="0" y="329184"/>
                  </a:moveTo>
                  <a:cubicBezTo>
                    <a:pt x="0" y="147320"/>
                    <a:pt x="147320" y="0"/>
                    <a:pt x="329184" y="0"/>
                  </a:cubicBezTo>
                  <a:lnTo>
                    <a:pt x="2596896" y="0"/>
                  </a:lnTo>
                  <a:cubicBezTo>
                    <a:pt x="2778760" y="0"/>
                    <a:pt x="2926080" y="147320"/>
                    <a:pt x="2926080" y="329184"/>
                  </a:cubicBezTo>
                  <a:cubicBezTo>
                    <a:pt x="2926080" y="511048"/>
                    <a:pt x="2778760" y="658368"/>
                    <a:pt x="2596896" y="658368"/>
                  </a:cubicBezTo>
                  <a:lnTo>
                    <a:pt x="329184" y="658368"/>
                  </a:lnTo>
                  <a:cubicBezTo>
                    <a:pt x="147320" y="658368"/>
                    <a:pt x="0" y="511048"/>
                    <a:pt x="0" y="329184"/>
                  </a:cubicBezTo>
                  <a:close/>
                </a:path>
              </a:pathLst>
            </a:custGeom>
            <a:solidFill>
              <a:srgbClr val="079ED2"/>
            </a:solidFill>
          </p:spPr>
        </p:sp>
      </p:grpSp>
      <p:grpSp>
        <p:nvGrpSpPr>
          <p:cNvPr id="8" name="Group 8"/>
          <p:cNvGrpSpPr/>
          <p:nvPr/>
        </p:nvGrpSpPr>
        <p:grpSpPr>
          <a:xfrm>
            <a:off x="-274320" y="2784348"/>
            <a:ext cx="1577340" cy="493776"/>
            <a:chOff x="0" y="0"/>
            <a:chExt cx="2103120" cy="658368"/>
          </a:xfrm>
        </p:grpSpPr>
        <p:sp>
          <p:nvSpPr>
            <p:cNvPr id="9" name="Freeform 9"/>
            <p:cNvSpPr/>
            <p:nvPr/>
          </p:nvSpPr>
          <p:spPr>
            <a:xfrm>
              <a:off x="0" y="0"/>
              <a:ext cx="2103120" cy="658368"/>
            </a:xfrm>
            <a:custGeom>
              <a:avLst/>
              <a:gdLst/>
              <a:ahLst/>
              <a:cxnLst/>
              <a:rect l="l" t="t" r="r" b="b"/>
              <a:pathLst>
                <a:path w="2103120" h="658368">
                  <a:moveTo>
                    <a:pt x="0" y="329184"/>
                  </a:moveTo>
                  <a:cubicBezTo>
                    <a:pt x="0" y="147320"/>
                    <a:pt x="147320" y="0"/>
                    <a:pt x="329184" y="0"/>
                  </a:cubicBezTo>
                  <a:lnTo>
                    <a:pt x="1773936" y="0"/>
                  </a:lnTo>
                  <a:cubicBezTo>
                    <a:pt x="1955800" y="0"/>
                    <a:pt x="2103120" y="147320"/>
                    <a:pt x="2103120" y="329184"/>
                  </a:cubicBezTo>
                  <a:cubicBezTo>
                    <a:pt x="2103120" y="511048"/>
                    <a:pt x="1955800" y="658368"/>
                    <a:pt x="1773936" y="658368"/>
                  </a:cubicBezTo>
                  <a:lnTo>
                    <a:pt x="329184" y="658368"/>
                  </a:lnTo>
                  <a:cubicBezTo>
                    <a:pt x="147320" y="658368"/>
                    <a:pt x="0" y="511048"/>
                    <a:pt x="0" y="329184"/>
                  </a:cubicBezTo>
                  <a:close/>
                </a:path>
              </a:pathLst>
            </a:custGeom>
            <a:solidFill>
              <a:srgbClr val="FD1485"/>
            </a:solidFill>
          </p:spPr>
        </p:sp>
      </p:grpSp>
      <p:grpSp>
        <p:nvGrpSpPr>
          <p:cNvPr id="10" name="Group 10"/>
          <p:cNvGrpSpPr/>
          <p:nvPr/>
        </p:nvGrpSpPr>
        <p:grpSpPr>
          <a:xfrm>
            <a:off x="17282160" y="822960"/>
            <a:ext cx="329184" cy="246888"/>
            <a:chOff x="0" y="0"/>
            <a:chExt cx="438912" cy="329184"/>
          </a:xfrm>
        </p:grpSpPr>
        <p:sp>
          <p:nvSpPr>
            <p:cNvPr id="11" name="Freeform 11"/>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353334"/>
            </a:solidFill>
          </p:spPr>
        </p:sp>
      </p:grpSp>
      <p:grpSp>
        <p:nvGrpSpPr>
          <p:cNvPr id="12" name="Group 12"/>
          <p:cNvGrpSpPr/>
          <p:nvPr/>
        </p:nvGrpSpPr>
        <p:grpSpPr>
          <a:xfrm>
            <a:off x="17282160" y="1069848"/>
            <a:ext cx="329184" cy="246888"/>
            <a:chOff x="0" y="0"/>
            <a:chExt cx="438912" cy="329184"/>
          </a:xfrm>
        </p:grpSpPr>
        <p:sp>
          <p:nvSpPr>
            <p:cNvPr id="13" name="Freeform 13"/>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FFB903"/>
            </a:solidFill>
          </p:spPr>
        </p:sp>
      </p:grpSp>
      <p:grpSp>
        <p:nvGrpSpPr>
          <p:cNvPr id="14" name="Group 14"/>
          <p:cNvGrpSpPr/>
          <p:nvPr/>
        </p:nvGrpSpPr>
        <p:grpSpPr>
          <a:xfrm>
            <a:off x="17282160" y="1316736"/>
            <a:ext cx="329184" cy="246888"/>
            <a:chOff x="0" y="0"/>
            <a:chExt cx="438912" cy="329184"/>
          </a:xfrm>
        </p:grpSpPr>
        <p:sp>
          <p:nvSpPr>
            <p:cNvPr id="15" name="Freeform 15"/>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FD1485"/>
            </a:solidFill>
          </p:spPr>
        </p:sp>
      </p:grpSp>
      <p:grpSp>
        <p:nvGrpSpPr>
          <p:cNvPr id="16" name="Group 16"/>
          <p:cNvGrpSpPr/>
          <p:nvPr/>
        </p:nvGrpSpPr>
        <p:grpSpPr>
          <a:xfrm>
            <a:off x="17282160" y="1563624"/>
            <a:ext cx="329184" cy="246888"/>
            <a:chOff x="0" y="0"/>
            <a:chExt cx="438912" cy="329184"/>
          </a:xfrm>
        </p:grpSpPr>
        <p:sp>
          <p:nvSpPr>
            <p:cNvPr id="17" name="Freeform 17"/>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079ED2"/>
            </a:solidFill>
          </p:spPr>
        </p:sp>
      </p:grpSp>
      <p:grpSp>
        <p:nvGrpSpPr>
          <p:cNvPr id="18" name="Group 18"/>
          <p:cNvGrpSpPr/>
          <p:nvPr/>
        </p:nvGrpSpPr>
        <p:grpSpPr>
          <a:xfrm>
            <a:off x="822960" y="8366760"/>
            <a:ext cx="329184" cy="246888"/>
            <a:chOff x="0" y="0"/>
            <a:chExt cx="438912" cy="329184"/>
          </a:xfrm>
        </p:grpSpPr>
        <p:sp>
          <p:nvSpPr>
            <p:cNvPr id="19" name="Freeform 19"/>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353334"/>
            </a:solidFill>
          </p:spPr>
        </p:sp>
      </p:grpSp>
      <p:grpSp>
        <p:nvGrpSpPr>
          <p:cNvPr id="20" name="Group 20"/>
          <p:cNvGrpSpPr/>
          <p:nvPr/>
        </p:nvGrpSpPr>
        <p:grpSpPr>
          <a:xfrm>
            <a:off x="822960" y="8613648"/>
            <a:ext cx="329184" cy="246888"/>
            <a:chOff x="0" y="0"/>
            <a:chExt cx="438912" cy="329184"/>
          </a:xfrm>
        </p:grpSpPr>
        <p:sp>
          <p:nvSpPr>
            <p:cNvPr id="21" name="Freeform 21"/>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FFB903"/>
            </a:solidFill>
          </p:spPr>
        </p:sp>
      </p:grpSp>
      <p:grpSp>
        <p:nvGrpSpPr>
          <p:cNvPr id="22" name="Group 22"/>
          <p:cNvGrpSpPr/>
          <p:nvPr/>
        </p:nvGrpSpPr>
        <p:grpSpPr>
          <a:xfrm>
            <a:off x="822960" y="8860536"/>
            <a:ext cx="329184" cy="246888"/>
            <a:chOff x="0" y="0"/>
            <a:chExt cx="438912" cy="329184"/>
          </a:xfrm>
        </p:grpSpPr>
        <p:sp>
          <p:nvSpPr>
            <p:cNvPr id="23" name="Freeform 23"/>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FD1485"/>
            </a:solidFill>
          </p:spPr>
        </p:sp>
      </p:grpSp>
      <p:grpSp>
        <p:nvGrpSpPr>
          <p:cNvPr id="24" name="Group 24"/>
          <p:cNvGrpSpPr/>
          <p:nvPr/>
        </p:nvGrpSpPr>
        <p:grpSpPr>
          <a:xfrm>
            <a:off x="822960" y="9107424"/>
            <a:ext cx="329184" cy="246888"/>
            <a:chOff x="0" y="0"/>
            <a:chExt cx="438912" cy="329184"/>
          </a:xfrm>
        </p:grpSpPr>
        <p:sp>
          <p:nvSpPr>
            <p:cNvPr id="25" name="Freeform 25"/>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079ED2"/>
            </a:solidFill>
          </p:spPr>
        </p:sp>
      </p:grpSp>
      <p:grpSp>
        <p:nvGrpSpPr>
          <p:cNvPr id="26" name="Group 26"/>
          <p:cNvGrpSpPr/>
          <p:nvPr/>
        </p:nvGrpSpPr>
        <p:grpSpPr>
          <a:xfrm>
            <a:off x="16630650" y="8901112"/>
            <a:ext cx="480060" cy="28575"/>
            <a:chOff x="0" y="0"/>
            <a:chExt cx="640080" cy="38100"/>
          </a:xfrm>
        </p:grpSpPr>
        <p:sp>
          <p:nvSpPr>
            <p:cNvPr id="27" name="Freeform 27"/>
            <p:cNvSpPr/>
            <p:nvPr/>
          </p:nvSpPr>
          <p:spPr>
            <a:xfrm>
              <a:off x="0" y="0"/>
              <a:ext cx="640080" cy="38100"/>
            </a:xfrm>
            <a:custGeom>
              <a:avLst/>
              <a:gdLst/>
              <a:ahLst/>
              <a:cxnLst/>
              <a:rect l="l" t="t" r="r" b="b"/>
              <a:pathLst>
                <a:path w="640080" h="38100">
                  <a:moveTo>
                    <a:pt x="0" y="0"/>
                  </a:moveTo>
                  <a:lnTo>
                    <a:pt x="640080" y="0"/>
                  </a:lnTo>
                  <a:lnTo>
                    <a:pt x="640080" y="38100"/>
                  </a:lnTo>
                  <a:lnTo>
                    <a:pt x="0" y="38100"/>
                  </a:lnTo>
                  <a:close/>
                </a:path>
              </a:pathLst>
            </a:custGeom>
            <a:solidFill>
              <a:srgbClr val="353334"/>
            </a:solidFill>
          </p:spPr>
        </p:sp>
      </p:grpSp>
      <p:grpSp>
        <p:nvGrpSpPr>
          <p:cNvPr id="28" name="Group 28"/>
          <p:cNvGrpSpPr/>
          <p:nvPr/>
        </p:nvGrpSpPr>
        <p:grpSpPr>
          <a:xfrm>
            <a:off x="16856392" y="8675370"/>
            <a:ext cx="28575" cy="480060"/>
            <a:chOff x="0" y="0"/>
            <a:chExt cx="38100" cy="640080"/>
          </a:xfrm>
        </p:grpSpPr>
        <p:sp>
          <p:nvSpPr>
            <p:cNvPr id="29" name="Freeform 29"/>
            <p:cNvSpPr/>
            <p:nvPr/>
          </p:nvSpPr>
          <p:spPr>
            <a:xfrm>
              <a:off x="0" y="0"/>
              <a:ext cx="38100" cy="640080"/>
            </a:xfrm>
            <a:custGeom>
              <a:avLst/>
              <a:gdLst/>
              <a:ahLst/>
              <a:cxnLst/>
              <a:rect l="l" t="t" r="r" b="b"/>
              <a:pathLst>
                <a:path w="38100" h="640080">
                  <a:moveTo>
                    <a:pt x="0" y="0"/>
                  </a:moveTo>
                  <a:lnTo>
                    <a:pt x="38100" y="0"/>
                  </a:lnTo>
                  <a:lnTo>
                    <a:pt x="38100" y="640080"/>
                  </a:lnTo>
                  <a:lnTo>
                    <a:pt x="0" y="640080"/>
                  </a:lnTo>
                  <a:close/>
                </a:path>
              </a:pathLst>
            </a:custGeom>
            <a:solidFill>
              <a:srgbClr val="353334"/>
            </a:solidFill>
          </p:spPr>
        </p:sp>
      </p:grpSp>
      <p:grpSp>
        <p:nvGrpSpPr>
          <p:cNvPr id="30" name="Group 30"/>
          <p:cNvGrpSpPr/>
          <p:nvPr/>
        </p:nvGrpSpPr>
        <p:grpSpPr>
          <a:xfrm>
            <a:off x="16788384" y="8833104"/>
            <a:ext cx="164592" cy="164592"/>
            <a:chOff x="0" y="0"/>
            <a:chExt cx="219456" cy="219456"/>
          </a:xfrm>
        </p:grpSpPr>
        <p:sp>
          <p:nvSpPr>
            <p:cNvPr id="31" name="Freeform 31"/>
            <p:cNvSpPr/>
            <p:nvPr/>
          </p:nvSpPr>
          <p:spPr>
            <a:xfrm>
              <a:off x="0" y="0"/>
              <a:ext cx="219456" cy="219456"/>
            </a:xfrm>
            <a:custGeom>
              <a:avLst/>
              <a:gdLst/>
              <a:ahLst/>
              <a:cxnLst/>
              <a:rect l="l" t="t" r="r" b="b"/>
              <a:pathLst>
                <a:path w="219456" h="219456">
                  <a:moveTo>
                    <a:pt x="0" y="0"/>
                  </a:moveTo>
                  <a:lnTo>
                    <a:pt x="219456" y="0"/>
                  </a:lnTo>
                  <a:lnTo>
                    <a:pt x="219456" y="219456"/>
                  </a:lnTo>
                  <a:lnTo>
                    <a:pt x="0" y="219456"/>
                  </a:lnTo>
                  <a:close/>
                </a:path>
              </a:pathLst>
            </a:custGeom>
            <a:solidFill>
              <a:srgbClr val="FFB903"/>
            </a:solidFill>
          </p:spPr>
        </p:sp>
      </p:grpSp>
      <p:grpSp>
        <p:nvGrpSpPr>
          <p:cNvPr id="32" name="Group 32"/>
          <p:cNvGrpSpPr/>
          <p:nvPr/>
        </p:nvGrpSpPr>
        <p:grpSpPr>
          <a:xfrm>
            <a:off x="12604432" y="945832"/>
            <a:ext cx="1537335" cy="1263015"/>
            <a:chOff x="0" y="0"/>
            <a:chExt cx="2049780" cy="1684020"/>
          </a:xfrm>
        </p:grpSpPr>
        <p:sp>
          <p:nvSpPr>
            <p:cNvPr id="33" name="Freeform 33"/>
            <p:cNvSpPr/>
            <p:nvPr/>
          </p:nvSpPr>
          <p:spPr>
            <a:xfrm>
              <a:off x="1024890" y="0"/>
              <a:ext cx="1024890" cy="842010"/>
            </a:xfrm>
            <a:custGeom>
              <a:avLst/>
              <a:gdLst/>
              <a:ahLst/>
              <a:cxnLst/>
              <a:rect l="l" t="t" r="r" b="b"/>
              <a:pathLst>
                <a:path w="1024890" h="842010">
                  <a:moveTo>
                    <a:pt x="0" y="0"/>
                  </a:moveTo>
                  <a:cubicBezTo>
                    <a:pt x="566039" y="0"/>
                    <a:pt x="1024890" y="376936"/>
                    <a:pt x="1024890" y="842010"/>
                  </a:cubicBezTo>
                  <a:lnTo>
                    <a:pt x="0" y="842010"/>
                  </a:lnTo>
                  <a:close/>
                </a:path>
              </a:pathLst>
            </a:custGeom>
            <a:blipFill>
              <a:blip r:embed="rId2">
                <a:alphaModFix amt="0"/>
              </a:blip>
              <a:stretch>
                <a:fillRect l="-210818" r="-110818" b="-99999"/>
              </a:stretch>
            </a:blipFill>
            <a:ln w="28575" cap="sq">
              <a:solidFill>
                <a:srgbClr val="079ED2"/>
              </a:solidFill>
              <a:prstDash val="solid"/>
              <a:miter/>
            </a:ln>
          </p:spPr>
        </p:sp>
        <p:sp>
          <p:nvSpPr>
            <p:cNvPr id="34" name="Freeform 34"/>
            <p:cNvSpPr/>
            <p:nvPr/>
          </p:nvSpPr>
          <p:spPr>
            <a:xfrm>
              <a:off x="1024890" y="0"/>
              <a:ext cx="1024890" cy="842010"/>
            </a:xfrm>
            <a:custGeom>
              <a:avLst/>
              <a:gdLst/>
              <a:ahLst/>
              <a:cxnLst/>
              <a:rect l="l" t="t" r="r" b="b"/>
              <a:pathLst>
                <a:path w="1024890" h="842010">
                  <a:moveTo>
                    <a:pt x="0" y="0"/>
                  </a:moveTo>
                  <a:cubicBezTo>
                    <a:pt x="566039" y="0"/>
                    <a:pt x="1024890" y="376936"/>
                    <a:pt x="1024890" y="842010"/>
                  </a:cubicBezTo>
                </a:path>
              </a:pathLst>
            </a:custGeom>
            <a:blipFill>
              <a:blip r:embed="rId2">
                <a:alphaModFix amt="0"/>
              </a:blip>
              <a:stretch>
                <a:fillRect l="-210818" r="-110818" b="-99999"/>
              </a:stretch>
            </a:blipFill>
            <a:ln w="28575" cap="sq">
              <a:solidFill>
                <a:srgbClr val="079ED2"/>
              </a:solidFill>
              <a:prstDash val="solid"/>
              <a:miter/>
            </a:ln>
          </p:spPr>
        </p:sp>
      </p:grpSp>
      <p:grpSp>
        <p:nvGrpSpPr>
          <p:cNvPr id="35" name="Group 35"/>
          <p:cNvGrpSpPr/>
          <p:nvPr/>
        </p:nvGrpSpPr>
        <p:grpSpPr>
          <a:xfrm>
            <a:off x="12543663" y="1502283"/>
            <a:ext cx="150114" cy="150114"/>
            <a:chOff x="0" y="0"/>
            <a:chExt cx="200152" cy="200152"/>
          </a:xfrm>
        </p:grpSpPr>
        <p:sp>
          <p:nvSpPr>
            <p:cNvPr id="36" name="Freeform 36"/>
            <p:cNvSpPr/>
            <p:nvPr/>
          </p:nvSpPr>
          <p:spPr>
            <a:xfrm>
              <a:off x="0" y="0"/>
              <a:ext cx="200152" cy="200152"/>
            </a:xfrm>
            <a:custGeom>
              <a:avLst/>
              <a:gdLst/>
              <a:ahLst/>
              <a:cxnLst/>
              <a:rect l="l" t="t" r="r" b="b"/>
              <a:pathLst>
                <a:path w="200152" h="200152">
                  <a:moveTo>
                    <a:pt x="0" y="0"/>
                  </a:moveTo>
                  <a:lnTo>
                    <a:pt x="200152" y="0"/>
                  </a:lnTo>
                  <a:lnTo>
                    <a:pt x="200152" y="200152"/>
                  </a:lnTo>
                  <a:lnTo>
                    <a:pt x="0" y="200152"/>
                  </a:lnTo>
                  <a:close/>
                </a:path>
              </a:pathLst>
            </a:custGeom>
            <a:solidFill>
              <a:srgbClr val="FFFFFF"/>
            </a:solidFill>
            <a:ln w="26670" cap="sq">
              <a:solidFill>
                <a:srgbClr val="FD1485"/>
              </a:solidFill>
              <a:prstDash val="solid"/>
              <a:miter/>
            </a:ln>
          </p:spPr>
        </p:sp>
      </p:grpSp>
      <p:grpSp>
        <p:nvGrpSpPr>
          <p:cNvPr id="37" name="Group 37"/>
          <p:cNvGrpSpPr/>
          <p:nvPr/>
        </p:nvGrpSpPr>
        <p:grpSpPr>
          <a:xfrm>
            <a:off x="14052423" y="885063"/>
            <a:ext cx="150114" cy="150114"/>
            <a:chOff x="0" y="0"/>
            <a:chExt cx="200152" cy="200152"/>
          </a:xfrm>
        </p:grpSpPr>
        <p:sp>
          <p:nvSpPr>
            <p:cNvPr id="38" name="Freeform 38"/>
            <p:cNvSpPr/>
            <p:nvPr/>
          </p:nvSpPr>
          <p:spPr>
            <a:xfrm>
              <a:off x="0" y="0"/>
              <a:ext cx="200152" cy="200152"/>
            </a:xfrm>
            <a:custGeom>
              <a:avLst/>
              <a:gdLst/>
              <a:ahLst/>
              <a:cxnLst/>
              <a:rect l="l" t="t" r="r" b="b"/>
              <a:pathLst>
                <a:path w="200152" h="200152">
                  <a:moveTo>
                    <a:pt x="0" y="0"/>
                  </a:moveTo>
                  <a:lnTo>
                    <a:pt x="200152" y="0"/>
                  </a:lnTo>
                  <a:lnTo>
                    <a:pt x="200152" y="200152"/>
                  </a:lnTo>
                  <a:lnTo>
                    <a:pt x="0" y="200152"/>
                  </a:lnTo>
                  <a:close/>
                </a:path>
              </a:pathLst>
            </a:custGeom>
            <a:solidFill>
              <a:srgbClr val="FFFFFF"/>
            </a:solidFill>
            <a:ln w="26670" cap="sq">
              <a:solidFill>
                <a:srgbClr val="FD1485"/>
              </a:solidFill>
              <a:prstDash val="solid"/>
              <a:miter/>
            </a:ln>
          </p:spPr>
        </p:sp>
      </p:grpSp>
      <p:sp>
        <p:nvSpPr>
          <p:cNvPr id="39" name="TextBox 39"/>
          <p:cNvSpPr txBox="1"/>
          <p:nvPr/>
        </p:nvSpPr>
        <p:spPr>
          <a:xfrm>
            <a:off x="2468880" y="566547"/>
            <a:ext cx="12344400" cy="421005"/>
          </a:xfrm>
          <a:prstGeom prst="rect">
            <a:avLst/>
          </a:prstGeom>
        </p:spPr>
        <p:txBody>
          <a:bodyPr lIns="0" tIns="0" rIns="0" bIns="0" rtlCol="0" anchor="t">
            <a:spAutoFit/>
          </a:bodyPr>
          <a:lstStyle/>
          <a:p>
            <a:pPr algn="l">
              <a:lnSpc>
                <a:spcPts val="1889"/>
              </a:lnSpc>
            </a:pPr>
            <a:r>
              <a:rPr lang="en-US" sz="1575" b="1">
                <a:solidFill>
                  <a:srgbClr val="353334"/>
                </a:solidFill>
                <a:latin typeface="Arimo Bold"/>
                <a:ea typeface="Arimo Bold"/>
                <a:cs typeface="Arimo Bold"/>
                <a:sym typeface="Arimo Bold"/>
              </a:rPr>
              <a:t>DATAQUEST 3.0  ·  ROUND 1</a:t>
            </a:r>
          </a:p>
        </p:txBody>
      </p:sp>
      <p:sp>
        <p:nvSpPr>
          <p:cNvPr id="40" name="TextBox 40"/>
          <p:cNvSpPr txBox="1"/>
          <p:nvPr/>
        </p:nvSpPr>
        <p:spPr>
          <a:xfrm>
            <a:off x="2468880" y="913638"/>
            <a:ext cx="13716000" cy="1184910"/>
          </a:xfrm>
          <a:prstGeom prst="rect">
            <a:avLst/>
          </a:prstGeom>
        </p:spPr>
        <p:txBody>
          <a:bodyPr lIns="0" tIns="0" rIns="0" bIns="0" rtlCol="0" anchor="t">
            <a:spAutoFit/>
          </a:bodyPr>
          <a:lstStyle/>
          <a:p>
            <a:pPr algn="l">
              <a:lnSpc>
                <a:spcPts val="5759"/>
              </a:lnSpc>
            </a:pPr>
            <a:r>
              <a:rPr lang="en-US" sz="4800" b="1">
                <a:solidFill>
                  <a:srgbClr val="FD1485"/>
                </a:solidFill>
                <a:latin typeface="Arimo Bold"/>
                <a:ea typeface="Arimo Bold"/>
                <a:cs typeface="Arimo Bold"/>
                <a:sym typeface="Arimo Bold"/>
              </a:rPr>
              <a:t>07  </a:t>
            </a:r>
            <a:r>
              <a:rPr lang="en-US" sz="4800" b="1">
                <a:solidFill>
                  <a:srgbClr val="353334"/>
                </a:solidFill>
                <a:latin typeface="Arimo Bold"/>
                <a:ea typeface="Arimo Bold"/>
                <a:cs typeface="Arimo Bold"/>
                <a:sym typeface="Arimo Bold"/>
              </a:rPr>
              <a:t>Why This Project?</a:t>
            </a:r>
          </a:p>
        </p:txBody>
      </p:sp>
      <p:grpSp>
        <p:nvGrpSpPr>
          <p:cNvPr id="41" name="Group 41"/>
          <p:cNvGrpSpPr/>
          <p:nvPr/>
        </p:nvGrpSpPr>
        <p:grpSpPr>
          <a:xfrm>
            <a:off x="2468880" y="2167128"/>
            <a:ext cx="14127480" cy="28575"/>
            <a:chOff x="0" y="0"/>
            <a:chExt cx="18836640" cy="38100"/>
          </a:xfrm>
        </p:grpSpPr>
        <p:sp>
          <p:nvSpPr>
            <p:cNvPr id="42" name="Freeform 42"/>
            <p:cNvSpPr/>
            <p:nvPr/>
          </p:nvSpPr>
          <p:spPr>
            <a:xfrm>
              <a:off x="0" y="0"/>
              <a:ext cx="18836639" cy="38100"/>
            </a:xfrm>
            <a:custGeom>
              <a:avLst/>
              <a:gdLst/>
              <a:ahLst/>
              <a:cxnLst/>
              <a:rect l="l" t="t" r="r" b="b"/>
              <a:pathLst>
                <a:path w="18836639" h="38100">
                  <a:moveTo>
                    <a:pt x="0" y="0"/>
                  </a:moveTo>
                  <a:lnTo>
                    <a:pt x="18836639" y="0"/>
                  </a:lnTo>
                  <a:lnTo>
                    <a:pt x="18836639" y="38100"/>
                  </a:lnTo>
                  <a:lnTo>
                    <a:pt x="0" y="38100"/>
                  </a:lnTo>
                  <a:close/>
                </a:path>
              </a:pathLst>
            </a:custGeom>
            <a:solidFill>
              <a:srgbClr val="353334"/>
            </a:solidFill>
          </p:spPr>
        </p:sp>
      </p:grpSp>
      <p:sp>
        <p:nvSpPr>
          <p:cNvPr id="43" name="TextBox 43"/>
          <p:cNvSpPr txBox="1"/>
          <p:nvPr/>
        </p:nvSpPr>
        <p:spPr>
          <a:xfrm>
            <a:off x="2468880" y="2257806"/>
            <a:ext cx="14127480" cy="499110"/>
          </a:xfrm>
          <a:prstGeom prst="rect">
            <a:avLst/>
          </a:prstGeom>
        </p:spPr>
        <p:txBody>
          <a:bodyPr lIns="0" tIns="0" rIns="0" bIns="0" rtlCol="0" anchor="t">
            <a:spAutoFit/>
          </a:bodyPr>
          <a:lstStyle/>
          <a:p>
            <a:pPr algn="l">
              <a:lnSpc>
                <a:spcPts val="1980"/>
              </a:lnSpc>
            </a:pPr>
            <a:r>
              <a:rPr lang="en-US" sz="1650">
                <a:solidFill>
                  <a:srgbClr val="6E6E73"/>
                </a:solidFill>
                <a:latin typeface="Arimo"/>
                <a:ea typeface="Arimo"/>
                <a:cs typeface="Arimo"/>
                <a:sym typeface="Arimo"/>
              </a:rPr>
              <a:t>Direct contrast with today's alternatives · Unfair technical advantage</a:t>
            </a:r>
          </a:p>
        </p:txBody>
      </p:sp>
      <p:grpSp>
        <p:nvGrpSpPr>
          <p:cNvPr id="44" name="Group 44"/>
          <p:cNvGrpSpPr/>
          <p:nvPr/>
        </p:nvGrpSpPr>
        <p:grpSpPr>
          <a:xfrm>
            <a:off x="2454592" y="3003233"/>
            <a:ext cx="6886575" cy="4006215"/>
            <a:chOff x="0" y="0"/>
            <a:chExt cx="9182100" cy="5341620"/>
          </a:xfrm>
        </p:grpSpPr>
        <p:sp>
          <p:nvSpPr>
            <p:cNvPr id="45" name="Freeform 45"/>
            <p:cNvSpPr/>
            <p:nvPr/>
          </p:nvSpPr>
          <p:spPr>
            <a:xfrm>
              <a:off x="0" y="0"/>
              <a:ext cx="9182100" cy="5341620"/>
            </a:xfrm>
            <a:custGeom>
              <a:avLst/>
              <a:gdLst/>
              <a:ahLst/>
              <a:cxnLst/>
              <a:rect l="l" t="t" r="r" b="b"/>
              <a:pathLst>
                <a:path w="9182100" h="5341620">
                  <a:moveTo>
                    <a:pt x="0" y="186944"/>
                  </a:moveTo>
                  <a:cubicBezTo>
                    <a:pt x="0" y="83693"/>
                    <a:pt x="83693" y="0"/>
                    <a:pt x="186944" y="0"/>
                  </a:cubicBezTo>
                  <a:lnTo>
                    <a:pt x="8995156" y="0"/>
                  </a:lnTo>
                  <a:cubicBezTo>
                    <a:pt x="9098407" y="0"/>
                    <a:pt x="9182100" y="83693"/>
                    <a:pt x="9182100" y="186944"/>
                  </a:cubicBezTo>
                  <a:lnTo>
                    <a:pt x="9182100" y="5154676"/>
                  </a:lnTo>
                  <a:cubicBezTo>
                    <a:pt x="9182100" y="5257927"/>
                    <a:pt x="9098407" y="5341620"/>
                    <a:pt x="8995156" y="5341620"/>
                  </a:cubicBezTo>
                  <a:lnTo>
                    <a:pt x="186944" y="5341620"/>
                  </a:lnTo>
                  <a:cubicBezTo>
                    <a:pt x="83693" y="5341620"/>
                    <a:pt x="0" y="5257927"/>
                    <a:pt x="0" y="5154676"/>
                  </a:cubicBezTo>
                  <a:close/>
                </a:path>
              </a:pathLst>
            </a:custGeom>
            <a:solidFill>
              <a:srgbClr val="FFFFFF"/>
            </a:solidFill>
            <a:ln w="28575" cap="sq">
              <a:solidFill>
                <a:srgbClr val="353334"/>
              </a:solidFill>
              <a:prstDash val="solid"/>
              <a:miter/>
            </a:ln>
          </p:spPr>
        </p:sp>
      </p:grpSp>
      <p:grpSp>
        <p:nvGrpSpPr>
          <p:cNvPr id="46" name="Group 46"/>
          <p:cNvGrpSpPr/>
          <p:nvPr/>
        </p:nvGrpSpPr>
        <p:grpSpPr>
          <a:xfrm>
            <a:off x="2937510" y="2814066"/>
            <a:ext cx="2423160" cy="406908"/>
            <a:chOff x="0" y="0"/>
            <a:chExt cx="3230880" cy="542544"/>
          </a:xfrm>
        </p:grpSpPr>
        <p:sp>
          <p:nvSpPr>
            <p:cNvPr id="47" name="Freeform 47"/>
            <p:cNvSpPr/>
            <p:nvPr/>
          </p:nvSpPr>
          <p:spPr>
            <a:xfrm>
              <a:off x="0" y="0"/>
              <a:ext cx="3230880" cy="542544"/>
            </a:xfrm>
            <a:custGeom>
              <a:avLst/>
              <a:gdLst/>
              <a:ahLst/>
              <a:cxnLst/>
              <a:rect l="l" t="t" r="r" b="b"/>
              <a:pathLst>
                <a:path w="3230880" h="542544">
                  <a:moveTo>
                    <a:pt x="0" y="271272"/>
                  </a:moveTo>
                  <a:cubicBezTo>
                    <a:pt x="0" y="121412"/>
                    <a:pt x="121412" y="0"/>
                    <a:pt x="271272" y="0"/>
                  </a:cubicBezTo>
                  <a:lnTo>
                    <a:pt x="2959608" y="0"/>
                  </a:lnTo>
                  <a:cubicBezTo>
                    <a:pt x="3109468" y="0"/>
                    <a:pt x="3230880" y="121412"/>
                    <a:pt x="3230880" y="271272"/>
                  </a:cubicBezTo>
                  <a:cubicBezTo>
                    <a:pt x="3230880" y="421132"/>
                    <a:pt x="3109468" y="542544"/>
                    <a:pt x="2959608" y="542544"/>
                  </a:cubicBezTo>
                  <a:lnTo>
                    <a:pt x="271272" y="542544"/>
                  </a:lnTo>
                  <a:cubicBezTo>
                    <a:pt x="121412" y="542544"/>
                    <a:pt x="0" y="421132"/>
                    <a:pt x="0" y="271272"/>
                  </a:cubicBezTo>
                  <a:close/>
                </a:path>
              </a:pathLst>
            </a:custGeom>
            <a:solidFill>
              <a:srgbClr val="353334"/>
            </a:solidFill>
            <a:ln w="22860" cap="sq">
              <a:solidFill>
                <a:srgbClr val="353334"/>
              </a:solidFill>
              <a:prstDash val="solid"/>
              <a:miter/>
            </a:ln>
          </p:spPr>
        </p:sp>
        <p:sp>
          <p:nvSpPr>
            <p:cNvPr id="48" name="TextBox 48"/>
            <p:cNvSpPr txBox="1"/>
            <p:nvPr/>
          </p:nvSpPr>
          <p:spPr>
            <a:xfrm>
              <a:off x="0" y="-19050"/>
              <a:ext cx="3230880" cy="561594"/>
            </a:xfrm>
            <a:prstGeom prst="rect">
              <a:avLst/>
            </a:prstGeom>
          </p:spPr>
          <p:txBody>
            <a:bodyPr lIns="50800" tIns="50800" rIns="50800" bIns="50800" rtlCol="0" anchor="ctr"/>
            <a:lstStyle/>
            <a:p>
              <a:pPr algn="ctr">
                <a:lnSpc>
                  <a:spcPts val="1530"/>
                </a:lnSpc>
              </a:pPr>
              <a:r>
                <a:rPr lang="en-US" sz="1275" b="1">
                  <a:solidFill>
                    <a:srgbClr val="FFFFFF"/>
                  </a:solidFill>
                  <a:latin typeface="Arimo Bold"/>
                  <a:ea typeface="Arimo Bold"/>
                  <a:cs typeface="Arimo Bold"/>
                  <a:sym typeface="Arimo Bold"/>
                </a:rPr>
                <a:t>STATUS QUO</a:t>
              </a:r>
            </a:p>
          </p:txBody>
        </p:sp>
      </p:grpSp>
      <p:sp>
        <p:nvSpPr>
          <p:cNvPr id="49" name="TextBox 49"/>
          <p:cNvSpPr txBox="1"/>
          <p:nvPr/>
        </p:nvSpPr>
        <p:spPr>
          <a:xfrm>
            <a:off x="2971800" y="3465195"/>
            <a:ext cx="5852160" cy="2695575"/>
          </a:xfrm>
          <a:prstGeom prst="rect">
            <a:avLst/>
          </a:prstGeom>
        </p:spPr>
        <p:txBody>
          <a:bodyPr lIns="0" tIns="0" rIns="0" bIns="0" rtlCol="0" anchor="t">
            <a:spAutoFit/>
          </a:bodyPr>
          <a:lstStyle/>
          <a:p>
            <a:pPr algn="l">
              <a:lnSpc>
                <a:spcPts val="2520"/>
              </a:lnSpc>
            </a:pPr>
            <a:r>
              <a:rPr lang="en-US" sz="2100" b="1" dirty="0">
                <a:solidFill>
                  <a:srgbClr val="353334"/>
                </a:solidFill>
                <a:latin typeface="Arimo Bold"/>
                <a:ea typeface="Arimo Bold"/>
                <a:cs typeface="Arimo Bold"/>
                <a:sym typeface="Arimo Bold"/>
              </a:rPr>
              <a:t>CURRENT APPROACH</a:t>
            </a:r>
          </a:p>
          <a:p>
            <a:pPr algn="l">
              <a:lnSpc>
                <a:spcPts val="2520"/>
              </a:lnSpc>
            </a:pPr>
            <a:endParaRPr lang="en-US" sz="2100" b="1" dirty="0">
              <a:solidFill>
                <a:srgbClr val="353334"/>
              </a:solidFill>
              <a:latin typeface="Arimo Bold"/>
              <a:ea typeface="Arimo Bold"/>
              <a:cs typeface="Arimo Bold"/>
              <a:sym typeface="Arimo Bold"/>
            </a:endParaRPr>
          </a:p>
          <a:p>
            <a:pPr algn="l">
              <a:lnSpc>
                <a:spcPts val="1800"/>
              </a:lnSpc>
            </a:pPr>
            <a:r>
              <a:rPr lang="en-US" sz="1500" b="1" dirty="0">
                <a:solidFill>
                  <a:srgbClr val="3C3C41"/>
                </a:solidFill>
                <a:latin typeface="Arimo Bold"/>
                <a:ea typeface="Arimo Bold"/>
                <a:cs typeface="Arimo Bold"/>
                <a:sym typeface="Arimo Bold"/>
              </a:rPr>
              <a:t>C</a:t>
            </a:r>
            <a:r>
              <a:rPr lang="en-US" sz="1500" dirty="0">
                <a:solidFill>
                  <a:srgbClr val="3C3C41"/>
                </a:solidFill>
                <a:latin typeface="Arimo"/>
                <a:ea typeface="Arimo"/>
                <a:cs typeface="Arimo"/>
                <a:sym typeface="Arimo"/>
              </a:rPr>
              <a:t>urrent document-processing workflows typically rely on separate tools for text extraction, OCR, tables and document conversion, followed by manual correction when complex layouts are encountered. Existing document parsers can perform well on ordinary text but become less reliable with multi-column layouts, scanned pages, complex tables, formulas and visual content.</a:t>
            </a:r>
          </a:p>
          <a:p>
            <a:pPr algn="l">
              <a:lnSpc>
                <a:spcPts val="1800"/>
              </a:lnSpc>
            </a:pPr>
            <a:r>
              <a:rPr lang="en-US" sz="1500" dirty="0">
                <a:solidFill>
                  <a:srgbClr val="3C3C41"/>
                </a:solidFill>
                <a:latin typeface="Arimo"/>
                <a:ea typeface="Arimo"/>
                <a:cs typeface="Arimo"/>
                <a:sym typeface="Arimo"/>
              </a:rPr>
              <a:t>When extraction is uncertain, users often have to inspect the original  and manually verify or correct the output.</a:t>
            </a:r>
          </a:p>
          <a:p>
            <a:pPr algn="l">
              <a:lnSpc>
                <a:spcPts val="1800"/>
              </a:lnSpc>
            </a:pPr>
            <a:endParaRPr lang="en-US" sz="1500" dirty="0">
              <a:solidFill>
                <a:srgbClr val="3C3C41"/>
              </a:solidFill>
              <a:latin typeface="Arimo"/>
              <a:ea typeface="Arimo"/>
              <a:cs typeface="Arimo"/>
              <a:sym typeface="Arimo"/>
            </a:endParaRPr>
          </a:p>
        </p:txBody>
      </p:sp>
      <p:grpSp>
        <p:nvGrpSpPr>
          <p:cNvPr id="50" name="Group 50"/>
          <p:cNvGrpSpPr/>
          <p:nvPr/>
        </p:nvGrpSpPr>
        <p:grpSpPr>
          <a:xfrm>
            <a:off x="9724072" y="3003233"/>
            <a:ext cx="6886575" cy="4006215"/>
            <a:chOff x="0" y="0"/>
            <a:chExt cx="9182100" cy="5341620"/>
          </a:xfrm>
        </p:grpSpPr>
        <p:sp>
          <p:nvSpPr>
            <p:cNvPr id="51" name="Freeform 51"/>
            <p:cNvSpPr/>
            <p:nvPr/>
          </p:nvSpPr>
          <p:spPr>
            <a:xfrm>
              <a:off x="0" y="0"/>
              <a:ext cx="9182100" cy="5341620"/>
            </a:xfrm>
            <a:custGeom>
              <a:avLst/>
              <a:gdLst/>
              <a:ahLst/>
              <a:cxnLst/>
              <a:rect l="l" t="t" r="r" b="b"/>
              <a:pathLst>
                <a:path w="9182100" h="5341620">
                  <a:moveTo>
                    <a:pt x="0" y="186944"/>
                  </a:moveTo>
                  <a:cubicBezTo>
                    <a:pt x="0" y="83693"/>
                    <a:pt x="83693" y="0"/>
                    <a:pt x="186944" y="0"/>
                  </a:cubicBezTo>
                  <a:lnTo>
                    <a:pt x="8995156" y="0"/>
                  </a:lnTo>
                  <a:cubicBezTo>
                    <a:pt x="9098407" y="0"/>
                    <a:pt x="9182100" y="83693"/>
                    <a:pt x="9182100" y="186944"/>
                  </a:cubicBezTo>
                  <a:lnTo>
                    <a:pt x="9182100" y="5154676"/>
                  </a:lnTo>
                  <a:cubicBezTo>
                    <a:pt x="9182100" y="5257927"/>
                    <a:pt x="9098407" y="5341620"/>
                    <a:pt x="8995156" y="5341620"/>
                  </a:cubicBezTo>
                  <a:lnTo>
                    <a:pt x="186944" y="5341620"/>
                  </a:lnTo>
                  <a:cubicBezTo>
                    <a:pt x="83693" y="5341620"/>
                    <a:pt x="0" y="5257927"/>
                    <a:pt x="0" y="5154676"/>
                  </a:cubicBezTo>
                  <a:close/>
                </a:path>
              </a:pathLst>
            </a:custGeom>
            <a:solidFill>
              <a:srgbClr val="FFFFFF"/>
            </a:solidFill>
            <a:ln w="28575" cap="sq">
              <a:solidFill>
                <a:srgbClr val="353334"/>
              </a:solidFill>
              <a:prstDash val="solid"/>
              <a:miter/>
            </a:ln>
          </p:spPr>
        </p:sp>
      </p:grpSp>
      <p:grpSp>
        <p:nvGrpSpPr>
          <p:cNvPr id="52" name="Group 52"/>
          <p:cNvGrpSpPr/>
          <p:nvPr/>
        </p:nvGrpSpPr>
        <p:grpSpPr>
          <a:xfrm>
            <a:off x="10206990" y="2814066"/>
            <a:ext cx="2423160" cy="406908"/>
            <a:chOff x="0" y="0"/>
            <a:chExt cx="3230880" cy="542544"/>
          </a:xfrm>
        </p:grpSpPr>
        <p:sp>
          <p:nvSpPr>
            <p:cNvPr id="53" name="Freeform 53"/>
            <p:cNvSpPr/>
            <p:nvPr/>
          </p:nvSpPr>
          <p:spPr>
            <a:xfrm>
              <a:off x="0" y="0"/>
              <a:ext cx="3230880" cy="542544"/>
            </a:xfrm>
            <a:custGeom>
              <a:avLst/>
              <a:gdLst/>
              <a:ahLst/>
              <a:cxnLst/>
              <a:rect l="l" t="t" r="r" b="b"/>
              <a:pathLst>
                <a:path w="3230880" h="542544">
                  <a:moveTo>
                    <a:pt x="0" y="271272"/>
                  </a:moveTo>
                  <a:cubicBezTo>
                    <a:pt x="0" y="121412"/>
                    <a:pt x="121412" y="0"/>
                    <a:pt x="271272" y="0"/>
                  </a:cubicBezTo>
                  <a:lnTo>
                    <a:pt x="2959608" y="0"/>
                  </a:lnTo>
                  <a:cubicBezTo>
                    <a:pt x="3109468" y="0"/>
                    <a:pt x="3230880" y="121412"/>
                    <a:pt x="3230880" y="271272"/>
                  </a:cubicBezTo>
                  <a:cubicBezTo>
                    <a:pt x="3230880" y="421132"/>
                    <a:pt x="3109468" y="542544"/>
                    <a:pt x="2959608" y="542544"/>
                  </a:cubicBezTo>
                  <a:lnTo>
                    <a:pt x="271272" y="542544"/>
                  </a:lnTo>
                  <a:cubicBezTo>
                    <a:pt x="121412" y="542544"/>
                    <a:pt x="0" y="421132"/>
                    <a:pt x="0" y="271272"/>
                  </a:cubicBezTo>
                  <a:close/>
                </a:path>
              </a:pathLst>
            </a:custGeom>
            <a:solidFill>
              <a:srgbClr val="079ED2"/>
            </a:solidFill>
            <a:ln w="22860" cap="sq">
              <a:solidFill>
                <a:srgbClr val="353334"/>
              </a:solidFill>
              <a:prstDash val="solid"/>
              <a:miter/>
            </a:ln>
          </p:spPr>
        </p:sp>
        <p:sp>
          <p:nvSpPr>
            <p:cNvPr id="54" name="TextBox 54"/>
            <p:cNvSpPr txBox="1"/>
            <p:nvPr/>
          </p:nvSpPr>
          <p:spPr>
            <a:xfrm>
              <a:off x="0" y="-19050"/>
              <a:ext cx="3230880" cy="561594"/>
            </a:xfrm>
            <a:prstGeom prst="rect">
              <a:avLst/>
            </a:prstGeom>
          </p:spPr>
          <p:txBody>
            <a:bodyPr lIns="50800" tIns="50800" rIns="50800" bIns="50800" rtlCol="0" anchor="ctr"/>
            <a:lstStyle/>
            <a:p>
              <a:pPr algn="ctr">
                <a:lnSpc>
                  <a:spcPts val="1530"/>
                </a:lnSpc>
              </a:pPr>
              <a:r>
                <a:rPr lang="en-US" sz="1275" b="1">
                  <a:solidFill>
                    <a:srgbClr val="FFFFFF"/>
                  </a:solidFill>
                  <a:latin typeface="Arimo Bold"/>
                  <a:ea typeface="Arimo Bold"/>
                  <a:cs typeface="Arimo Bold"/>
                  <a:sym typeface="Arimo Bold"/>
                </a:rPr>
                <a:t>OUR SOLUTION</a:t>
              </a:r>
            </a:p>
          </p:txBody>
        </p:sp>
      </p:grpSp>
      <p:sp>
        <p:nvSpPr>
          <p:cNvPr id="55" name="TextBox 55"/>
          <p:cNvSpPr txBox="1"/>
          <p:nvPr/>
        </p:nvSpPr>
        <p:spPr>
          <a:xfrm>
            <a:off x="10044578" y="3382899"/>
            <a:ext cx="6245563" cy="2009775"/>
          </a:xfrm>
          <a:prstGeom prst="rect">
            <a:avLst/>
          </a:prstGeom>
        </p:spPr>
        <p:txBody>
          <a:bodyPr lIns="0" tIns="0" rIns="0" bIns="0" rtlCol="0" anchor="t">
            <a:spAutoFit/>
          </a:bodyPr>
          <a:lstStyle/>
          <a:p>
            <a:pPr algn="l">
              <a:lnSpc>
                <a:spcPts val="2632"/>
              </a:lnSpc>
            </a:pPr>
            <a:r>
              <a:rPr lang="en-US" sz="2193" b="1">
                <a:solidFill>
                  <a:srgbClr val="353334"/>
                </a:solidFill>
                <a:latin typeface="Arimo Bold"/>
                <a:ea typeface="Arimo Bold"/>
                <a:cs typeface="Arimo Bold"/>
                <a:sym typeface="Arimo Bold"/>
              </a:rPr>
              <a:t>OUR APPROACH</a:t>
            </a:r>
          </a:p>
          <a:p>
            <a:pPr algn="l">
              <a:lnSpc>
                <a:spcPts val="2632"/>
              </a:lnSpc>
            </a:pPr>
            <a:endParaRPr lang="en-US" sz="2193" b="1">
              <a:solidFill>
                <a:srgbClr val="353334"/>
              </a:solidFill>
              <a:latin typeface="Arimo Bold"/>
              <a:ea typeface="Arimo Bold"/>
              <a:cs typeface="Arimo Bold"/>
              <a:sym typeface="Arimo Bold"/>
            </a:endParaRPr>
          </a:p>
          <a:p>
            <a:pPr algn="l">
              <a:lnSpc>
                <a:spcPts val="1845"/>
              </a:lnSpc>
            </a:pPr>
            <a:r>
              <a:rPr lang="en-US" sz="1538">
                <a:solidFill>
                  <a:srgbClr val="3C3C41"/>
                </a:solidFill>
                <a:latin typeface="Arimo"/>
                <a:ea typeface="Arimo"/>
                <a:cs typeface="Arimo"/>
                <a:sym typeface="Arimo"/>
              </a:rPr>
              <a:t>One unified intelligent pipeline</a:t>
            </a:r>
          </a:p>
          <a:p>
            <a:pPr algn="l">
              <a:lnSpc>
                <a:spcPts val="1726"/>
              </a:lnSpc>
            </a:pPr>
            <a:r>
              <a:rPr lang="en-US" sz="1438">
                <a:solidFill>
                  <a:srgbClr val="3C3C41"/>
                </a:solidFill>
                <a:latin typeface="Arimo"/>
                <a:ea typeface="Arimo"/>
                <a:cs typeface="Arimo"/>
                <a:sym typeface="Arimo"/>
              </a:rPr>
              <a:t>Analyze → Route → Extract → Assemble → Verify</a:t>
            </a:r>
          </a:p>
          <a:p>
            <a:pPr algn="l">
              <a:lnSpc>
                <a:spcPts val="1726"/>
              </a:lnSpc>
            </a:pPr>
            <a:r>
              <a:rPr lang="en-US" sz="1438">
                <a:solidFill>
                  <a:srgbClr val="3C3C41"/>
                </a:solidFill>
                <a:latin typeface="Arimo"/>
                <a:ea typeface="Arimo"/>
                <a:cs typeface="Arimo"/>
                <a:sym typeface="Arimo"/>
              </a:rPr>
              <a:t>Specialized extraction for text, OCR, layouts, tables, figures and equations, followed by structured assembly into Markdown + JSON.</a:t>
            </a:r>
          </a:p>
          <a:p>
            <a:pPr algn="l">
              <a:lnSpc>
                <a:spcPts val="1726"/>
              </a:lnSpc>
            </a:pPr>
            <a:r>
              <a:rPr lang="en-US" sz="1438">
                <a:solidFill>
                  <a:srgbClr val="3C3C41"/>
                </a:solidFill>
                <a:latin typeface="Arimo"/>
                <a:ea typeface="Arimo"/>
                <a:cs typeface="Arimo"/>
                <a:sym typeface="Arimo"/>
              </a:rPr>
              <a:t>Every block carries confidence + provenance + bounding-box metadata.</a:t>
            </a:r>
          </a:p>
          <a:p>
            <a:pPr algn="l">
              <a:lnSpc>
                <a:spcPts val="1726"/>
              </a:lnSpc>
            </a:pPr>
            <a:endParaRPr lang="en-US" sz="1438">
              <a:solidFill>
                <a:srgbClr val="3C3C41"/>
              </a:solidFill>
              <a:latin typeface="Arimo"/>
              <a:ea typeface="Arimo"/>
              <a:cs typeface="Arimo"/>
              <a:sym typeface="Arimo"/>
            </a:endParaRPr>
          </a:p>
        </p:txBody>
      </p:sp>
      <p:grpSp>
        <p:nvGrpSpPr>
          <p:cNvPr id="56" name="Group 56"/>
          <p:cNvGrpSpPr/>
          <p:nvPr/>
        </p:nvGrpSpPr>
        <p:grpSpPr>
          <a:xfrm>
            <a:off x="2454592" y="7323772"/>
            <a:ext cx="14156055" cy="2497455"/>
            <a:chOff x="0" y="0"/>
            <a:chExt cx="18874740" cy="3329940"/>
          </a:xfrm>
        </p:grpSpPr>
        <p:sp>
          <p:nvSpPr>
            <p:cNvPr id="57" name="Freeform 57"/>
            <p:cNvSpPr/>
            <p:nvPr/>
          </p:nvSpPr>
          <p:spPr>
            <a:xfrm>
              <a:off x="0" y="0"/>
              <a:ext cx="18874741" cy="3329940"/>
            </a:xfrm>
            <a:custGeom>
              <a:avLst/>
              <a:gdLst/>
              <a:ahLst/>
              <a:cxnLst/>
              <a:rect l="l" t="t" r="r" b="b"/>
              <a:pathLst>
                <a:path w="18874741" h="3329940">
                  <a:moveTo>
                    <a:pt x="0" y="116586"/>
                  </a:moveTo>
                  <a:cubicBezTo>
                    <a:pt x="0" y="52197"/>
                    <a:pt x="52197" y="0"/>
                    <a:pt x="116586" y="0"/>
                  </a:cubicBezTo>
                  <a:lnTo>
                    <a:pt x="18758154" y="0"/>
                  </a:lnTo>
                  <a:cubicBezTo>
                    <a:pt x="18822543" y="0"/>
                    <a:pt x="18874741" y="52197"/>
                    <a:pt x="18874741" y="116586"/>
                  </a:cubicBezTo>
                  <a:lnTo>
                    <a:pt x="18874741" y="3213354"/>
                  </a:lnTo>
                  <a:cubicBezTo>
                    <a:pt x="18874741" y="3277743"/>
                    <a:pt x="18822543" y="3329940"/>
                    <a:pt x="18758154" y="3329940"/>
                  </a:cubicBezTo>
                  <a:lnTo>
                    <a:pt x="116586" y="3329940"/>
                  </a:lnTo>
                  <a:cubicBezTo>
                    <a:pt x="52197" y="3329940"/>
                    <a:pt x="0" y="3277743"/>
                    <a:pt x="0" y="3213354"/>
                  </a:cubicBezTo>
                  <a:close/>
                </a:path>
              </a:pathLst>
            </a:custGeom>
            <a:solidFill>
              <a:srgbClr val="FFFFFF"/>
            </a:solidFill>
            <a:ln w="28575" cap="sq">
              <a:solidFill>
                <a:srgbClr val="353334"/>
              </a:solidFill>
              <a:prstDash val="solid"/>
              <a:miter/>
            </a:ln>
          </p:spPr>
        </p:sp>
      </p:grpSp>
      <p:grpSp>
        <p:nvGrpSpPr>
          <p:cNvPr id="58" name="Group 58"/>
          <p:cNvGrpSpPr/>
          <p:nvPr/>
        </p:nvGrpSpPr>
        <p:grpSpPr>
          <a:xfrm>
            <a:off x="2937510" y="7134606"/>
            <a:ext cx="2423160" cy="406908"/>
            <a:chOff x="0" y="0"/>
            <a:chExt cx="3230880" cy="542544"/>
          </a:xfrm>
        </p:grpSpPr>
        <p:sp>
          <p:nvSpPr>
            <p:cNvPr id="59" name="Freeform 59"/>
            <p:cNvSpPr/>
            <p:nvPr/>
          </p:nvSpPr>
          <p:spPr>
            <a:xfrm>
              <a:off x="0" y="0"/>
              <a:ext cx="3230880" cy="542544"/>
            </a:xfrm>
            <a:custGeom>
              <a:avLst/>
              <a:gdLst/>
              <a:ahLst/>
              <a:cxnLst/>
              <a:rect l="l" t="t" r="r" b="b"/>
              <a:pathLst>
                <a:path w="3230880" h="542544">
                  <a:moveTo>
                    <a:pt x="0" y="271272"/>
                  </a:moveTo>
                  <a:cubicBezTo>
                    <a:pt x="0" y="121412"/>
                    <a:pt x="121412" y="0"/>
                    <a:pt x="271272" y="0"/>
                  </a:cubicBezTo>
                  <a:lnTo>
                    <a:pt x="2959608" y="0"/>
                  </a:lnTo>
                  <a:cubicBezTo>
                    <a:pt x="3109468" y="0"/>
                    <a:pt x="3230880" y="121412"/>
                    <a:pt x="3230880" y="271272"/>
                  </a:cubicBezTo>
                  <a:cubicBezTo>
                    <a:pt x="3230880" y="421132"/>
                    <a:pt x="3109468" y="542544"/>
                    <a:pt x="2959608" y="542544"/>
                  </a:cubicBezTo>
                  <a:lnTo>
                    <a:pt x="271272" y="542544"/>
                  </a:lnTo>
                  <a:cubicBezTo>
                    <a:pt x="121412" y="542544"/>
                    <a:pt x="0" y="421132"/>
                    <a:pt x="0" y="271272"/>
                  </a:cubicBezTo>
                  <a:close/>
                </a:path>
              </a:pathLst>
            </a:custGeom>
            <a:solidFill>
              <a:srgbClr val="FD1485"/>
            </a:solidFill>
            <a:ln w="22860" cap="sq">
              <a:solidFill>
                <a:srgbClr val="353334"/>
              </a:solidFill>
              <a:prstDash val="solid"/>
              <a:miter/>
            </a:ln>
          </p:spPr>
        </p:sp>
        <p:sp>
          <p:nvSpPr>
            <p:cNvPr id="60" name="TextBox 60"/>
            <p:cNvSpPr txBox="1"/>
            <p:nvPr/>
          </p:nvSpPr>
          <p:spPr>
            <a:xfrm>
              <a:off x="0" y="-19050"/>
              <a:ext cx="3230880" cy="561594"/>
            </a:xfrm>
            <a:prstGeom prst="rect">
              <a:avLst/>
            </a:prstGeom>
          </p:spPr>
          <p:txBody>
            <a:bodyPr lIns="50800" tIns="50800" rIns="50800" bIns="50800" rtlCol="0" anchor="ctr"/>
            <a:lstStyle/>
            <a:p>
              <a:pPr algn="ctr">
                <a:lnSpc>
                  <a:spcPts val="1530"/>
                </a:lnSpc>
              </a:pPr>
              <a:r>
                <a:rPr lang="en-US" sz="1275" b="1">
                  <a:solidFill>
                    <a:srgbClr val="FFFFFF"/>
                  </a:solidFill>
                  <a:latin typeface="Arimo Bold"/>
                  <a:ea typeface="Arimo Bold"/>
                  <a:cs typeface="Arimo Bold"/>
                  <a:sym typeface="Arimo Bold"/>
                </a:rPr>
                <a:t>MOAT / DIFFERENTIATION</a:t>
              </a:r>
            </a:p>
          </p:txBody>
        </p:sp>
      </p:grpSp>
      <p:sp>
        <p:nvSpPr>
          <p:cNvPr id="61" name="TextBox 61"/>
          <p:cNvSpPr txBox="1"/>
          <p:nvPr/>
        </p:nvSpPr>
        <p:spPr>
          <a:xfrm>
            <a:off x="2971800" y="7815262"/>
            <a:ext cx="13121640" cy="1085850"/>
          </a:xfrm>
          <a:prstGeom prst="rect">
            <a:avLst/>
          </a:prstGeom>
        </p:spPr>
        <p:txBody>
          <a:bodyPr lIns="0" tIns="0" rIns="0" bIns="0" rtlCol="0" anchor="t">
            <a:spAutoFit/>
          </a:bodyPr>
          <a:lstStyle/>
          <a:p>
            <a:pPr algn="l">
              <a:lnSpc>
                <a:spcPts val="2160"/>
              </a:lnSpc>
            </a:pPr>
            <a:r>
              <a:rPr lang="en-US" sz="1800" b="1">
                <a:solidFill>
                  <a:srgbClr val="FD1485"/>
                </a:solidFill>
                <a:latin typeface="Arimo Bold"/>
                <a:ea typeface="Arimo Bold"/>
                <a:cs typeface="Arimo Bold"/>
                <a:sym typeface="Arimo Bold"/>
              </a:rPr>
              <a:t>KEY DIFFERENCE</a:t>
            </a:r>
          </a:p>
          <a:p>
            <a:pPr algn="l">
              <a:lnSpc>
                <a:spcPts val="2160"/>
              </a:lnSpc>
            </a:pPr>
            <a:r>
              <a:rPr lang="en-US" sz="1800" b="1">
                <a:solidFill>
                  <a:srgbClr val="353334"/>
                </a:solidFill>
                <a:latin typeface="Arimo Bold"/>
                <a:ea typeface="Arimo Bold"/>
                <a:cs typeface="Arimo Bold"/>
                <a:sym typeface="Arimo Bold"/>
              </a:rPr>
              <a:t>“We don't just extract information: we make every extraction verifiable.”</a:t>
            </a:r>
          </a:p>
          <a:p>
            <a:pPr algn="l">
              <a:lnSpc>
                <a:spcPts val="2160"/>
              </a:lnSpc>
            </a:pPr>
            <a:r>
              <a:rPr lang="en-US" sz="1800">
                <a:solidFill>
                  <a:srgbClr val="353334"/>
                </a:solidFill>
                <a:latin typeface="Arimo"/>
                <a:ea typeface="Arimo"/>
                <a:cs typeface="Arimo"/>
                <a:sym typeface="Arimo"/>
              </a:rPr>
              <a:t>This is especially important for finance, legal and regulated documents, where knowing where information came from can matter just as much as extracting the information itself.</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7543" cy="10287000"/>
            <a:chOff x="0" y="0"/>
            <a:chExt cx="24383390" cy="13716000"/>
          </a:xfrm>
        </p:grpSpPr>
        <p:sp>
          <p:nvSpPr>
            <p:cNvPr id="3" name="Freeform 3"/>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close/>
                </a:path>
              </a:pathLst>
            </a:custGeom>
            <a:solidFill>
              <a:srgbClr val="FFFFF1"/>
            </a:solidFill>
          </p:spPr>
        </p:sp>
      </p:grpSp>
      <p:grpSp>
        <p:nvGrpSpPr>
          <p:cNvPr id="4" name="Group 4"/>
          <p:cNvGrpSpPr/>
          <p:nvPr/>
        </p:nvGrpSpPr>
        <p:grpSpPr>
          <a:xfrm>
            <a:off x="-274320" y="1577340"/>
            <a:ext cx="1577340" cy="493776"/>
            <a:chOff x="0" y="0"/>
            <a:chExt cx="2103120" cy="658368"/>
          </a:xfrm>
        </p:grpSpPr>
        <p:sp>
          <p:nvSpPr>
            <p:cNvPr id="5" name="Freeform 5"/>
            <p:cNvSpPr/>
            <p:nvPr/>
          </p:nvSpPr>
          <p:spPr>
            <a:xfrm>
              <a:off x="0" y="0"/>
              <a:ext cx="2103120" cy="658368"/>
            </a:xfrm>
            <a:custGeom>
              <a:avLst/>
              <a:gdLst/>
              <a:ahLst/>
              <a:cxnLst/>
              <a:rect l="l" t="t" r="r" b="b"/>
              <a:pathLst>
                <a:path w="2103120" h="658368">
                  <a:moveTo>
                    <a:pt x="0" y="329184"/>
                  </a:moveTo>
                  <a:cubicBezTo>
                    <a:pt x="0" y="147320"/>
                    <a:pt x="147320" y="0"/>
                    <a:pt x="329184" y="0"/>
                  </a:cubicBezTo>
                  <a:lnTo>
                    <a:pt x="1773936" y="0"/>
                  </a:lnTo>
                  <a:cubicBezTo>
                    <a:pt x="1955800" y="0"/>
                    <a:pt x="2103120" y="147320"/>
                    <a:pt x="2103120" y="329184"/>
                  </a:cubicBezTo>
                  <a:cubicBezTo>
                    <a:pt x="2103120" y="511048"/>
                    <a:pt x="1955800" y="658368"/>
                    <a:pt x="1773936" y="658368"/>
                  </a:cubicBezTo>
                  <a:lnTo>
                    <a:pt x="329184" y="658368"/>
                  </a:lnTo>
                  <a:cubicBezTo>
                    <a:pt x="147320" y="658368"/>
                    <a:pt x="0" y="511048"/>
                    <a:pt x="0" y="329184"/>
                  </a:cubicBezTo>
                  <a:close/>
                </a:path>
              </a:pathLst>
            </a:custGeom>
            <a:solidFill>
              <a:srgbClr val="FFB903"/>
            </a:solidFill>
          </p:spPr>
        </p:sp>
      </p:grpSp>
      <p:grpSp>
        <p:nvGrpSpPr>
          <p:cNvPr id="6" name="Group 6"/>
          <p:cNvGrpSpPr/>
          <p:nvPr/>
        </p:nvGrpSpPr>
        <p:grpSpPr>
          <a:xfrm>
            <a:off x="-274320" y="2180844"/>
            <a:ext cx="2194560" cy="493776"/>
            <a:chOff x="0" y="0"/>
            <a:chExt cx="2926080" cy="658368"/>
          </a:xfrm>
        </p:grpSpPr>
        <p:sp>
          <p:nvSpPr>
            <p:cNvPr id="7" name="Freeform 7"/>
            <p:cNvSpPr/>
            <p:nvPr/>
          </p:nvSpPr>
          <p:spPr>
            <a:xfrm>
              <a:off x="0" y="0"/>
              <a:ext cx="2926080" cy="658368"/>
            </a:xfrm>
            <a:custGeom>
              <a:avLst/>
              <a:gdLst/>
              <a:ahLst/>
              <a:cxnLst/>
              <a:rect l="l" t="t" r="r" b="b"/>
              <a:pathLst>
                <a:path w="2926080" h="658368">
                  <a:moveTo>
                    <a:pt x="0" y="329184"/>
                  </a:moveTo>
                  <a:cubicBezTo>
                    <a:pt x="0" y="147320"/>
                    <a:pt x="147320" y="0"/>
                    <a:pt x="329184" y="0"/>
                  </a:cubicBezTo>
                  <a:lnTo>
                    <a:pt x="2596896" y="0"/>
                  </a:lnTo>
                  <a:cubicBezTo>
                    <a:pt x="2778760" y="0"/>
                    <a:pt x="2926080" y="147320"/>
                    <a:pt x="2926080" y="329184"/>
                  </a:cubicBezTo>
                  <a:cubicBezTo>
                    <a:pt x="2926080" y="511048"/>
                    <a:pt x="2778760" y="658368"/>
                    <a:pt x="2596896" y="658368"/>
                  </a:cubicBezTo>
                  <a:lnTo>
                    <a:pt x="329184" y="658368"/>
                  </a:lnTo>
                  <a:cubicBezTo>
                    <a:pt x="147320" y="658368"/>
                    <a:pt x="0" y="511048"/>
                    <a:pt x="0" y="329184"/>
                  </a:cubicBezTo>
                  <a:close/>
                </a:path>
              </a:pathLst>
            </a:custGeom>
            <a:solidFill>
              <a:srgbClr val="079ED2"/>
            </a:solidFill>
          </p:spPr>
        </p:sp>
      </p:grpSp>
      <p:grpSp>
        <p:nvGrpSpPr>
          <p:cNvPr id="8" name="Group 8"/>
          <p:cNvGrpSpPr/>
          <p:nvPr/>
        </p:nvGrpSpPr>
        <p:grpSpPr>
          <a:xfrm>
            <a:off x="-274320" y="2784348"/>
            <a:ext cx="1577340" cy="493776"/>
            <a:chOff x="0" y="0"/>
            <a:chExt cx="2103120" cy="658368"/>
          </a:xfrm>
        </p:grpSpPr>
        <p:sp>
          <p:nvSpPr>
            <p:cNvPr id="9" name="Freeform 9"/>
            <p:cNvSpPr/>
            <p:nvPr/>
          </p:nvSpPr>
          <p:spPr>
            <a:xfrm>
              <a:off x="0" y="0"/>
              <a:ext cx="2103120" cy="658368"/>
            </a:xfrm>
            <a:custGeom>
              <a:avLst/>
              <a:gdLst/>
              <a:ahLst/>
              <a:cxnLst/>
              <a:rect l="l" t="t" r="r" b="b"/>
              <a:pathLst>
                <a:path w="2103120" h="658368">
                  <a:moveTo>
                    <a:pt x="0" y="329184"/>
                  </a:moveTo>
                  <a:cubicBezTo>
                    <a:pt x="0" y="147320"/>
                    <a:pt x="147320" y="0"/>
                    <a:pt x="329184" y="0"/>
                  </a:cubicBezTo>
                  <a:lnTo>
                    <a:pt x="1773936" y="0"/>
                  </a:lnTo>
                  <a:cubicBezTo>
                    <a:pt x="1955800" y="0"/>
                    <a:pt x="2103120" y="147320"/>
                    <a:pt x="2103120" y="329184"/>
                  </a:cubicBezTo>
                  <a:cubicBezTo>
                    <a:pt x="2103120" y="511048"/>
                    <a:pt x="1955800" y="658368"/>
                    <a:pt x="1773936" y="658368"/>
                  </a:cubicBezTo>
                  <a:lnTo>
                    <a:pt x="329184" y="658368"/>
                  </a:lnTo>
                  <a:cubicBezTo>
                    <a:pt x="147320" y="658368"/>
                    <a:pt x="0" y="511048"/>
                    <a:pt x="0" y="329184"/>
                  </a:cubicBezTo>
                  <a:close/>
                </a:path>
              </a:pathLst>
            </a:custGeom>
            <a:solidFill>
              <a:srgbClr val="FD1485"/>
            </a:solidFill>
          </p:spPr>
        </p:sp>
      </p:grpSp>
      <p:grpSp>
        <p:nvGrpSpPr>
          <p:cNvPr id="10" name="Group 10"/>
          <p:cNvGrpSpPr/>
          <p:nvPr/>
        </p:nvGrpSpPr>
        <p:grpSpPr>
          <a:xfrm>
            <a:off x="17282160" y="822960"/>
            <a:ext cx="329184" cy="246888"/>
            <a:chOff x="0" y="0"/>
            <a:chExt cx="438912" cy="329184"/>
          </a:xfrm>
        </p:grpSpPr>
        <p:sp>
          <p:nvSpPr>
            <p:cNvPr id="11" name="Freeform 11"/>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353334"/>
            </a:solidFill>
          </p:spPr>
        </p:sp>
      </p:grpSp>
      <p:grpSp>
        <p:nvGrpSpPr>
          <p:cNvPr id="12" name="Group 12"/>
          <p:cNvGrpSpPr/>
          <p:nvPr/>
        </p:nvGrpSpPr>
        <p:grpSpPr>
          <a:xfrm>
            <a:off x="17282160" y="1069848"/>
            <a:ext cx="329184" cy="246888"/>
            <a:chOff x="0" y="0"/>
            <a:chExt cx="438912" cy="329184"/>
          </a:xfrm>
        </p:grpSpPr>
        <p:sp>
          <p:nvSpPr>
            <p:cNvPr id="13" name="Freeform 13"/>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FFB903"/>
            </a:solidFill>
          </p:spPr>
        </p:sp>
      </p:grpSp>
      <p:grpSp>
        <p:nvGrpSpPr>
          <p:cNvPr id="14" name="Group 14"/>
          <p:cNvGrpSpPr/>
          <p:nvPr/>
        </p:nvGrpSpPr>
        <p:grpSpPr>
          <a:xfrm>
            <a:off x="17282160" y="1316736"/>
            <a:ext cx="329184" cy="246888"/>
            <a:chOff x="0" y="0"/>
            <a:chExt cx="438912" cy="329184"/>
          </a:xfrm>
        </p:grpSpPr>
        <p:sp>
          <p:nvSpPr>
            <p:cNvPr id="15" name="Freeform 15"/>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FD1485"/>
            </a:solidFill>
          </p:spPr>
        </p:sp>
      </p:grpSp>
      <p:grpSp>
        <p:nvGrpSpPr>
          <p:cNvPr id="16" name="Group 16"/>
          <p:cNvGrpSpPr/>
          <p:nvPr/>
        </p:nvGrpSpPr>
        <p:grpSpPr>
          <a:xfrm>
            <a:off x="17282160" y="1563624"/>
            <a:ext cx="329184" cy="246888"/>
            <a:chOff x="0" y="0"/>
            <a:chExt cx="438912" cy="329184"/>
          </a:xfrm>
        </p:grpSpPr>
        <p:sp>
          <p:nvSpPr>
            <p:cNvPr id="17" name="Freeform 17"/>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079ED2"/>
            </a:solidFill>
          </p:spPr>
        </p:sp>
      </p:grpSp>
      <p:grpSp>
        <p:nvGrpSpPr>
          <p:cNvPr id="18" name="Group 18"/>
          <p:cNvGrpSpPr/>
          <p:nvPr/>
        </p:nvGrpSpPr>
        <p:grpSpPr>
          <a:xfrm>
            <a:off x="822960" y="8366760"/>
            <a:ext cx="329184" cy="246888"/>
            <a:chOff x="0" y="0"/>
            <a:chExt cx="438912" cy="329184"/>
          </a:xfrm>
        </p:grpSpPr>
        <p:sp>
          <p:nvSpPr>
            <p:cNvPr id="19" name="Freeform 19"/>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353334"/>
            </a:solidFill>
          </p:spPr>
        </p:sp>
      </p:grpSp>
      <p:grpSp>
        <p:nvGrpSpPr>
          <p:cNvPr id="20" name="Group 20"/>
          <p:cNvGrpSpPr/>
          <p:nvPr/>
        </p:nvGrpSpPr>
        <p:grpSpPr>
          <a:xfrm>
            <a:off x="822960" y="8613648"/>
            <a:ext cx="329184" cy="246888"/>
            <a:chOff x="0" y="0"/>
            <a:chExt cx="438912" cy="329184"/>
          </a:xfrm>
        </p:grpSpPr>
        <p:sp>
          <p:nvSpPr>
            <p:cNvPr id="21" name="Freeform 21"/>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FFB903"/>
            </a:solidFill>
          </p:spPr>
        </p:sp>
      </p:grpSp>
      <p:grpSp>
        <p:nvGrpSpPr>
          <p:cNvPr id="22" name="Group 22"/>
          <p:cNvGrpSpPr/>
          <p:nvPr/>
        </p:nvGrpSpPr>
        <p:grpSpPr>
          <a:xfrm>
            <a:off x="822960" y="8860536"/>
            <a:ext cx="329184" cy="246888"/>
            <a:chOff x="0" y="0"/>
            <a:chExt cx="438912" cy="329184"/>
          </a:xfrm>
        </p:grpSpPr>
        <p:sp>
          <p:nvSpPr>
            <p:cNvPr id="23" name="Freeform 23"/>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FD1485"/>
            </a:solidFill>
          </p:spPr>
        </p:sp>
      </p:grpSp>
      <p:grpSp>
        <p:nvGrpSpPr>
          <p:cNvPr id="24" name="Group 24"/>
          <p:cNvGrpSpPr/>
          <p:nvPr/>
        </p:nvGrpSpPr>
        <p:grpSpPr>
          <a:xfrm>
            <a:off x="822960" y="9107424"/>
            <a:ext cx="329184" cy="246888"/>
            <a:chOff x="0" y="0"/>
            <a:chExt cx="438912" cy="329184"/>
          </a:xfrm>
        </p:grpSpPr>
        <p:sp>
          <p:nvSpPr>
            <p:cNvPr id="25" name="Freeform 25"/>
            <p:cNvSpPr/>
            <p:nvPr/>
          </p:nvSpPr>
          <p:spPr>
            <a:xfrm>
              <a:off x="0" y="0"/>
              <a:ext cx="438912" cy="329184"/>
            </a:xfrm>
            <a:custGeom>
              <a:avLst/>
              <a:gdLst/>
              <a:ahLst/>
              <a:cxnLst/>
              <a:rect l="l" t="t" r="r" b="b"/>
              <a:pathLst>
                <a:path w="438912" h="329184">
                  <a:moveTo>
                    <a:pt x="0" y="0"/>
                  </a:moveTo>
                  <a:lnTo>
                    <a:pt x="438912" y="0"/>
                  </a:lnTo>
                  <a:lnTo>
                    <a:pt x="438912" y="329184"/>
                  </a:lnTo>
                  <a:lnTo>
                    <a:pt x="0" y="329184"/>
                  </a:lnTo>
                  <a:close/>
                </a:path>
              </a:pathLst>
            </a:custGeom>
            <a:solidFill>
              <a:srgbClr val="079ED2"/>
            </a:solidFill>
          </p:spPr>
        </p:sp>
      </p:grpSp>
      <p:grpSp>
        <p:nvGrpSpPr>
          <p:cNvPr id="26" name="Group 26"/>
          <p:cNvGrpSpPr/>
          <p:nvPr/>
        </p:nvGrpSpPr>
        <p:grpSpPr>
          <a:xfrm>
            <a:off x="16630650" y="8901112"/>
            <a:ext cx="480060" cy="28575"/>
            <a:chOff x="0" y="0"/>
            <a:chExt cx="640080" cy="38100"/>
          </a:xfrm>
        </p:grpSpPr>
        <p:sp>
          <p:nvSpPr>
            <p:cNvPr id="27" name="Freeform 27"/>
            <p:cNvSpPr/>
            <p:nvPr/>
          </p:nvSpPr>
          <p:spPr>
            <a:xfrm>
              <a:off x="0" y="0"/>
              <a:ext cx="640080" cy="38100"/>
            </a:xfrm>
            <a:custGeom>
              <a:avLst/>
              <a:gdLst/>
              <a:ahLst/>
              <a:cxnLst/>
              <a:rect l="l" t="t" r="r" b="b"/>
              <a:pathLst>
                <a:path w="640080" h="38100">
                  <a:moveTo>
                    <a:pt x="0" y="0"/>
                  </a:moveTo>
                  <a:lnTo>
                    <a:pt x="640080" y="0"/>
                  </a:lnTo>
                  <a:lnTo>
                    <a:pt x="640080" y="38100"/>
                  </a:lnTo>
                  <a:lnTo>
                    <a:pt x="0" y="38100"/>
                  </a:lnTo>
                  <a:close/>
                </a:path>
              </a:pathLst>
            </a:custGeom>
            <a:solidFill>
              <a:srgbClr val="353334"/>
            </a:solidFill>
          </p:spPr>
        </p:sp>
      </p:grpSp>
      <p:grpSp>
        <p:nvGrpSpPr>
          <p:cNvPr id="28" name="Group 28"/>
          <p:cNvGrpSpPr/>
          <p:nvPr/>
        </p:nvGrpSpPr>
        <p:grpSpPr>
          <a:xfrm>
            <a:off x="16856392" y="8675370"/>
            <a:ext cx="28575" cy="480060"/>
            <a:chOff x="0" y="0"/>
            <a:chExt cx="38100" cy="640080"/>
          </a:xfrm>
        </p:grpSpPr>
        <p:sp>
          <p:nvSpPr>
            <p:cNvPr id="29" name="Freeform 29"/>
            <p:cNvSpPr/>
            <p:nvPr/>
          </p:nvSpPr>
          <p:spPr>
            <a:xfrm>
              <a:off x="0" y="0"/>
              <a:ext cx="38100" cy="640080"/>
            </a:xfrm>
            <a:custGeom>
              <a:avLst/>
              <a:gdLst/>
              <a:ahLst/>
              <a:cxnLst/>
              <a:rect l="l" t="t" r="r" b="b"/>
              <a:pathLst>
                <a:path w="38100" h="640080">
                  <a:moveTo>
                    <a:pt x="0" y="0"/>
                  </a:moveTo>
                  <a:lnTo>
                    <a:pt x="38100" y="0"/>
                  </a:lnTo>
                  <a:lnTo>
                    <a:pt x="38100" y="640080"/>
                  </a:lnTo>
                  <a:lnTo>
                    <a:pt x="0" y="640080"/>
                  </a:lnTo>
                  <a:close/>
                </a:path>
              </a:pathLst>
            </a:custGeom>
            <a:solidFill>
              <a:srgbClr val="353334"/>
            </a:solidFill>
          </p:spPr>
        </p:sp>
      </p:grpSp>
      <p:grpSp>
        <p:nvGrpSpPr>
          <p:cNvPr id="30" name="Group 30"/>
          <p:cNvGrpSpPr/>
          <p:nvPr/>
        </p:nvGrpSpPr>
        <p:grpSpPr>
          <a:xfrm>
            <a:off x="16788384" y="8833104"/>
            <a:ext cx="164592" cy="164592"/>
            <a:chOff x="0" y="0"/>
            <a:chExt cx="219456" cy="219456"/>
          </a:xfrm>
        </p:grpSpPr>
        <p:sp>
          <p:nvSpPr>
            <p:cNvPr id="31" name="Freeform 31"/>
            <p:cNvSpPr/>
            <p:nvPr/>
          </p:nvSpPr>
          <p:spPr>
            <a:xfrm>
              <a:off x="0" y="0"/>
              <a:ext cx="219456" cy="219456"/>
            </a:xfrm>
            <a:custGeom>
              <a:avLst/>
              <a:gdLst/>
              <a:ahLst/>
              <a:cxnLst/>
              <a:rect l="l" t="t" r="r" b="b"/>
              <a:pathLst>
                <a:path w="219456" h="219456">
                  <a:moveTo>
                    <a:pt x="0" y="0"/>
                  </a:moveTo>
                  <a:lnTo>
                    <a:pt x="219456" y="0"/>
                  </a:lnTo>
                  <a:lnTo>
                    <a:pt x="219456" y="219456"/>
                  </a:lnTo>
                  <a:lnTo>
                    <a:pt x="0" y="219456"/>
                  </a:lnTo>
                  <a:close/>
                </a:path>
              </a:pathLst>
            </a:custGeom>
            <a:solidFill>
              <a:srgbClr val="FFB903"/>
            </a:solidFill>
          </p:spPr>
        </p:sp>
      </p:grpSp>
      <p:grpSp>
        <p:nvGrpSpPr>
          <p:cNvPr id="32" name="Group 32"/>
          <p:cNvGrpSpPr/>
          <p:nvPr/>
        </p:nvGrpSpPr>
        <p:grpSpPr>
          <a:xfrm>
            <a:off x="12604432" y="945832"/>
            <a:ext cx="1537335" cy="1263015"/>
            <a:chOff x="0" y="0"/>
            <a:chExt cx="2049780" cy="1684020"/>
          </a:xfrm>
        </p:grpSpPr>
        <p:sp>
          <p:nvSpPr>
            <p:cNvPr id="33" name="Freeform 33"/>
            <p:cNvSpPr/>
            <p:nvPr/>
          </p:nvSpPr>
          <p:spPr>
            <a:xfrm>
              <a:off x="1024890" y="0"/>
              <a:ext cx="1024890" cy="842010"/>
            </a:xfrm>
            <a:custGeom>
              <a:avLst/>
              <a:gdLst/>
              <a:ahLst/>
              <a:cxnLst/>
              <a:rect l="l" t="t" r="r" b="b"/>
              <a:pathLst>
                <a:path w="1024890" h="842010">
                  <a:moveTo>
                    <a:pt x="0" y="0"/>
                  </a:moveTo>
                  <a:cubicBezTo>
                    <a:pt x="566039" y="0"/>
                    <a:pt x="1024890" y="376936"/>
                    <a:pt x="1024890" y="842010"/>
                  </a:cubicBezTo>
                  <a:lnTo>
                    <a:pt x="0" y="842010"/>
                  </a:lnTo>
                  <a:close/>
                </a:path>
              </a:pathLst>
            </a:custGeom>
            <a:blipFill>
              <a:blip r:embed="rId2">
                <a:alphaModFix amt="0"/>
              </a:blip>
              <a:stretch>
                <a:fillRect l="-210818" r="-110818" b="-99999"/>
              </a:stretch>
            </a:blipFill>
            <a:ln w="28575" cap="sq">
              <a:solidFill>
                <a:srgbClr val="079ED2"/>
              </a:solidFill>
              <a:prstDash val="solid"/>
              <a:miter/>
            </a:ln>
          </p:spPr>
        </p:sp>
        <p:sp>
          <p:nvSpPr>
            <p:cNvPr id="34" name="Freeform 34"/>
            <p:cNvSpPr/>
            <p:nvPr/>
          </p:nvSpPr>
          <p:spPr>
            <a:xfrm>
              <a:off x="1024890" y="0"/>
              <a:ext cx="1024890" cy="842010"/>
            </a:xfrm>
            <a:custGeom>
              <a:avLst/>
              <a:gdLst/>
              <a:ahLst/>
              <a:cxnLst/>
              <a:rect l="l" t="t" r="r" b="b"/>
              <a:pathLst>
                <a:path w="1024890" h="842010">
                  <a:moveTo>
                    <a:pt x="0" y="0"/>
                  </a:moveTo>
                  <a:cubicBezTo>
                    <a:pt x="566039" y="0"/>
                    <a:pt x="1024890" y="376936"/>
                    <a:pt x="1024890" y="842010"/>
                  </a:cubicBezTo>
                </a:path>
              </a:pathLst>
            </a:custGeom>
            <a:blipFill>
              <a:blip r:embed="rId2">
                <a:alphaModFix amt="0"/>
              </a:blip>
              <a:stretch>
                <a:fillRect l="-210818" r="-110818" b="-99999"/>
              </a:stretch>
            </a:blipFill>
            <a:ln w="28575" cap="sq">
              <a:solidFill>
                <a:srgbClr val="079ED2"/>
              </a:solidFill>
              <a:prstDash val="solid"/>
              <a:miter/>
            </a:ln>
          </p:spPr>
        </p:sp>
      </p:grpSp>
      <p:grpSp>
        <p:nvGrpSpPr>
          <p:cNvPr id="35" name="Group 35"/>
          <p:cNvGrpSpPr/>
          <p:nvPr/>
        </p:nvGrpSpPr>
        <p:grpSpPr>
          <a:xfrm>
            <a:off x="12543663" y="1502283"/>
            <a:ext cx="150114" cy="150114"/>
            <a:chOff x="0" y="0"/>
            <a:chExt cx="200152" cy="200152"/>
          </a:xfrm>
        </p:grpSpPr>
        <p:sp>
          <p:nvSpPr>
            <p:cNvPr id="36" name="Freeform 36"/>
            <p:cNvSpPr/>
            <p:nvPr/>
          </p:nvSpPr>
          <p:spPr>
            <a:xfrm>
              <a:off x="0" y="0"/>
              <a:ext cx="200152" cy="200152"/>
            </a:xfrm>
            <a:custGeom>
              <a:avLst/>
              <a:gdLst/>
              <a:ahLst/>
              <a:cxnLst/>
              <a:rect l="l" t="t" r="r" b="b"/>
              <a:pathLst>
                <a:path w="200152" h="200152">
                  <a:moveTo>
                    <a:pt x="0" y="0"/>
                  </a:moveTo>
                  <a:lnTo>
                    <a:pt x="200152" y="0"/>
                  </a:lnTo>
                  <a:lnTo>
                    <a:pt x="200152" y="200152"/>
                  </a:lnTo>
                  <a:lnTo>
                    <a:pt x="0" y="200152"/>
                  </a:lnTo>
                  <a:close/>
                </a:path>
              </a:pathLst>
            </a:custGeom>
            <a:solidFill>
              <a:srgbClr val="FFFFFF"/>
            </a:solidFill>
            <a:ln w="26670" cap="sq">
              <a:solidFill>
                <a:srgbClr val="FD1485"/>
              </a:solidFill>
              <a:prstDash val="solid"/>
              <a:miter/>
            </a:ln>
          </p:spPr>
        </p:sp>
      </p:grpSp>
      <p:grpSp>
        <p:nvGrpSpPr>
          <p:cNvPr id="37" name="Group 37"/>
          <p:cNvGrpSpPr/>
          <p:nvPr/>
        </p:nvGrpSpPr>
        <p:grpSpPr>
          <a:xfrm>
            <a:off x="14052423" y="885063"/>
            <a:ext cx="150114" cy="150114"/>
            <a:chOff x="0" y="0"/>
            <a:chExt cx="200152" cy="200152"/>
          </a:xfrm>
        </p:grpSpPr>
        <p:sp>
          <p:nvSpPr>
            <p:cNvPr id="38" name="Freeform 38"/>
            <p:cNvSpPr/>
            <p:nvPr/>
          </p:nvSpPr>
          <p:spPr>
            <a:xfrm>
              <a:off x="0" y="0"/>
              <a:ext cx="200152" cy="200152"/>
            </a:xfrm>
            <a:custGeom>
              <a:avLst/>
              <a:gdLst/>
              <a:ahLst/>
              <a:cxnLst/>
              <a:rect l="l" t="t" r="r" b="b"/>
              <a:pathLst>
                <a:path w="200152" h="200152">
                  <a:moveTo>
                    <a:pt x="0" y="0"/>
                  </a:moveTo>
                  <a:lnTo>
                    <a:pt x="200152" y="0"/>
                  </a:lnTo>
                  <a:lnTo>
                    <a:pt x="200152" y="200152"/>
                  </a:lnTo>
                  <a:lnTo>
                    <a:pt x="0" y="200152"/>
                  </a:lnTo>
                  <a:close/>
                </a:path>
              </a:pathLst>
            </a:custGeom>
            <a:solidFill>
              <a:srgbClr val="FFFFFF"/>
            </a:solidFill>
            <a:ln w="26670" cap="sq">
              <a:solidFill>
                <a:srgbClr val="FD1485"/>
              </a:solidFill>
              <a:prstDash val="solid"/>
              <a:miter/>
            </a:ln>
          </p:spPr>
        </p:sp>
      </p:grpSp>
      <p:grpSp>
        <p:nvGrpSpPr>
          <p:cNvPr id="39" name="Group 39"/>
          <p:cNvGrpSpPr/>
          <p:nvPr/>
        </p:nvGrpSpPr>
        <p:grpSpPr>
          <a:xfrm>
            <a:off x="2468880" y="2167128"/>
            <a:ext cx="14127480" cy="28575"/>
            <a:chOff x="0" y="0"/>
            <a:chExt cx="18836640" cy="38100"/>
          </a:xfrm>
        </p:grpSpPr>
        <p:sp>
          <p:nvSpPr>
            <p:cNvPr id="40" name="Freeform 40"/>
            <p:cNvSpPr/>
            <p:nvPr/>
          </p:nvSpPr>
          <p:spPr>
            <a:xfrm>
              <a:off x="0" y="0"/>
              <a:ext cx="18836639" cy="38100"/>
            </a:xfrm>
            <a:custGeom>
              <a:avLst/>
              <a:gdLst/>
              <a:ahLst/>
              <a:cxnLst/>
              <a:rect l="l" t="t" r="r" b="b"/>
              <a:pathLst>
                <a:path w="18836639" h="38100">
                  <a:moveTo>
                    <a:pt x="0" y="0"/>
                  </a:moveTo>
                  <a:lnTo>
                    <a:pt x="18836639" y="0"/>
                  </a:lnTo>
                  <a:lnTo>
                    <a:pt x="18836639" y="38100"/>
                  </a:lnTo>
                  <a:lnTo>
                    <a:pt x="0" y="38100"/>
                  </a:lnTo>
                  <a:close/>
                </a:path>
              </a:pathLst>
            </a:custGeom>
            <a:solidFill>
              <a:srgbClr val="353334"/>
            </a:solidFill>
          </p:spPr>
        </p:sp>
      </p:grpSp>
      <p:sp>
        <p:nvSpPr>
          <p:cNvPr id="53" name="TextBox 53"/>
          <p:cNvSpPr txBox="1"/>
          <p:nvPr/>
        </p:nvSpPr>
        <p:spPr>
          <a:xfrm>
            <a:off x="2468880" y="566547"/>
            <a:ext cx="12344400" cy="421005"/>
          </a:xfrm>
          <a:prstGeom prst="rect">
            <a:avLst/>
          </a:prstGeom>
        </p:spPr>
        <p:txBody>
          <a:bodyPr lIns="0" tIns="0" rIns="0" bIns="0" rtlCol="0" anchor="t">
            <a:spAutoFit/>
          </a:bodyPr>
          <a:lstStyle/>
          <a:p>
            <a:pPr algn="l">
              <a:lnSpc>
                <a:spcPts val="1889"/>
              </a:lnSpc>
            </a:pPr>
            <a:r>
              <a:rPr lang="en-US" sz="1575" b="1">
                <a:solidFill>
                  <a:srgbClr val="353334"/>
                </a:solidFill>
                <a:latin typeface="Arimo Bold"/>
                <a:ea typeface="Arimo Bold"/>
                <a:cs typeface="Arimo Bold"/>
                <a:sym typeface="Arimo Bold"/>
              </a:rPr>
              <a:t>DATAQUEST 3.0  ·  ROUND 1</a:t>
            </a:r>
          </a:p>
        </p:txBody>
      </p:sp>
      <p:sp>
        <p:nvSpPr>
          <p:cNvPr id="54" name="TextBox 54"/>
          <p:cNvSpPr txBox="1"/>
          <p:nvPr/>
        </p:nvSpPr>
        <p:spPr>
          <a:xfrm>
            <a:off x="2468880" y="913638"/>
            <a:ext cx="13716000" cy="850049"/>
          </a:xfrm>
          <a:prstGeom prst="rect">
            <a:avLst/>
          </a:prstGeom>
        </p:spPr>
        <p:txBody>
          <a:bodyPr lIns="0" tIns="0" rIns="0" bIns="0" rtlCol="0" anchor="t">
            <a:spAutoFit/>
          </a:bodyPr>
          <a:lstStyle/>
          <a:p>
            <a:pPr algn="l">
              <a:lnSpc>
                <a:spcPts val="5759"/>
              </a:lnSpc>
            </a:pPr>
            <a:r>
              <a:rPr lang="en-US" sz="4800" b="1">
                <a:solidFill>
                  <a:srgbClr val="FD1485"/>
                </a:solidFill>
                <a:latin typeface="Arimo Bold"/>
                <a:ea typeface="Arimo Bold"/>
                <a:cs typeface="Arimo Bold"/>
                <a:sym typeface="Arimo Bold"/>
              </a:rPr>
              <a:t>08  </a:t>
            </a:r>
            <a:r>
              <a:rPr lang="en-US" sz="4800" b="1">
                <a:solidFill>
                  <a:srgbClr val="353334"/>
                </a:solidFill>
                <a:latin typeface="Arimo Bold"/>
                <a:ea typeface="Arimo Bold"/>
                <a:cs typeface="Arimo Bold"/>
                <a:sym typeface="Arimo Bold"/>
              </a:rPr>
              <a:t>Extra Slide</a:t>
            </a:r>
          </a:p>
        </p:txBody>
      </p:sp>
      <p:sp>
        <p:nvSpPr>
          <p:cNvPr id="55" name="TextBox 55"/>
          <p:cNvSpPr txBox="1"/>
          <p:nvPr/>
        </p:nvSpPr>
        <p:spPr>
          <a:xfrm>
            <a:off x="2468880" y="2257806"/>
            <a:ext cx="14127480" cy="499110"/>
          </a:xfrm>
          <a:prstGeom prst="rect">
            <a:avLst/>
          </a:prstGeom>
        </p:spPr>
        <p:txBody>
          <a:bodyPr lIns="0" tIns="0" rIns="0" bIns="0" rtlCol="0" anchor="t">
            <a:spAutoFit/>
          </a:bodyPr>
          <a:lstStyle/>
          <a:p>
            <a:pPr algn="l">
              <a:lnSpc>
                <a:spcPts val="1980"/>
              </a:lnSpc>
            </a:pPr>
            <a:r>
              <a:rPr lang="en-US" sz="1650">
                <a:solidFill>
                  <a:srgbClr val="6E6E73"/>
                </a:solidFill>
                <a:latin typeface="Arimo"/>
                <a:ea typeface="Arimo"/>
                <a:cs typeface="Arimo"/>
                <a:sym typeface="Arimo"/>
              </a:rPr>
              <a:t>Optional appendix · Extra diagrams, product screenshots, benchmarks, or backup details</a:t>
            </a:r>
          </a:p>
        </p:txBody>
      </p:sp>
      <p:pic>
        <p:nvPicPr>
          <p:cNvPr id="57" name="Picture 56">
            <a:extLst>
              <a:ext uri="{FF2B5EF4-FFF2-40B4-BE49-F238E27FC236}">
                <a16:creationId xmlns:a16="http://schemas.microsoft.com/office/drawing/2014/main" id="{463C3AAF-B5C2-63CA-C9E6-07589E412D61}"/>
              </a:ext>
            </a:extLst>
          </p:cNvPr>
          <p:cNvPicPr>
            <a:picLocks noChangeAspect="1"/>
          </p:cNvPicPr>
          <p:nvPr/>
        </p:nvPicPr>
        <p:blipFill>
          <a:blip r:embed="rId3"/>
          <a:stretch>
            <a:fillRect/>
          </a:stretch>
        </p:blipFill>
        <p:spPr>
          <a:xfrm>
            <a:off x="1746671" y="2841768"/>
            <a:ext cx="6174486" cy="2952176"/>
          </a:xfrm>
          <a:prstGeom prst="rect">
            <a:avLst/>
          </a:prstGeom>
        </p:spPr>
      </p:pic>
      <p:pic>
        <p:nvPicPr>
          <p:cNvPr id="59" name="Picture 58">
            <a:extLst>
              <a:ext uri="{FF2B5EF4-FFF2-40B4-BE49-F238E27FC236}">
                <a16:creationId xmlns:a16="http://schemas.microsoft.com/office/drawing/2014/main" id="{FD11A1F5-FB9D-E087-F409-1FCA823FAA64}"/>
              </a:ext>
            </a:extLst>
          </p:cNvPr>
          <p:cNvPicPr>
            <a:picLocks noChangeAspect="1"/>
          </p:cNvPicPr>
          <p:nvPr/>
        </p:nvPicPr>
        <p:blipFill>
          <a:blip r:embed="rId4"/>
          <a:stretch>
            <a:fillRect/>
          </a:stretch>
        </p:blipFill>
        <p:spPr>
          <a:xfrm>
            <a:off x="9667827" y="2844325"/>
            <a:ext cx="6743744" cy="3199064"/>
          </a:xfrm>
          <a:prstGeom prst="rect">
            <a:avLst/>
          </a:prstGeom>
        </p:spPr>
      </p:pic>
      <p:pic>
        <p:nvPicPr>
          <p:cNvPr id="61" name="Picture 60">
            <a:extLst>
              <a:ext uri="{FF2B5EF4-FFF2-40B4-BE49-F238E27FC236}">
                <a16:creationId xmlns:a16="http://schemas.microsoft.com/office/drawing/2014/main" id="{74E74C7B-3FBE-79B0-ECBF-DF9906EF9FBC}"/>
              </a:ext>
            </a:extLst>
          </p:cNvPr>
          <p:cNvPicPr>
            <a:picLocks noChangeAspect="1"/>
          </p:cNvPicPr>
          <p:nvPr/>
        </p:nvPicPr>
        <p:blipFill>
          <a:blip r:embed="rId5"/>
          <a:stretch>
            <a:fillRect/>
          </a:stretch>
        </p:blipFill>
        <p:spPr>
          <a:xfrm>
            <a:off x="1664796" y="6332058"/>
            <a:ext cx="6436248" cy="3073308"/>
          </a:xfrm>
          <a:prstGeom prst="rect">
            <a:avLst/>
          </a:prstGeom>
        </p:spPr>
      </p:pic>
      <p:pic>
        <p:nvPicPr>
          <p:cNvPr id="63" name="Picture 62">
            <a:extLst>
              <a:ext uri="{FF2B5EF4-FFF2-40B4-BE49-F238E27FC236}">
                <a16:creationId xmlns:a16="http://schemas.microsoft.com/office/drawing/2014/main" id="{54B4DDA1-CE1B-0F36-CCC2-6D6ABD961D70}"/>
              </a:ext>
            </a:extLst>
          </p:cNvPr>
          <p:cNvPicPr>
            <a:picLocks noChangeAspect="1"/>
          </p:cNvPicPr>
          <p:nvPr/>
        </p:nvPicPr>
        <p:blipFill>
          <a:blip r:embed="rId6"/>
          <a:stretch>
            <a:fillRect/>
          </a:stretch>
        </p:blipFill>
        <p:spPr>
          <a:xfrm>
            <a:off x="9449726" y="6168280"/>
            <a:ext cx="7112915" cy="340086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1506</Words>
  <Application>Microsoft Office PowerPoint</Application>
  <PresentationFormat>Custom</PresentationFormat>
  <Paragraphs>227</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Arimo</vt:lpstr>
      <vt:lpstr>Arimo Bold</vt:lpstr>
      <vt:lpstr>Calibri</vt:lpstr>
      <vt:lpstr>Calibri (MS)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ByteSized PARTICIPANTS Chitwan SIngh- 24BAI1629 Shruthi K- 24BYB1078 Akshitha Muralidharan- 24BYB1012 Gayathridevi S- 24BYB1003 Andukuri Navya Nandika- 24BYB1074 •</dc:title>
  <dc:creator>HP</dc:creator>
  <cp:lastModifiedBy>Akshitha Muralidharan</cp:lastModifiedBy>
  <cp:revision>2</cp:revision>
  <dcterms:created xsi:type="dcterms:W3CDTF">2006-08-16T00:00:00Z</dcterms:created>
  <dcterms:modified xsi:type="dcterms:W3CDTF">2026-10-08T02:23:22Z</dcterms:modified>
  <dc:identifier>DAHXTgleBM0</dc:identifier>
</cp:coreProperties>
</file>